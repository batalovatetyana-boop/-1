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" id="{3a454074-5357-a5fa-3e2d-90df9b1cc81d}">
          <p14:sldIdLst>
            <p14:sldId id="256"/>
            <p14:sldId id="257"/>
            <p14:sldId id="258"/>
            <p14:sldId id="259"/>
            <p14:sldId id="260"/>
          </p14:sldIdLst>
        </p14:section>
        <p14:section name="Хід роботи" id="{5354df90-6200-b64a-5a5a-1178132bad74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Міфи і факти" id="{a82cd07e-3125-8c35-3533-ce1cedb090ae}">
          <p14:sldIdLst>
            <p14:sldId id="269"/>
            <p14:sldId id="270"/>
            <p14:sldId id="271"/>
            <p14:sldId id="272"/>
          </p14:sldIdLst>
        </p14:section>
        <p14:section name="Висновки" id="{a1c14a50-250c-5917-badb-64823b8f1a95}">
          <p14:sldIdLst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Презентація-інструкція до практичної роботи. Кожне завдання — окремий слайд зі схемою. Студенти працюють у парах: «випробуваний» і «асистент», потім міняються.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Мотивація: студенти роблять прогноз, а потім перевіряють його дослідами.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Порада: замість фарби можна змастити стопу жирним кремом — відбиток на папері теж видно, а прибирати менше.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Вигини хребта працюють як пружина: пом'якшують поштовхи під час ходьби і бігу. Постава підтримується роботою м'язів-розгиначів спини, якими керує кора головного мозку. Неправильне положення тіла швидко стає звичкою (умовним рефлексом) і важко виправляється.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теоретичними відомостями роботи. Покажіть рентгенограми нормального і деформованого хребта.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Якщо лінії не паралельні (одна сторона вища), це може свідчити про бічне скривлення хребта — сколіоз.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Зигзаг найчастіше означає сутулість (голова і плечі виступають уперед) або посилений поперековий прогин.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Якщо, наприклад, потилиця не торкається стіни — голова висунута вперед (ознака сутулості). Якщо лопатки не торкаються — кругла спина. Між стіною і поперекою має проходити долоня; якщо проходить кулак — посилений поперековий прогин.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Трикутники талії — простір між опущеною рукою і талією. Якщо вони різні з двох боків, це ознака сколіозу.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Оцінювання: ширина «перешийка» (середньої частини відбитка) до 1/3 ширини стопи — норма; від 1/3 до 2/3 — сплощення (I ступінь); понад 2/3 або вся ширина — плоскостопість. Домашній тест дає лише попередню оцінку — точний діагноз ставить лікар-ортопед.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Студенти оцінюють, яких правил дотримуються, і роблять висновок.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Можна виконати 2–3 вправи прямо на парі. Решту — вдома (за завданням 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Посилання клікабельні в режимі показу. Перегляньте відео заздалегідь.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Шаблон для оформлення результатів.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Запитання з практичної роботи. Відповідь на 4: однобічне навантаження розвиває м'язи нерівномірно і може спричинити деформацію скелета, який у дитинстві ще формується.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Практична робота: Визначення постави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NT">
    <p:bg>
      <p:bgPr>
        <a:solidFill>
          <a:srgbClr val="E9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Практична робота: Визначення постави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Vw7hW3XtaKY" TargetMode="External"/><Relationship Id="rId4" Type="http://schemas.openxmlformats.org/officeDocument/2006/relationships/hyperlink" Target="https://www.youtube.com/watch?v=nbe-gPc7MR8" TargetMode="External"/><Relationship Id="rId6" Type="http://schemas.openxmlformats.org/officeDocument/2006/relationships/hyperlink" Target="https://www.youtube.com/watch?v=AfSQCONe3aI" TargetMode="External"/><Relationship Id="rId8" Type="http://schemas.openxmlformats.org/officeDocument/2006/relationships/hyperlink" Target="https://www.youtube.com/watch?v=6JgX7PINDpY" TargetMode="External"/><Relationship Id="rId1" Type="http://schemas.openxmlformats.org/officeDocument/2006/relationships/image" Target="../media/image-13-1.png"/><Relationship Id="rId3" Type="http://schemas.openxmlformats.org/officeDocument/2006/relationships/image" Target="../media/image-13-2.png"/><Relationship Id="rId5" Type="http://schemas.openxmlformats.org/officeDocument/2006/relationships/image" Target="../media/image-13-3.png"/><Relationship Id="rId7" Type="http://schemas.openxmlformats.org/officeDocument/2006/relationships/image" Target="../media/image-13-4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97280"/>
            <a:ext cx="5669280" cy="56692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931920"/>
            <a:ext cx="3291840" cy="3291840"/>
          </a:xfrm>
          <a:prstGeom prst="ellipse">
            <a:avLst/>
          </a:prstGeom>
          <a:solidFill>
            <a:srgbClr val="40916C">
              <a:alpha val="60000"/>
            </a:srgbClr>
          </a:solidFill>
          <a:ln w="12700">
            <a:solidFill>
              <a:srgbClr val="40916C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274320"/>
            <a:ext cx="3291840" cy="3291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ПРАКТИЧНА РОБОТА · ІНСТРУКЦІЯ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Визначення постави. Постава і профілактика її порушень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9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Покрокова інструкція до кожного завдання — показуйте на екрані під час роботи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Природничі науки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РОЗМИНКА · ПОДУМАЙТЕ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ви вважаєте, у вас правильна постава? Оцініть себе від 1 до 10.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Запишіть оцінку на полях зошита. Наприкінці роботи порівняєте зі своїми результатами.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 і обладнання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1B4332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68680" y="1645920"/>
            <a:ext cx="731520" cy="73152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182148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6459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6032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з'ясувати, що таке правильна постава;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визначити свою поставу і форму стопи;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дізнатися, як запобігти порушенням постави.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Працюємо в парах: один — випробуваний, другий — асистент. Потім міняємося ролями.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17920" y="1371600"/>
            <a:ext cx="5425135" cy="4754880"/>
          </a:xfrm>
          <a:prstGeom prst="roundRect">
            <a:avLst>
              <a:gd name="adj" fmla="val 2308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6537960" y="1645920"/>
            <a:ext cx="731520" cy="73152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3525" y="182148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52360" y="16459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знадобиться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6537960" y="2560320"/>
            <a:ext cx="4785055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скелет людини (макет), рентгенограми хребта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аркуш білого паперу, скотч, лінійка, олівець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дзеркало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аркуші альбомного паперу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акварельна фарба і пензлик (або жирний крем)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серветки, щоб витерти стопу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таке правильна постава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Постава — правильне положення тіла людини в спокої і під час руху. Формується з раннього дитинства.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6766560" cy="640080"/>
          </a:xfrm>
          <a:prstGeom prst="roundRect">
            <a:avLst>
              <a:gd name="adj" fmla="val 17143"/>
            </a:avLst>
          </a:prstGeom>
          <a:solidFill>
            <a:srgbClr val="E9F5E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2860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21488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Вигини хребта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виражені помірно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926080"/>
            <a:ext cx="6766560" cy="640080"/>
          </a:xfrm>
          <a:prstGeom prst="roundRect">
            <a:avLst>
              <a:gd name="adj" fmla="val 17143"/>
            </a:avLst>
          </a:prstGeom>
          <a:solidFill>
            <a:srgbClr val="E9F5E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0632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292608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Плечі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одному рівні, злегка розгорнуті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548640" y="3703320"/>
            <a:ext cx="6766560" cy="640080"/>
          </a:xfrm>
          <a:prstGeom prst="roundRect">
            <a:avLst>
              <a:gd name="adj" fmla="val 17143"/>
            </a:avLst>
          </a:prstGeom>
          <a:solidFill>
            <a:srgbClr val="E9F5EE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84048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80160" y="37033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Лопатки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розташовані симетрично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548640" y="4480560"/>
            <a:ext cx="6766560" cy="640080"/>
          </a:xfrm>
          <a:prstGeom prst="roundRect">
            <a:avLst>
              <a:gd name="adj" fmla="val 17143"/>
            </a:avLst>
          </a:prstGeom>
          <a:solidFill>
            <a:srgbClr val="E9F5EE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617720"/>
            <a:ext cx="365760" cy="3657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80160" y="448056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Живіт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підтягнутий, ноги прямі</a:t>
            </a:r>
            <a:endParaRPr lang="en-US" sz="1700" dirty="0"/>
          </a:p>
        </p:txBody>
      </p:sp>
      <p:sp>
        <p:nvSpPr>
          <p:cNvPr id="16" name="Shape 10"/>
          <p:cNvSpPr/>
          <p:nvPr/>
        </p:nvSpPr>
        <p:spPr>
          <a:xfrm>
            <a:off x="548640" y="5257800"/>
            <a:ext cx="6766560" cy="640080"/>
          </a:xfrm>
          <a:prstGeom prst="roundRect">
            <a:avLst>
              <a:gd name="adj" fmla="val 17143"/>
            </a:avLst>
          </a:prstGeom>
          <a:solidFill>
            <a:srgbClr val="E9F5EE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394960"/>
            <a:ext cx="365760" cy="36576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280160" y="525780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Зводи стоп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нормальні, хода красива</a:t>
            </a:r>
            <a:endParaRPr lang="en-US" sz="1700" dirty="0"/>
          </a:p>
        </p:txBody>
      </p:sp>
      <p:sp>
        <p:nvSpPr>
          <p:cNvPr id="19" name="Shape 12"/>
          <p:cNvSpPr/>
          <p:nvPr/>
        </p:nvSpPr>
        <p:spPr>
          <a:xfrm>
            <a:off x="7680960" y="1234440"/>
            <a:ext cx="3962095" cy="4892040"/>
          </a:xfrm>
          <a:prstGeom prst="roundRect">
            <a:avLst>
              <a:gd name="adj" fmla="val 2769"/>
            </a:avLst>
          </a:prstGeom>
          <a:solidFill>
            <a:srgbClr val="FDF1E4"/>
          </a:solidFill>
          <a:ln/>
        </p:spPr>
      </p:sp>
      <p:sp>
        <p:nvSpPr>
          <p:cNvPr id="20" name="Text 13"/>
          <p:cNvSpPr txBox="1"/>
          <p:nvPr/>
        </p:nvSpPr>
        <p:spPr>
          <a:xfrm>
            <a:off x="7863840" y="1325880"/>
            <a:ext cx="3596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Хребет збоку: 4 природні вигини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8759952" y="1874520"/>
            <a:ext cx="310896" cy="118872"/>
          </a:xfrm>
          <a:prstGeom prst="roundRect">
            <a:avLst>
              <a:gd name="adj" fmla="val 30769"/>
            </a:avLst>
          </a:prstGeom>
          <a:solidFill>
            <a:srgbClr val="2D6A4F"/>
          </a:solidFill>
          <a:ln/>
        </p:spPr>
      </p:sp>
      <p:sp>
        <p:nvSpPr>
          <p:cNvPr id="22" name="Shape 15"/>
          <p:cNvSpPr/>
          <p:nvPr/>
        </p:nvSpPr>
        <p:spPr>
          <a:xfrm>
            <a:off x="8897625" y="2035454"/>
            <a:ext cx="317480" cy="118872"/>
          </a:xfrm>
          <a:prstGeom prst="roundRect">
            <a:avLst>
              <a:gd name="adj" fmla="val 30769"/>
            </a:avLst>
          </a:prstGeom>
          <a:solidFill>
            <a:srgbClr val="1B4332"/>
          </a:solidFill>
          <a:ln/>
        </p:spPr>
      </p:sp>
      <p:sp>
        <p:nvSpPr>
          <p:cNvPr id="23" name="Shape 16"/>
          <p:cNvSpPr/>
          <p:nvPr/>
        </p:nvSpPr>
        <p:spPr>
          <a:xfrm>
            <a:off x="9000425" y="2196389"/>
            <a:ext cx="324063" cy="118872"/>
          </a:xfrm>
          <a:prstGeom prst="roundRect">
            <a:avLst>
              <a:gd name="adj" fmla="val 30769"/>
            </a:avLst>
          </a:prstGeom>
          <a:solidFill>
            <a:srgbClr val="2D6A4F"/>
          </a:solidFill>
          <a:ln/>
        </p:spPr>
      </p:sp>
      <p:sp>
        <p:nvSpPr>
          <p:cNvPr id="24" name="Shape 17"/>
          <p:cNvSpPr/>
          <p:nvPr/>
        </p:nvSpPr>
        <p:spPr>
          <a:xfrm>
            <a:off x="9042107" y="2357323"/>
            <a:ext cx="330647" cy="118872"/>
          </a:xfrm>
          <a:prstGeom prst="roundRect">
            <a:avLst>
              <a:gd name="adj" fmla="val 30769"/>
            </a:avLst>
          </a:prstGeom>
          <a:solidFill>
            <a:srgbClr val="1B4332"/>
          </a:solidFill>
          <a:ln/>
        </p:spPr>
      </p:sp>
      <p:sp>
        <p:nvSpPr>
          <p:cNvPr id="25" name="Shape 18"/>
          <p:cNvSpPr/>
          <p:nvPr/>
        </p:nvSpPr>
        <p:spPr>
          <a:xfrm>
            <a:off x="9011544" y="2518258"/>
            <a:ext cx="337231" cy="118872"/>
          </a:xfrm>
          <a:prstGeom prst="roundRect">
            <a:avLst>
              <a:gd name="adj" fmla="val 30769"/>
            </a:avLst>
          </a:prstGeom>
          <a:solidFill>
            <a:srgbClr val="2D6A4F"/>
          </a:solidFill>
          <a:ln/>
        </p:spPr>
      </p:sp>
      <p:sp>
        <p:nvSpPr>
          <p:cNvPr id="26" name="Shape 19"/>
          <p:cNvSpPr/>
          <p:nvPr/>
        </p:nvSpPr>
        <p:spPr>
          <a:xfrm>
            <a:off x="8915483" y="2679192"/>
            <a:ext cx="343814" cy="118872"/>
          </a:xfrm>
          <a:prstGeom prst="roundRect">
            <a:avLst>
              <a:gd name="adj" fmla="val 30769"/>
            </a:avLst>
          </a:prstGeom>
          <a:solidFill>
            <a:srgbClr val="1B4332"/>
          </a:solidFill>
          <a:ln/>
        </p:spPr>
      </p:sp>
      <p:sp>
        <p:nvSpPr>
          <p:cNvPr id="27" name="Shape 20"/>
          <p:cNvSpPr/>
          <p:nvPr/>
        </p:nvSpPr>
        <p:spPr>
          <a:xfrm>
            <a:off x="8776874" y="2840126"/>
            <a:ext cx="350398" cy="118872"/>
          </a:xfrm>
          <a:prstGeom prst="roundRect">
            <a:avLst>
              <a:gd name="adj" fmla="val 30769"/>
            </a:avLst>
          </a:prstGeom>
          <a:solidFill>
            <a:srgbClr val="2D6A4F"/>
          </a:solidFill>
          <a:ln/>
        </p:spPr>
      </p:sp>
      <p:sp>
        <p:nvSpPr>
          <p:cNvPr id="28" name="Shape 21"/>
          <p:cNvSpPr/>
          <p:nvPr/>
        </p:nvSpPr>
        <p:spPr>
          <a:xfrm>
            <a:off x="8629193" y="3001061"/>
            <a:ext cx="356982" cy="118872"/>
          </a:xfrm>
          <a:prstGeom prst="roundRect">
            <a:avLst>
              <a:gd name="adj" fmla="val 30769"/>
            </a:avLst>
          </a:prstGeom>
          <a:solidFill>
            <a:srgbClr val="1B4332"/>
          </a:solidFill>
          <a:ln/>
        </p:spPr>
      </p:sp>
      <p:sp>
        <p:nvSpPr>
          <p:cNvPr id="29" name="Shape 22"/>
          <p:cNvSpPr/>
          <p:nvPr/>
        </p:nvSpPr>
        <p:spPr>
          <a:xfrm>
            <a:off x="8508159" y="3161995"/>
            <a:ext cx="363565" cy="118872"/>
          </a:xfrm>
          <a:prstGeom prst="roundRect">
            <a:avLst>
              <a:gd name="adj" fmla="val 30769"/>
            </a:avLst>
          </a:prstGeom>
          <a:solidFill>
            <a:srgbClr val="2D6A4F"/>
          </a:solidFill>
          <a:ln/>
        </p:spPr>
      </p:sp>
      <p:sp>
        <p:nvSpPr>
          <p:cNvPr id="30" name="Shape 23"/>
          <p:cNvSpPr/>
          <p:nvPr/>
        </p:nvSpPr>
        <p:spPr>
          <a:xfrm>
            <a:off x="8442900" y="3322930"/>
            <a:ext cx="370149" cy="118872"/>
          </a:xfrm>
          <a:prstGeom prst="roundRect">
            <a:avLst>
              <a:gd name="adj" fmla="val 30769"/>
            </a:avLst>
          </a:prstGeom>
          <a:solidFill>
            <a:srgbClr val="1B4332"/>
          </a:solidFill>
          <a:ln/>
        </p:spPr>
      </p:sp>
      <p:sp>
        <p:nvSpPr>
          <p:cNvPr id="31" name="Shape 24"/>
          <p:cNvSpPr/>
          <p:nvPr/>
        </p:nvSpPr>
        <p:spPr>
          <a:xfrm>
            <a:off x="8448747" y="3483864"/>
            <a:ext cx="376733" cy="118872"/>
          </a:xfrm>
          <a:prstGeom prst="roundRect">
            <a:avLst>
              <a:gd name="adj" fmla="val 30769"/>
            </a:avLst>
          </a:prstGeom>
          <a:solidFill>
            <a:srgbClr val="2D6A4F"/>
          </a:solidFill>
          <a:ln/>
        </p:spPr>
      </p:sp>
      <p:sp>
        <p:nvSpPr>
          <p:cNvPr id="32" name="Shape 25"/>
          <p:cNvSpPr/>
          <p:nvPr/>
        </p:nvSpPr>
        <p:spPr>
          <a:xfrm>
            <a:off x="8523438" y="3644798"/>
            <a:ext cx="383316" cy="118872"/>
          </a:xfrm>
          <a:prstGeom prst="roundRect">
            <a:avLst>
              <a:gd name="adj" fmla="val 30769"/>
            </a:avLst>
          </a:prstGeom>
          <a:solidFill>
            <a:srgbClr val="1B4332"/>
          </a:solidFill>
          <a:ln/>
        </p:spPr>
      </p:sp>
      <p:sp>
        <p:nvSpPr>
          <p:cNvPr id="33" name="Shape 26"/>
          <p:cNvSpPr/>
          <p:nvPr/>
        </p:nvSpPr>
        <p:spPr>
          <a:xfrm>
            <a:off x="8647681" y="3805733"/>
            <a:ext cx="389900" cy="118872"/>
          </a:xfrm>
          <a:prstGeom prst="roundRect">
            <a:avLst>
              <a:gd name="adj" fmla="val 30769"/>
            </a:avLst>
          </a:prstGeom>
          <a:solidFill>
            <a:srgbClr val="2D6A4F"/>
          </a:solidFill>
          <a:ln/>
        </p:spPr>
      </p:sp>
      <p:sp>
        <p:nvSpPr>
          <p:cNvPr id="34" name="Shape 27"/>
          <p:cNvSpPr/>
          <p:nvPr/>
        </p:nvSpPr>
        <p:spPr>
          <a:xfrm>
            <a:off x="8789927" y="3966667"/>
            <a:ext cx="396484" cy="118872"/>
          </a:xfrm>
          <a:prstGeom prst="roundRect">
            <a:avLst>
              <a:gd name="adj" fmla="val 30769"/>
            </a:avLst>
          </a:prstGeom>
          <a:solidFill>
            <a:srgbClr val="1B4332"/>
          </a:solidFill>
          <a:ln/>
        </p:spPr>
      </p:sp>
      <p:sp>
        <p:nvSpPr>
          <p:cNvPr id="35" name="Shape 28"/>
          <p:cNvSpPr/>
          <p:nvPr/>
        </p:nvSpPr>
        <p:spPr>
          <a:xfrm>
            <a:off x="8914170" y="4127602"/>
            <a:ext cx="403068" cy="118872"/>
          </a:xfrm>
          <a:prstGeom prst="roundRect">
            <a:avLst>
              <a:gd name="adj" fmla="val 30769"/>
            </a:avLst>
          </a:prstGeom>
          <a:solidFill>
            <a:srgbClr val="2D6A4F"/>
          </a:solidFill>
          <a:ln/>
        </p:spPr>
      </p:sp>
      <p:sp>
        <p:nvSpPr>
          <p:cNvPr id="36" name="Shape 29"/>
          <p:cNvSpPr/>
          <p:nvPr/>
        </p:nvSpPr>
        <p:spPr>
          <a:xfrm>
            <a:off x="8988861" y="4288536"/>
            <a:ext cx="409651" cy="118872"/>
          </a:xfrm>
          <a:prstGeom prst="roundRect">
            <a:avLst>
              <a:gd name="adj" fmla="val 30769"/>
            </a:avLst>
          </a:prstGeom>
          <a:solidFill>
            <a:srgbClr val="1B4332"/>
          </a:solidFill>
          <a:ln/>
        </p:spPr>
      </p:sp>
      <p:sp>
        <p:nvSpPr>
          <p:cNvPr id="37" name="Shape 30"/>
          <p:cNvSpPr/>
          <p:nvPr/>
        </p:nvSpPr>
        <p:spPr>
          <a:xfrm>
            <a:off x="8994708" y="4449470"/>
            <a:ext cx="416235" cy="118872"/>
          </a:xfrm>
          <a:prstGeom prst="roundRect">
            <a:avLst>
              <a:gd name="adj" fmla="val 30769"/>
            </a:avLst>
          </a:prstGeom>
          <a:solidFill>
            <a:srgbClr val="2D6A4F"/>
          </a:solidFill>
          <a:ln/>
        </p:spPr>
      </p:sp>
      <p:sp>
        <p:nvSpPr>
          <p:cNvPr id="38" name="Shape 31"/>
          <p:cNvSpPr/>
          <p:nvPr/>
        </p:nvSpPr>
        <p:spPr>
          <a:xfrm>
            <a:off x="8929449" y="4610405"/>
            <a:ext cx="422819" cy="118872"/>
          </a:xfrm>
          <a:prstGeom prst="roundRect">
            <a:avLst>
              <a:gd name="adj" fmla="val 30769"/>
            </a:avLst>
          </a:prstGeom>
          <a:solidFill>
            <a:srgbClr val="1B4332"/>
          </a:solidFill>
          <a:ln/>
        </p:spPr>
      </p:sp>
      <p:sp>
        <p:nvSpPr>
          <p:cNvPr id="39" name="Shape 32"/>
          <p:cNvSpPr/>
          <p:nvPr/>
        </p:nvSpPr>
        <p:spPr>
          <a:xfrm>
            <a:off x="8808415" y="4771339"/>
            <a:ext cx="429402" cy="118872"/>
          </a:xfrm>
          <a:prstGeom prst="roundRect">
            <a:avLst>
              <a:gd name="adj" fmla="val 30769"/>
            </a:avLst>
          </a:prstGeom>
          <a:solidFill>
            <a:srgbClr val="2D6A4F"/>
          </a:solidFill>
          <a:ln/>
        </p:spPr>
      </p:sp>
      <p:sp>
        <p:nvSpPr>
          <p:cNvPr id="40" name="Shape 33"/>
          <p:cNvSpPr/>
          <p:nvPr/>
        </p:nvSpPr>
        <p:spPr>
          <a:xfrm>
            <a:off x="8660734" y="4932274"/>
            <a:ext cx="435986" cy="118872"/>
          </a:xfrm>
          <a:prstGeom prst="roundRect">
            <a:avLst>
              <a:gd name="adj" fmla="val 30769"/>
            </a:avLst>
          </a:prstGeom>
          <a:solidFill>
            <a:srgbClr val="1B4332"/>
          </a:solidFill>
          <a:ln/>
        </p:spPr>
      </p:sp>
      <p:sp>
        <p:nvSpPr>
          <p:cNvPr id="41" name="Shape 34"/>
          <p:cNvSpPr/>
          <p:nvPr/>
        </p:nvSpPr>
        <p:spPr>
          <a:xfrm>
            <a:off x="8522125" y="5093208"/>
            <a:ext cx="442570" cy="118872"/>
          </a:xfrm>
          <a:prstGeom prst="roundRect">
            <a:avLst>
              <a:gd name="adj" fmla="val 30769"/>
            </a:avLst>
          </a:prstGeom>
          <a:solidFill>
            <a:srgbClr val="2D6A4F"/>
          </a:solidFill>
          <a:ln/>
        </p:spPr>
      </p:sp>
      <p:sp>
        <p:nvSpPr>
          <p:cNvPr id="42" name="Shape 35"/>
          <p:cNvSpPr/>
          <p:nvPr/>
        </p:nvSpPr>
        <p:spPr>
          <a:xfrm>
            <a:off x="8426064" y="5254142"/>
            <a:ext cx="449153" cy="118872"/>
          </a:xfrm>
          <a:prstGeom prst="roundRect">
            <a:avLst>
              <a:gd name="adj" fmla="val 30769"/>
            </a:avLst>
          </a:prstGeom>
          <a:solidFill>
            <a:srgbClr val="1B4332"/>
          </a:solidFill>
          <a:ln/>
        </p:spPr>
      </p:sp>
      <p:sp>
        <p:nvSpPr>
          <p:cNvPr id="43" name="Shape 36"/>
          <p:cNvSpPr/>
          <p:nvPr/>
        </p:nvSpPr>
        <p:spPr>
          <a:xfrm>
            <a:off x="8395501" y="5415077"/>
            <a:ext cx="455737" cy="118872"/>
          </a:xfrm>
          <a:prstGeom prst="roundRect">
            <a:avLst>
              <a:gd name="adj" fmla="val 30769"/>
            </a:avLst>
          </a:prstGeom>
          <a:solidFill>
            <a:srgbClr val="2D6A4F"/>
          </a:solidFill>
          <a:ln/>
        </p:spPr>
      </p:sp>
      <p:sp>
        <p:nvSpPr>
          <p:cNvPr id="44" name="Shape 37"/>
          <p:cNvSpPr/>
          <p:nvPr/>
        </p:nvSpPr>
        <p:spPr>
          <a:xfrm>
            <a:off x="8437183" y="5576011"/>
            <a:ext cx="462321" cy="118872"/>
          </a:xfrm>
          <a:prstGeom prst="roundRect">
            <a:avLst>
              <a:gd name="adj" fmla="val 30769"/>
            </a:avLst>
          </a:prstGeom>
          <a:solidFill>
            <a:srgbClr val="1B4332"/>
          </a:solidFill>
          <a:ln/>
        </p:spPr>
      </p:sp>
      <p:sp>
        <p:nvSpPr>
          <p:cNvPr id="45" name="Shape 38"/>
          <p:cNvSpPr/>
          <p:nvPr/>
        </p:nvSpPr>
        <p:spPr>
          <a:xfrm>
            <a:off x="8539983" y="5736946"/>
            <a:ext cx="468904" cy="118872"/>
          </a:xfrm>
          <a:prstGeom prst="roundRect">
            <a:avLst>
              <a:gd name="adj" fmla="val 30769"/>
            </a:avLst>
          </a:prstGeom>
          <a:solidFill>
            <a:srgbClr val="2D6A4F"/>
          </a:solidFill>
          <a:ln/>
        </p:spPr>
      </p:sp>
      <p:sp>
        <p:nvSpPr>
          <p:cNvPr id="46" name="Shape 39"/>
          <p:cNvSpPr/>
          <p:nvPr/>
        </p:nvSpPr>
        <p:spPr>
          <a:xfrm>
            <a:off x="8677656" y="5897880"/>
            <a:ext cx="475488" cy="118872"/>
          </a:xfrm>
          <a:prstGeom prst="roundRect">
            <a:avLst>
              <a:gd name="adj" fmla="val 30769"/>
            </a:avLst>
          </a:prstGeom>
          <a:solidFill>
            <a:srgbClr val="1B4332"/>
          </a:solidFill>
          <a:ln/>
        </p:spPr>
      </p:sp>
      <p:sp>
        <p:nvSpPr>
          <p:cNvPr id="47" name="Text 40"/>
          <p:cNvSpPr txBox="1"/>
          <p:nvPr/>
        </p:nvSpPr>
        <p:spPr>
          <a:xfrm>
            <a:off x="9509760" y="2084832"/>
            <a:ext cx="2224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Шийний лордоз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вигин уперед</a:t>
            </a:r>
            <a:endParaRPr lang="en-US" sz="1300" dirty="0"/>
          </a:p>
        </p:txBody>
      </p:sp>
      <p:sp>
        <p:nvSpPr>
          <p:cNvPr id="48" name="Text 41"/>
          <p:cNvSpPr txBox="1"/>
          <p:nvPr/>
        </p:nvSpPr>
        <p:spPr>
          <a:xfrm>
            <a:off x="9509760" y="3090672"/>
            <a:ext cx="2224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Грудний кіфоз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вигин назад</a:t>
            </a:r>
            <a:endParaRPr lang="en-US" sz="1300" dirty="0"/>
          </a:p>
        </p:txBody>
      </p:sp>
      <p:sp>
        <p:nvSpPr>
          <p:cNvPr id="49" name="Text 42"/>
          <p:cNvSpPr txBox="1"/>
          <p:nvPr/>
        </p:nvSpPr>
        <p:spPr>
          <a:xfrm>
            <a:off x="9509760" y="4096512"/>
            <a:ext cx="2224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Поперековий лордоз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вигин уперед</a:t>
            </a:r>
            <a:endParaRPr lang="en-US" sz="1300" dirty="0"/>
          </a:p>
        </p:txBody>
      </p:sp>
      <p:sp>
        <p:nvSpPr>
          <p:cNvPr id="50" name="Text 43"/>
          <p:cNvSpPr txBox="1"/>
          <p:nvPr/>
        </p:nvSpPr>
        <p:spPr>
          <a:xfrm>
            <a:off x="9509760" y="5102352"/>
            <a:ext cx="2224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Крижовий кіфоз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вигин назад</a:t>
            </a:r>
            <a:endParaRPr lang="en-US" sz="1300" dirty="0"/>
          </a:p>
        </p:txBody>
      </p:sp>
      <p:sp>
        <p:nvSpPr>
          <p:cNvPr id="51" name="Text 44"/>
          <p:cNvSpPr txBox="1"/>
          <p:nvPr/>
        </p:nvSpPr>
        <p:spPr>
          <a:xfrm>
            <a:off x="7863840" y="5715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спина      живіт →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Порушення постави і стопи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647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Сутулість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Плечі опущені і зведені вперед, голова нахилена, груди впалі.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4338218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00200"/>
            <a:ext cx="685800" cy="6858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130" y="17647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1218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Кругла (кіфотична) спина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Посилений грудний вигин — спина «колесом».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8127797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00200"/>
            <a:ext cx="685800" cy="68580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709" y="176479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70797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Крилоподібні лопатки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Лопатки відстають від спини, як крильця.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548640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9" name="icon-circle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32511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1640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Сколіоз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Бічне скривлення хребта: одне плече вище, лопатки на різній висоті.</a:t>
            </a:r>
            <a:endParaRPr lang="en-US" sz="1500" dirty="0"/>
          </a:p>
        </p:txBody>
      </p:sp>
      <p:sp>
        <p:nvSpPr>
          <p:cNvPr id="23" name="card"/>
          <p:cNvSpPr/>
          <p:nvPr/>
        </p:nvSpPr>
        <p:spPr>
          <a:xfrm>
            <a:off x="4338218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24" name="icon-circle"/>
          <p:cNvSpPr/>
          <p:nvPr/>
        </p:nvSpPr>
        <p:spPr>
          <a:xfrm>
            <a:off x="4612538" y="4160520"/>
            <a:ext cx="685800" cy="68580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25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130" y="4325112"/>
            <a:ext cx="356616" cy="35661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81218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Плоскостопість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4612538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Деформація стопи — сплющення її зводів. Розвивається від тісного взуття, високих підборів.</a:t>
            </a:r>
            <a:endParaRPr lang="en-US" sz="1500" dirty="0"/>
          </a:p>
        </p:txBody>
      </p:sp>
      <p:sp>
        <p:nvSpPr>
          <p:cNvPr id="28" name="card"/>
          <p:cNvSpPr/>
          <p:nvPr/>
        </p:nvSpPr>
        <p:spPr>
          <a:xfrm>
            <a:off x="8127797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29" name="icon-circle"/>
          <p:cNvSpPr/>
          <p:nvPr/>
        </p:nvSpPr>
        <p:spPr>
          <a:xfrm>
            <a:off x="8402117" y="4160520"/>
            <a:ext cx="685800" cy="685800"/>
          </a:xfrm>
          <a:prstGeom prst="ellipse">
            <a:avLst/>
          </a:prstGeom>
          <a:solidFill>
            <a:srgbClr val="5C6B63"/>
          </a:solidFill>
          <a:ln w="12700">
            <a:solidFill>
              <a:srgbClr val="5C6B63"/>
            </a:solidFill>
            <a:prstDash val="solid"/>
          </a:ln>
        </p:spPr>
      </p:sp>
      <p:pic>
        <p:nvPicPr>
          <p:cNvPr id="30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6709" y="4325112"/>
            <a:ext cx="356616" cy="35661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270797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Чим небезпечно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8402117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Порушена постава утруднює роботу легень, серця, судин головного мозку.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Завдання 1. Постава зі спини: лінії на папері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44168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44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258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Прикріпіть до стіни аркуш білого паперу.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258568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2402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Випробуваний стає рівно обличчям до стіни.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172968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1546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Асистент ставить крапки з обох боків на рівні: плечей, нижніх кутів лопаток, талії, кінця хребта.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4087368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0690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Випробуваний відходить. З'єднайте крапки лініями.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5001768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5001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9834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Лінії паралельні — постава правильна. Перенесіть схему в зошит.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675120" y="1737360"/>
            <a:ext cx="2331720" cy="3931920"/>
          </a:xfrm>
          <a:prstGeom prst="rect">
            <a:avLst/>
          </a:prstGeom>
          <a:solidFill>
            <a:srgbClr val="FFFFFF"/>
          </a:solidFill>
          <a:ln w="15875">
            <a:solidFill>
              <a:srgbClr val="C9D6C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95160" y="2286000"/>
            <a:ext cx="1691640" cy="914"/>
          </a:xfrm>
          <a:prstGeom prst="line">
            <a:avLst/>
          </a:prstGeom>
          <a:noFill/>
          <a:ln w="31750">
            <a:solidFill>
              <a:srgbClr val="2D6A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12864" y="2203704"/>
            <a:ext cx="164592" cy="164592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1" name="Shape 19"/>
          <p:cNvSpPr/>
          <p:nvPr/>
        </p:nvSpPr>
        <p:spPr>
          <a:xfrm>
            <a:off x="8604504" y="2203704"/>
            <a:ext cx="164592" cy="164592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2" name="Shape 20"/>
          <p:cNvSpPr/>
          <p:nvPr/>
        </p:nvSpPr>
        <p:spPr>
          <a:xfrm>
            <a:off x="6995160" y="3108960"/>
            <a:ext cx="1691640" cy="914"/>
          </a:xfrm>
          <a:prstGeom prst="line">
            <a:avLst/>
          </a:prstGeom>
          <a:noFill/>
          <a:ln w="31750">
            <a:solidFill>
              <a:srgbClr val="2D6A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12864" y="3026664"/>
            <a:ext cx="164592" cy="164592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4" name="Shape 22"/>
          <p:cNvSpPr/>
          <p:nvPr/>
        </p:nvSpPr>
        <p:spPr>
          <a:xfrm>
            <a:off x="8604504" y="3026664"/>
            <a:ext cx="164592" cy="164592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5" name="Shape 23"/>
          <p:cNvSpPr/>
          <p:nvPr/>
        </p:nvSpPr>
        <p:spPr>
          <a:xfrm>
            <a:off x="6995160" y="3931920"/>
            <a:ext cx="1691640" cy="914"/>
          </a:xfrm>
          <a:prstGeom prst="line">
            <a:avLst/>
          </a:prstGeom>
          <a:noFill/>
          <a:ln w="31750">
            <a:solidFill>
              <a:srgbClr val="2D6A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12864" y="3849624"/>
            <a:ext cx="164592" cy="164592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7" name="Shape 25"/>
          <p:cNvSpPr/>
          <p:nvPr/>
        </p:nvSpPr>
        <p:spPr>
          <a:xfrm>
            <a:off x="8604504" y="3849624"/>
            <a:ext cx="164592" cy="164592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8" name="Shape 26"/>
          <p:cNvSpPr/>
          <p:nvPr/>
        </p:nvSpPr>
        <p:spPr>
          <a:xfrm>
            <a:off x="6995160" y="4754880"/>
            <a:ext cx="1691640" cy="914"/>
          </a:xfrm>
          <a:prstGeom prst="line">
            <a:avLst/>
          </a:prstGeom>
          <a:noFill/>
          <a:ln w="31750">
            <a:solidFill>
              <a:srgbClr val="2D6A4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12864" y="4672584"/>
            <a:ext cx="164592" cy="164592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0" name="Shape 28"/>
          <p:cNvSpPr/>
          <p:nvPr/>
        </p:nvSpPr>
        <p:spPr>
          <a:xfrm>
            <a:off x="8604504" y="4672584"/>
            <a:ext cx="164592" cy="164592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1" name="Shape 29"/>
          <p:cNvSpPr/>
          <p:nvPr/>
        </p:nvSpPr>
        <p:spPr>
          <a:xfrm>
            <a:off x="6675120" y="5852160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2D6A4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675120" y="5852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Правильно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308592" y="1737360"/>
            <a:ext cx="2331720" cy="3931920"/>
          </a:xfrm>
          <a:prstGeom prst="rect">
            <a:avLst/>
          </a:prstGeom>
          <a:solidFill>
            <a:srgbClr val="FFFFFF"/>
          </a:solidFill>
          <a:ln w="15875">
            <a:solidFill>
              <a:srgbClr val="C9D6C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28632" y="2029968"/>
            <a:ext cx="1691640" cy="512064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46336" y="1947672"/>
            <a:ext cx="164592" cy="164592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6" name="Shape 34"/>
          <p:cNvSpPr/>
          <p:nvPr/>
        </p:nvSpPr>
        <p:spPr>
          <a:xfrm>
            <a:off x="11237976" y="2459736"/>
            <a:ext cx="164592" cy="164592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7" name="Shape 35"/>
          <p:cNvSpPr/>
          <p:nvPr/>
        </p:nvSpPr>
        <p:spPr>
          <a:xfrm>
            <a:off x="9628632" y="2999232"/>
            <a:ext cx="1691640" cy="219456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46336" y="2916936"/>
            <a:ext cx="164592" cy="164592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9" name="Shape 37"/>
          <p:cNvSpPr/>
          <p:nvPr/>
        </p:nvSpPr>
        <p:spPr>
          <a:xfrm>
            <a:off x="11237976" y="3136392"/>
            <a:ext cx="164592" cy="164592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40" name="Shape 38"/>
          <p:cNvSpPr/>
          <p:nvPr/>
        </p:nvSpPr>
        <p:spPr>
          <a:xfrm flipV="1">
            <a:off x="9628632" y="3840480"/>
            <a:ext cx="1691640" cy="182880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546336" y="3941064"/>
            <a:ext cx="164592" cy="164592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42" name="Shape 40"/>
          <p:cNvSpPr/>
          <p:nvPr/>
        </p:nvSpPr>
        <p:spPr>
          <a:xfrm>
            <a:off x="11237976" y="3758184"/>
            <a:ext cx="164592" cy="164592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43" name="Shape 41"/>
          <p:cNvSpPr/>
          <p:nvPr/>
        </p:nvSpPr>
        <p:spPr>
          <a:xfrm flipV="1">
            <a:off x="9628632" y="4553712"/>
            <a:ext cx="1691640" cy="402336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546336" y="4873752"/>
            <a:ext cx="164592" cy="164592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45" name="Shape 43"/>
          <p:cNvSpPr/>
          <p:nvPr/>
        </p:nvSpPr>
        <p:spPr>
          <a:xfrm>
            <a:off x="11237976" y="4471416"/>
            <a:ext cx="164592" cy="164592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46" name="Shape 44"/>
          <p:cNvSpPr/>
          <p:nvPr/>
        </p:nvSpPr>
        <p:spPr>
          <a:xfrm>
            <a:off x="9308592" y="5852160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E76F51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308592" y="5852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Порушення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Завдання 2. Постава збоку: пряма лінія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44168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44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2588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Випробуваний стає боком до стіни у звичайному положенні.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42316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Асистент умовно відмічає точки: вхід у вухо, середина плечового, тазостегнового, колінного і гомілковостопного суглобів.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538728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52044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Умовно з'єднайте точки.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4636008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636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61772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Пряма лінія — постава правильна. Зигзаг — постава порушена. Перенесіть схему в зошит.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675120" y="1737360"/>
            <a:ext cx="2331720" cy="3931920"/>
          </a:xfrm>
          <a:prstGeom prst="roundRect">
            <a:avLst>
              <a:gd name="adj" fmla="val 4706"/>
            </a:avLst>
          </a:prstGeom>
          <a:solidFill>
            <a:srgbClr val="E9F5EE"/>
          </a:solidFill>
          <a:ln/>
        </p:spPr>
      </p:sp>
      <p:sp>
        <p:nvSpPr>
          <p:cNvPr id="16" name="Shape 14"/>
          <p:cNvSpPr/>
          <p:nvPr/>
        </p:nvSpPr>
        <p:spPr>
          <a:xfrm>
            <a:off x="7589520" y="2148840"/>
            <a:ext cx="914" cy="777240"/>
          </a:xfrm>
          <a:prstGeom prst="line">
            <a:avLst/>
          </a:prstGeom>
          <a:noFill/>
          <a:ln w="38100">
            <a:solidFill>
              <a:srgbClr val="2D6A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2926080"/>
            <a:ext cx="914" cy="777240"/>
          </a:xfrm>
          <a:prstGeom prst="line">
            <a:avLst/>
          </a:prstGeom>
          <a:noFill/>
          <a:ln w="38100">
            <a:solidFill>
              <a:srgbClr val="2D6A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520" y="3703320"/>
            <a:ext cx="914" cy="777240"/>
          </a:xfrm>
          <a:prstGeom prst="line">
            <a:avLst/>
          </a:prstGeom>
          <a:noFill/>
          <a:ln w="38100">
            <a:solidFill>
              <a:srgbClr val="2D6A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0" y="4480560"/>
            <a:ext cx="914" cy="777240"/>
          </a:xfrm>
          <a:prstGeom prst="line">
            <a:avLst/>
          </a:prstGeom>
          <a:noFill/>
          <a:ln w="38100">
            <a:solidFill>
              <a:srgbClr val="2D6A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88936" y="2048256"/>
            <a:ext cx="201168" cy="20116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92440" y="198424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вухо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88936" y="2825496"/>
            <a:ext cx="201168" cy="20116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092440" y="27614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плече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88936" y="3602736"/>
            <a:ext cx="201168" cy="20116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92440" y="353872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таз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88936" y="4379976"/>
            <a:ext cx="201168" cy="20116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092440" y="43159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коліно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488936" y="5157216"/>
            <a:ext cx="201168" cy="20116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092440" y="50932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гомілка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75120" y="5852160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2D6A4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675120" y="5852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Правильно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308592" y="1737360"/>
            <a:ext cx="2331720" cy="3931920"/>
          </a:xfrm>
          <a:prstGeom prst="roundRect">
            <a:avLst>
              <a:gd name="adj" fmla="val 4706"/>
            </a:avLst>
          </a:prstGeom>
          <a:solidFill>
            <a:srgbClr val="E9F5EE"/>
          </a:solidFill>
          <a:ln/>
        </p:spPr>
      </p:sp>
      <p:sp>
        <p:nvSpPr>
          <p:cNvPr id="33" name="Shape 31"/>
          <p:cNvSpPr/>
          <p:nvPr/>
        </p:nvSpPr>
        <p:spPr>
          <a:xfrm flipV="1">
            <a:off x="9902952" y="2148840"/>
            <a:ext cx="822960" cy="777240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902952" y="2926080"/>
            <a:ext cx="594360" cy="777240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10085832" y="3703320"/>
            <a:ext cx="411480" cy="777240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85832" y="4480560"/>
            <a:ext cx="137160" cy="777240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625328" y="2048256"/>
            <a:ext cx="201168" cy="20116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1228832" y="198424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вухо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802368" y="2825496"/>
            <a:ext cx="201168" cy="20116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10725912" y="27614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плече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0396728" y="3602736"/>
            <a:ext cx="201168" cy="20116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1000232" y="353872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таз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985248" y="4379976"/>
            <a:ext cx="201168" cy="20116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10725912" y="43159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коліно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0122408" y="5157216"/>
            <a:ext cx="201168" cy="20116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10725912" y="50932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гомілка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308592" y="5852160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E76F51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308592" y="5852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Порушення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Завдання 3. П'ять точок дотику до стіни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44168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44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258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Станьте спиною до стіни, п'яти разом, руки вздовж тіла.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212848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1945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Стійте як звичайно, не напружуйтеся.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081528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0632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Відчуйте, якими частинами тіло торкається стіни.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950208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9319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Правильно сформований хребет — 5 точок дотику.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4818888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818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8006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Зробіть висновок у зошиті.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949440" y="1371600"/>
            <a:ext cx="320040" cy="4663440"/>
          </a:xfrm>
          <a:prstGeom prst="rect">
            <a:avLst/>
          </a:prstGeom>
          <a:solidFill>
            <a:srgbClr val="5C6B6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03720" y="3154680"/>
            <a:ext cx="411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СТІНА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06640" y="1463040"/>
            <a:ext cx="548640" cy="54864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066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1463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Потилиця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406640" y="2331720"/>
            <a:ext cx="548640" cy="54864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0664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138160" y="2331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Лопатки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406640" y="3383280"/>
            <a:ext cx="548640" cy="54864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0664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8138160" y="3383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Сідниці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406640" y="4526280"/>
            <a:ext cx="548640" cy="54864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406640" y="4526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8138160" y="4526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Литки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7406640" y="5440680"/>
            <a:ext cx="548640" cy="54864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40664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8138160" y="5440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П'яти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Завдання 4. Перевірка перед дзеркалом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64328" cy="3749040"/>
          </a:xfrm>
          <a:prstGeom prst="roundRect">
            <a:avLst>
              <a:gd name="adj" fmla="val 2927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77576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00200"/>
            <a:ext cx="399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Ознаки правильної постави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60320"/>
            <a:ext cx="47242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Голова тримається прямо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Плечі на одному рівні, розгорнуті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Лопатки симетричні, притиснуті до спини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Живіт підтягнутий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Ноги прямі, коліна на одному рівні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78728" y="1371600"/>
            <a:ext cx="5364328" cy="3749040"/>
          </a:xfrm>
          <a:prstGeom prst="roundRect">
            <a:avLst>
              <a:gd name="adj" fmla="val 2927"/>
            </a:avLst>
          </a:prstGeom>
          <a:solidFill>
            <a:srgbClr val="FCE9E3"/>
          </a:solidFill>
          <a:ln/>
        </p:spPr>
      </p:sp>
      <p:sp>
        <p:nvSpPr>
          <p:cNvPr id="9" name="icon-circle"/>
          <p:cNvSpPr/>
          <p:nvPr/>
        </p:nvSpPr>
        <p:spPr>
          <a:xfrm>
            <a:off x="6553048" y="1600200"/>
            <a:ext cx="731520" cy="73152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612" y="177576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67448" y="1600200"/>
            <a:ext cx="399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Ознаки порушень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6598768" y="2560320"/>
            <a:ext cx="47242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Голова нахилена або висунута вперед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Одне плече вище за інше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Лопатки стирчать або на різній висоті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Груди впалі, живіт випнутий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Трикутники між руками і талією різні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534924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1B433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22960" y="534924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Станьте рівно, подивіться на себе спереду, збоку і (з допомогою партнера) ззаду. Порівняйте з таблицею і зробіть висновок.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Завдання 5. Форма стопи: відбиток на папері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44168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44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2588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Змастіть фарбою (або жирним кремом) підошву однієї стопи.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350008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33172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Рівно станьте нею на аркуш альбомного паперу, перенісши вагу тіла.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355848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33756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Обережно зійдіть з аркуша. Повторіть з іншою ногою.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4361688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361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3434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Порівняйте відбитки зі схемою і зробіть висновок.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172200" y="2011680"/>
            <a:ext cx="1143000" cy="155448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0" y="1600200"/>
            <a:ext cx="201168" cy="237744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7" name="Shape 15"/>
          <p:cNvSpPr/>
          <p:nvPr/>
        </p:nvSpPr>
        <p:spPr>
          <a:xfrm>
            <a:off x="6437376" y="1600200"/>
            <a:ext cx="201168" cy="237744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8" name="Shape 16"/>
          <p:cNvSpPr/>
          <p:nvPr/>
        </p:nvSpPr>
        <p:spPr>
          <a:xfrm>
            <a:off x="6656832" y="1600200"/>
            <a:ext cx="201168" cy="237744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9" name="Shape 17"/>
          <p:cNvSpPr/>
          <p:nvPr/>
        </p:nvSpPr>
        <p:spPr>
          <a:xfrm>
            <a:off x="6876288" y="1673352"/>
            <a:ext cx="201168" cy="237744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0" name="Shape 18"/>
          <p:cNvSpPr/>
          <p:nvPr/>
        </p:nvSpPr>
        <p:spPr>
          <a:xfrm>
            <a:off x="7095744" y="1719072"/>
            <a:ext cx="274320" cy="329184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1" name="Shape 19"/>
          <p:cNvSpPr/>
          <p:nvPr/>
        </p:nvSpPr>
        <p:spPr>
          <a:xfrm>
            <a:off x="6172200" y="3063240"/>
            <a:ext cx="342900" cy="14173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2" name="Shape 20"/>
          <p:cNvSpPr/>
          <p:nvPr/>
        </p:nvSpPr>
        <p:spPr>
          <a:xfrm>
            <a:off x="6217920" y="4206240"/>
            <a:ext cx="1051560" cy="11887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3" name="Shape 21"/>
          <p:cNvSpPr/>
          <p:nvPr/>
        </p:nvSpPr>
        <p:spPr>
          <a:xfrm>
            <a:off x="5852160" y="5623560"/>
            <a:ext cx="1783080" cy="457200"/>
          </a:xfrm>
          <a:prstGeom prst="roundRect">
            <a:avLst>
              <a:gd name="adj" fmla="val 16000"/>
            </a:avLst>
          </a:prstGeom>
          <a:solidFill>
            <a:srgbClr val="2D6A4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852160" y="56235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092440" y="2011680"/>
            <a:ext cx="1143000" cy="155448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6" name="Shape 24"/>
          <p:cNvSpPr/>
          <p:nvPr/>
        </p:nvSpPr>
        <p:spPr>
          <a:xfrm>
            <a:off x="8138160" y="1600200"/>
            <a:ext cx="201168" cy="237744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7" name="Shape 25"/>
          <p:cNvSpPr/>
          <p:nvPr/>
        </p:nvSpPr>
        <p:spPr>
          <a:xfrm>
            <a:off x="8357616" y="1600200"/>
            <a:ext cx="201168" cy="237744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8" name="Shape 26"/>
          <p:cNvSpPr/>
          <p:nvPr/>
        </p:nvSpPr>
        <p:spPr>
          <a:xfrm>
            <a:off x="8577072" y="1600200"/>
            <a:ext cx="201168" cy="237744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9" name="Shape 27"/>
          <p:cNvSpPr/>
          <p:nvPr/>
        </p:nvSpPr>
        <p:spPr>
          <a:xfrm>
            <a:off x="8796528" y="1673352"/>
            <a:ext cx="201168" cy="237744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0" name="Shape 28"/>
          <p:cNvSpPr/>
          <p:nvPr/>
        </p:nvSpPr>
        <p:spPr>
          <a:xfrm>
            <a:off x="9015984" y="1719072"/>
            <a:ext cx="274320" cy="329184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1" name="Shape 29"/>
          <p:cNvSpPr/>
          <p:nvPr/>
        </p:nvSpPr>
        <p:spPr>
          <a:xfrm>
            <a:off x="8092440" y="3063240"/>
            <a:ext cx="685800" cy="14173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2" name="Shape 30"/>
          <p:cNvSpPr/>
          <p:nvPr/>
        </p:nvSpPr>
        <p:spPr>
          <a:xfrm>
            <a:off x="8138160" y="4206240"/>
            <a:ext cx="1051560" cy="11887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3" name="Shape 31"/>
          <p:cNvSpPr/>
          <p:nvPr/>
        </p:nvSpPr>
        <p:spPr>
          <a:xfrm>
            <a:off x="7772400" y="5623560"/>
            <a:ext cx="1783080" cy="457200"/>
          </a:xfrm>
          <a:prstGeom prst="roundRect">
            <a:avLst>
              <a:gd name="adj" fmla="val 16000"/>
            </a:avLst>
          </a:prstGeom>
          <a:solidFill>
            <a:srgbClr val="F4A26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772400" y="56235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Сплощення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012680" y="2011680"/>
            <a:ext cx="1143000" cy="155448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6" name="Shape 34"/>
          <p:cNvSpPr/>
          <p:nvPr/>
        </p:nvSpPr>
        <p:spPr>
          <a:xfrm>
            <a:off x="10058400" y="1600200"/>
            <a:ext cx="201168" cy="237744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7" name="Shape 35"/>
          <p:cNvSpPr/>
          <p:nvPr/>
        </p:nvSpPr>
        <p:spPr>
          <a:xfrm>
            <a:off x="10277856" y="1600200"/>
            <a:ext cx="201168" cy="237744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8" name="Shape 36"/>
          <p:cNvSpPr/>
          <p:nvPr/>
        </p:nvSpPr>
        <p:spPr>
          <a:xfrm>
            <a:off x="10497312" y="1600200"/>
            <a:ext cx="201168" cy="237744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9" name="Shape 37"/>
          <p:cNvSpPr/>
          <p:nvPr/>
        </p:nvSpPr>
        <p:spPr>
          <a:xfrm>
            <a:off x="10716768" y="1673352"/>
            <a:ext cx="201168" cy="237744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40" name="Shape 38"/>
          <p:cNvSpPr/>
          <p:nvPr/>
        </p:nvSpPr>
        <p:spPr>
          <a:xfrm>
            <a:off x="10936224" y="1719072"/>
            <a:ext cx="274320" cy="329184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12680" y="3063240"/>
            <a:ext cx="1143000" cy="14173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2" name="Shape 40"/>
          <p:cNvSpPr/>
          <p:nvPr/>
        </p:nvSpPr>
        <p:spPr>
          <a:xfrm>
            <a:off x="10058400" y="4206240"/>
            <a:ext cx="1051560" cy="11887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43" name="Shape 41"/>
          <p:cNvSpPr/>
          <p:nvPr/>
        </p:nvSpPr>
        <p:spPr>
          <a:xfrm>
            <a:off x="9692640" y="5623560"/>
            <a:ext cx="1783080" cy="457200"/>
          </a:xfrm>
          <a:prstGeom prst="roundRect">
            <a:avLst>
              <a:gd name="adj" fmla="val 16000"/>
            </a:avLst>
          </a:prstGeom>
          <a:solidFill>
            <a:srgbClr val="E76F51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9692640" y="56235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Плоскостопість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48640" y="5486400"/>
            <a:ext cx="5120640" cy="685800"/>
          </a:xfrm>
          <a:prstGeom prst="roundRect">
            <a:avLst>
              <a:gd name="adj" fmla="val 16000"/>
            </a:avLst>
          </a:prstGeom>
          <a:solidFill>
            <a:srgbClr val="FDF1E4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31520" y="54864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Правило: перешийок відбитка до ⅓ ширини стопи — норма; більше — ознака плоскостопості.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Завдання 6. Правила профілактики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647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Рух і загартування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Займайтеся фізичними вправами, загартовуйтеся.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4338218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00200"/>
            <a:ext cx="685800" cy="68580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130" y="17647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1218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Тверде ліжко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Спіть на твердому ліжку з невисокою подушкою.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8127797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00200"/>
            <a:ext cx="685800" cy="6858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709" y="176479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70797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Правильно сидіти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Сидіть рівно за партою чи столом, ноги на підлозі.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548640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9" name="icon-circle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32511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1640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Не сутулитися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Тримайте спину рівно під час ходьби.</a:t>
            </a:r>
            <a:endParaRPr lang="en-US" sz="1500" dirty="0"/>
          </a:p>
        </p:txBody>
      </p:sp>
      <p:sp>
        <p:nvSpPr>
          <p:cNvPr id="23" name="card"/>
          <p:cNvSpPr/>
          <p:nvPr/>
        </p:nvSpPr>
        <p:spPr>
          <a:xfrm>
            <a:off x="4338218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24" name="icon-circle"/>
          <p:cNvSpPr/>
          <p:nvPr/>
        </p:nvSpPr>
        <p:spPr>
          <a:xfrm>
            <a:off x="4612538" y="4160520"/>
            <a:ext cx="685800" cy="6858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25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130" y="4325112"/>
            <a:ext cx="356616" cy="35661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81218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Рюкзак на двох плечах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4612538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Носіть підручники в ранці чи рюкзаку, а не в пакетах чи на одному плечі.</a:t>
            </a:r>
            <a:endParaRPr lang="en-US" sz="1500" dirty="0"/>
          </a:p>
        </p:txBody>
      </p:sp>
      <p:sp>
        <p:nvSpPr>
          <p:cNvPr id="28" name="card"/>
          <p:cNvSpPr/>
          <p:nvPr/>
        </p:nvSpPr>
        <p:spPr>
          <a:xfrm>
            <a:off x="8127797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29" name="icon-circle"/>
          <p:cNvSpPr/>
          <p:nvPr/>
        </p:nvSpPr>
        <p:spPr>
          <a:xfrm>
            <a:off x="8402117" y="4160520"/>
            <a:ext cx="685800" cy="6858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30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6709" y="4325112"/>
            <a:ext cx="356616" cy="35661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270797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Повноцінне харчування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8402117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М'ясні та молочні продукти, фрукти й овочі.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Завдання 7. Вправи для правильної постави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647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«Кішка»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Стоячи на колінах і долонях, вигніть спину дугою вгору, потім прогніть вниз. 8–10 разів.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4338218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00200"/>
            <a:ext cx="685800" cy="68580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130" y="17647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1218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«Човник»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Лежачи на животі, одночасно підніміть руки, голову і ноги. Утримуйте 5–10 секунд.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8127797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00200"/>
            <a:ext cx="685800" cy="6858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709" y="176479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70797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Книжка на голові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Пройдіться кімнатою з книжкою на голові, тримаючи спину рівно.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548640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9" name="icon-circle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32511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1640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«Стіна»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Станьте до стіни в 5 точках дотику і постійте 1 хвилину, запам'ятовуючи положення.</a:t>
            </a:r>
            <a:endParaRPr lang="en-US" sz="1500" dirty="0"/>
          </a:p>
        </p:txBody>
      </p:sp>
      <p:sp>
        <p:nvSpPr>
          <p:cNvPr id="23" name="card"/>
          <p:cNvSpPr/>
          <p:nvPr/>
        </p:nvSpPr>
        <p:spPr>
          <a:xfrm>
            <a:off x="4338218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24" name="icon-circle"/>
          <p:cNvSpPr/>
          <p:nvPr/>
        </p:nvSpPr>
        <p:spPr>
          <a:xfrm>
            <a:off x="4612538" y="4160520"/>
            <a:ext cx="685800" cy="68580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25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130" y="4325112"/>
            <a:ext cx="356616" cy="35661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81218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стоп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4612538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Ходьба на носках і на зовнішньому краї стопи, збирання пальцями ніг дрібних предметів.</a:t>
            </a:r>
            <a:endParaRPr lang="en-US" sz="1500" dirty="0"/>
          </a:p>
        </p:txBody>
      </p:sp>
      <p:sp>
        <p:nvSpPr>
          <p:cNvPr id="28" name="card"/>
          <p:cNvSpPr/>
          <p:nvPr/>
        </p:nvSpPr>
        <p:spPr>
          <a:xfrm>
            <a:off x="8127797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29" name="icon-circle"/>
          <p:cNvSpPr/>
          <p:nvPr/>
        </p:nvSpPr>
        <p:spPr>
          <a:xfrm>
            <a:off x="8402117" y="4160520"/>
            <a:ext cx="685800" cy="6858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0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6709" y="4325112"/>
            <a:ext cx="356616" cy="35661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270797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М'ячик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8402117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Катайте стопою невеликий м'ячик або пляшку з водою 1–2 хвилини.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Відеоінструкції до вправ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94415" cy="914400"/>
          </a:xfrm>
          <a:prstGeom prst="roundRect">
            <a:avLst>
              <a:gd name="adj" fmla="val 12000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77759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463040"/>
            <a:ext cx="98142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Вправи для правильної постави</a:t>
            </a:r>
            <a:endParaRPr lang="en-US" sz="1700" dirty="0"/>
          </a:p>
          <a:p>
            <a:pPr indent="0" marL="0">
              <a:buNone/>
            </a:pPr>
            <a:r>
              <a:rPr lang="en-US" sz="1700" u="sng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https://www.youtube.com/watch?v=Vw7hW3XtaKY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560320"/>
            <a:ext cx="11094415" cy="914400"/>
          </a:xfrm>
          <a:prstGeom prst="roundRect">
            <a:avLst>
              <a:gd name="adj" fmla="val 12000"/>
            </a:avLst>
          </a:prstGeom>
          <a:solidFill>
            <a:srgbClr val="E9F5EE"/>
          </a:solidFill>
          <a:ln/>
        </p:spPr>
      </p:sp>
      <p:sp>
        <p:nvSpPr>
          <p:cNvPr id="8" name="icon-circle"/>
          <p:cNvSpPr/>
          <p:nvPr/>
        </p:nvSpPr>
        <p:spPr>
          <a:xfrm>
            <a:off x="777240" y="2743200"/>
            <a:ext cx="548640" cy="5486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2874874"/>
            <a:ext cx="285293" cy="28529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2560320"/>
            <a:ext cx="98142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ЛФК вправи для постави біля стіни / Здорова спина</a:t>
            </a:r>
            <a:endParaRPr lang="en-US" sz="1700" dirty="0"/>
          </a:p>
          <a:p>
            <a:pPr indent="0" marL="0">
              <a:buNone/>
            </a:pPr>
            <a:r>
              <a:rPr lang="en-US" sz="1700" u="sng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https://www.youtube.com/watch?v=nbe-gPc7MR8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3657600"/>
            <a:ext cx="11094415" cy="914400"/>
          </a:xfrm>
          <a:prstGeom prst="roundRect">
            <a:avLst>
              <a:gd name="adj" fmla="val 12000"/>
            </a:avLst>
          </a:prstGeom>
          <a:solidFill>
            <a:srgbClr val="E9F5EE"/>
          </a:solidFill>
          <a:ln/>
        </p:spPr>
      </p:sp>
      <p:sp>
        <p:nvSpPr>
          <p:cNvPr id="12" name="icon-circle"/>
          <p:cNvSpPr/>
          <p:nvPr/>
        </p:nvSpPr>
        <p:spPr>
          <a:xfrm>
            <a:off x="777240" y="3840480"/>
            <a:ext cx="548640" cy="5486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914" y="3972154"/>
            <a:ext cx="285293" cy="28529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54480" y="3657600"/>
            <a:ext cx="98142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ЛФК для стоп / Профілактика плоскостопості</a:t>
            </a:r>
            <a:endParaRPr lang="en-US" sz="1700" dirty="0"/>
          </a:p>
          <a:p>
            <a:pPr indent="0" marL="0">
              <a:buNone/>
            </a:pPr>
            <a:r>
              <a:rPr lang="en-US" sz="1700" u="sng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https://www.youtube.com/watch?v=AfSQCONe3aI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4754880"/>
            <a:ext cx="11094415" cy="914400"/>
          </a:xfrm>
          <a:prstGeom prst="roundRect">
            <a:avLst>
              <a:gd name="adj" fmla="val 12000"/>
            </a:avLst>
          </a:prstGeom>
          <a:solidFill>
            <a:srgbClr val="E9F5EE"/>
          </a:solidFill>
          <a:ln/>
        </p:spPr>
      </p:sp>
      <p:sp>
        <p:nvSpPr>
          <p:cNvPr id="16" name="icon-circle"/>
          <p:cNvSpPr/>
          <p:nvPr/>
        </p:nvSpPr>
        <p:spPr>
          <a:xfrm>
            <a:off x="777240" y="4937760"/>
            <a:ext cx="548640" cy="5486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914" y="506943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54480" y="4754880"/>
            <a:ext cx="98142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Профілактика плоскостопості</a:t>
            </a:r>
            <a:endParaRPr lang="en-US" sz="1700" dirty="0"/>
          </a:p>
          <a:p>
            <a:pPr indent="0" marL="0">
              <a:buNone/>
            </a:pPr>
            <a:r>
              <a:rPr lang="en-US" sz="1700" u="sng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https://www.youtube.com/watch?v=6JgX7PINDpY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1/2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«Сколіоз — це лише некрасиво, на здоров'я він не впливає»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«Сколіоз — це лише некрасиво, на здоров'я він не впливає»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FCE9E3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Викривлення хребта змінює положення грудної клітки і внутрішніх органів. Це утруднює роботу легень, серця, спричиняє біль у спині і швидку втому.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2/2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«Носити рюкзак на одному плечі — нормально, якщо він легкий»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«Носити рюкзак на одному плечі — нормально, якщо він легкий»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FCE9E3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Навіть легкий рюкзак на одному плечі змушує тіло щодня нахилятися в один бік. Неправильне положення закріплюється як звичка (умовний рефлекс). Рюкзак варто носити на двох лямках.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Таблиця результатів (перенесіть у зошит)</a:t>
            </a:r>
            <a:endParaRPr lang="en-US" sz="3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703320"/>
                <a:gridCol w="373075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Дослід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Що я побачив(-ла)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Висновок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Лінії зі спини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Лінія збоку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Точки дотику до стіни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Дзеркало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Відбиток стопи (ліва / права)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 Чи дотримуюся правил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Висновок: дайте відповіді на запитання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949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Які порушення постави ви знаєте?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Назвіть можливі причини викривлення хребта.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Оцініть (за результатами дослідів) стан вашого хребта та опорно-рухової системи загалом.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в дитячому віці небезпечно захоплюватися надмірними заняттями одним видом спорту?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Розробіть власні рекомендації для поліпшення стану вашої опорно-рухової системи.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63840" y="1371600"/>
            <a:ext cx="3779215" cy="4754880"/>
          </a:xfrm>
          <a:prstGeom prst="roundRect">
            <a:avLst>
              <a:gd name="adj" fmla="val 3629"/>
            </a:avLst>
          </a:prstGeom>
          <a:solidFill>
            <a:srgbClr val="1B4332"/>
          </a:solidFill>
          <a:ln/>
        </p:spPr>
      </p:sp>
      <p:sp>
        <p:nvSpPr>
          <p:cNvPr id="5" name="icon-circle"/>
          <p:cNvSpPr/>
          <p:nvPr/>
        </p:nvSpPr>
        <p:spPr>
          <a:xfrm>
            <a:off x="8183880" y="1645920"/>
            <a:ext cx="777240" cy="77724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0418" y="18324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0" y="1645920"/>
            <a:ext cx="2316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Повернімося до початку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2651760"/>
            <a:ext cx="313913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Порівняйте результати з оцінкою, яку ви поставили собі на початку роботи (від 1 до 10). Чи збіглися вони?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Природничі науки">
  <a:themeElements>
    <a:clrScheme name="Природничі науки">
      <a:dk1>
        <a:srgbClr val="1F2A24"/>
      </a:dk1>
      <a:lt1>
        <a:srgbClr val="FFFFFF"/>
      </a:lt1>
      <a:dk2>
        <a:srgbClr val="1B4332"/>
      </a:dk2>
      <a:lt2>
        <a:srgbClr val="E9F5EE"/>
      </a:lt2>
      <a:accent1>
        <a:srgbClr val="2D6A4F"/>
      </a:accent1>
      <a:accent2>
        <a:srgbClr val="95D5B2"/>
      </a:accent2>
      <a:accent3>
        <a:srgbClr val="F4A261"/>
      </a:accent3>
      <a:accent4>
        <a:srgbClr val="E76F51"/>
      </a:accent4>
      <a:accent5>
        <a:srgbClr val="457B9D"/>
      </a:accent5>
      <a:accent6>
        <a:srgbClr val="40916C"/>
      </a:accent6>
      <a:hlink>
        <a:srgbClr val="457B9D"/>
      </a:hlink>
      <a:folHlink>
        <a:srgbClr val="2D6A4F"/>
      </a:folHlink>
    </a:clrScheme>
    <a:fontScheme name="Природничі науки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Практична робота: Визначення постави</dc:title>
  <dc:subject>Природничі науки</dc:subject>
  <dc:creator>Баталова Т. П.</dc:creator>
  <cp:lastModifiedBy>Баталова Т. П.</cp:lastModifiedBy>
  <cp:revision>1</cp:revision>
  <dcterms:created xsi:type="dcterms:W3CDTF">2026-10-03T14:03:14Z</dcterms:created>
  <dcterms:modified xsi:type="dcterms:W3CDTF">2026-10-03T14:03:14Z</dcterms:modified>
</cp:coreProperties>
</file>