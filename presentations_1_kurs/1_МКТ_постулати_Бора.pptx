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a4c53f86-5662-e866-d83c-8fb37487b6d8}">
          <p14:sldIdLst>
            <p14:sldId id="256"/>
            <p14:sldId id="257"/>
            <p14:sldId id="258"/>
            <p14:sldId id="259"/>
          </p14:sldIdLst>
        </p14:section>
        <p14:section name="Молекулярно-кінетична теорія" id="{5e348425-d477-fe32-4c9b-28651534ec2a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Будова атома" id="{f5367b20-9c56-dcd1-4091-74050cb0dfa8}">
          <p14:sldIdLst>
            <p14:sldId id="268"/>
            <p14:sldId id="269"/>
            <p14:sldId id="270"/>
          </p14:sldIdLst>
        </p14:section>
        <p14:section name="Постулати Бора" id="{e29a3ff1-da92-aa4e-03c9-b2daf2b2ac2a}">
          <p14:sldIdLst>
            <p14:sldId id="271"/>
            <p14:sldId id="272"/>
            <p14:sldId id="273"/>
            <p14:sldId id="274"/>
          </p14:sldIdLst>
        </p14:section>
        <p14:section name="Міфи і факти" id="{f9fe4c11-4e4e-f42c-c041-4423a1dc1ed2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Закріплення" id="{c3ca9f44-8b04-75b2-4f63-7e74de3c4826}">
          <p14:sldIdLst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Сьогодні дві великі ідеї: молекулярно-кінетична теорія (усе складається з частинок, які рухаються) і модель атома 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Вислухайте версії. Відповідь —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положень МКТ.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після постулатів Бора.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Пояснення назви.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положення — основа теми. Попросіть студентів навести приклад до кожного.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лекцією. Приклад: O₂ — проста речовина (два однакові атоми), H₂O — складна (атоми різних елементів).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Можна провести міні-дослід: крапля чорнила в холодній і гарячій воді — у гарячій дифузія відбувається помітно швидше.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Числа для вау-ефекту. Якщо всі молекули однієї краплі розкласти в ряд, вийде нитка довжиною в мільйони кілометрів.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агрегатні стани з лекції. Плазма — найпоширеніший стан речовини у Всесвіті (зорі).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Пари обговорюють.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Пов'язуйте з життям: тому гаряча вода краще відмиває посуд.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Моделі Томсона і Резерфорда — з лекції. Дослід Резерфорда: альфа-частинки летіли крізь золоту фольгу, більшість пролітала, а деякі відскакували назад — отже, в атомі є маленьке щільне ядро.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лекцією: ядро — 99,95 % маси атома і складається з протонів і нейтронів.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 з лекції. Задачу на дефект мас (берилій-7, Δm ≈ 0,0404 а.о.м.) можна розв'язати на дошці.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Підведіть до постулатів.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Перший постулат — постулат стаціонарних станів.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Другий постулат — правило частот. Пояснення формули: h — стала Планка, ν — частота світла.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Відповідь на розминку. Те саме — у неонових вивісках і полярному сяйві. За кольором світла вчені визначають склад навіть далеких зірок (спектральний аналіз).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МКТ. Квантові постулати Бора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A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МКТ. Квантові постулати Бора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2A8C9E">
              <a:alpha val="60000"/>
            </a:srgbClr>
          </a:solidFill>
          <a:ln w="12700">
            <a:solidFill>
              <a:srgbClr val="2A8C9E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Основні положення МКТ. Квантові постулати Бора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A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чого складаються речовини, як рухаються їхні частинки і як влаштований атом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1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запах парфумів за кілька хвилин відчувається в усій кімнаті, хоча його ніхто не «розносить»?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 і запропонуйте своє пояснення.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Молекули рухаються самі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Парфуми складаються з молекул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дуже маленьких частинок, яких ми не бачимо.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Молекули постійно і хаотично рухаються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вилітають з флакона і змішуються з молекулами повітря.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явище — дифузія: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взаємне проникнення частинок однієї речовини між частинками іншої.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речовини складаються з частинок, які безперервно рухаються. Це головна ідея МКТ.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феєрверки бувають різних кольорів: червоні, зелені, сині, жовті?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Запишіть свою версію. Відповідь — наприкінці лекції, коли розберемо будову атома.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таке МКТ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Молекулярно-кінетична теорія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Теорія, яка пояснює властивості речовин (газів, рідин, твердих тіл) рухом і взаємодією частинок, з яких вони складаються: атомів, молекул, йонів.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Простими словами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«Кінетична» — від грецького «кінема», рух.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МКТ = «теорія про те, що все складається з частинок, які рухаються».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пояснює, чому лід тане, вода випаровується, повітря тисне на стінки кульки.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основні положення МКТ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Речовини складаються з частинок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75304"/>
            <a:ext cx="296661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Атомів, молекул, йонів. Між частинками є проміжки.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Частинки безперервно і хаотично рухаються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922776"/>
            <a:ext cx="2966618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вища температура, то швидше вони рухаються.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Частинки взаємодіють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75304"/>
            <a:ext cx="2966618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Притягуються і відштовхуються. Тому тверді тіла тримають форму, а рідини — краплі.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Атомно-молекулярне вчення М. Ломоносова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у XVIII ст. М. В. Ломоносов розвинув атомно-молекулярне вчення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Корпускули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 речовини складаються з «корпускул» — молекул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77642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201168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F5F8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Елементи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34842" y="379476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молекули складаються з «елементів» — атомів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54116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201168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Рух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1316" y="379476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частинки перебувають у безперервному русі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830589" y="37490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2011680"/>
            <a:ext cx="2464994" cy="384048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Прості і складні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7789" y="3794760"/>
            <a:ext cx="22455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молекули простих речовин — з однакових атомів, складних — з різних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довели, що частинки існують і рухаються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Дифузія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Крапля фарби в склянці води сама поступово забарвлює всю воду.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1F5F8B"/>
          </a:solidFill>
          <a:ln w="12700">
            <a:solidFill>
              <a:srgbClr val="1F5F8B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Броунівський рух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1827 р. Роберт Броун побачив під мікроскопом, як пилок у воді безладно «тремтить» — його штовхають молекули води.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Тиск і розширення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227832"/>
            <a:ext cx="296661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Газ тисне на стінки кульки — це удари молекул. Під час нагрівання тіла розширюються.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частинок у цифрах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0,3 нм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розмір молекули води — у мільйони разів менше за товщину волосини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B6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1,7·10²¹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 води в одній краплі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AF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500 м/с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швидкість молекул кисню в кімнаті — швидше за кулю пістолета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ж запах поширюється за хвилини, а не миттєво? Молекули постійно стикаються з молекулами повітря і змінюють напрямок — рухаються «зигзагом».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Агрегатні стани речовини з погляду МКТ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2918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Стан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Як розташовані частинки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Як рухаються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Приклад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F8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Твердий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щільно, у певному порядку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коливаються на місці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лід, залізо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Рідкий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близько, але без суворого порядку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перескакують з місця на місце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вода, олія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Газоподібний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далеко одна від одної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вільно літають у всіх напрямках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пара, повітря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Плазма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атоми іонізовані, електрони відірвані від ядер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дуже швидко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C26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блискавка, Сонце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ПРОБЛЕМНЕ ПИТАННЯ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цукор у гарячому чаї розчиняється швидше, ніж у холодному?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Поясніть за допомогою положень МКТ. 1–2 хвилини в парах.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Пояснення з погляду МКТ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Температура —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міра того, наскільки швидко рухаються частинки.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гарячій воді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молекули рухаються швидше і частіше «вибивають» молекули цукру з кристалика.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Дифузія теж швидша: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розчинений цукор швидше розходиться по всій чашці.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4F8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Висновок: </a:t>
            </a:r>
            <a:pPr indent="0" marL="0">
              <a:buNone/>
            </a:pPr>
            <a:r>
              <a:rPr lang="en-US" sz="17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вища температура, то швидше відбуваються дифузія і розчинення.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змінювалися уявлення про атом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Томсон, 1904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«пудинг з родзинками»: позитивна куля, в якій «вкраплені» електрони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77642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3425114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16554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Резерфорд, 1911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534842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планетарна модель: маленьке важке ядро, навколо — електрони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95411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6301588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F5F8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93028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Бор, 1913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11316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електрони рухаються лише певними «дозволеними» орбітами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830589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8061" y="1463040"/>
            <a:ext cx="2464994" cy="3108960"/>
          </a:xfrm>
          <a:prstGeom prst="roundRect">
            <a:avLst>
              <a:gd name="adj" fmla="val 4451"/>
            </a:avLst>
          </a:prstGeom>
          <a:solidFill>
            <a:srgbClr val="EAF4F8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146304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16324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1618488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69501" y="246888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9287789" y="3246120"/>
            <a:ext cx="22455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квантова модель: електрон — «хмара», його положення описують імовірністю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Кожна нова модель пояснювала те, чого не могла пояснити попередня. Так працює наука.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 атома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атом збільшити до розміру стадіону, ядро буде як горошина в центрі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4487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Протон p⁺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67912"/>
            <a:ext cx="296661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ядрі. Заряд +1. Кількість протонів = номер елемента в таблиці Менделєєва.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338218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4612538" y="2240280"/>
            <a:ext cx="868680" cy="868680"/>
          </a:xfrm>
          <a:prstGeom prst="ellipse">
            <a:avLst/>
          </a:prstGeom>
          <a:solidFill>
            <a:srgbClr val="5A6573"/>
          </a:solidFill>
          <a:ln w="12700">
            <a:solidFill>
              <a:srgbClr val="5A6573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24487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333756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Нейтрон n⁰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67912"/>
            <a:ext cx="296661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ядрі. Заряду немає. Маса ≈ маса протона.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127797" y="1965960"/>
            <a:ext cx="3515258" cy="4206240"/>
          </a:xfrm>
          <a:prstGeom prst="roundRect">
            <a:avLst>
              <a:gd name="adj" fmla="val 3121"/>
            </a:avLst>
          </a:prstGeom>
          <a:solidFill>
            <a:srgbClr val="EAF4F8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8402117" y="2240280"/>
            <a:ext cx="868680" cy="868680"/>
          </a:xfrm>
          <a:prstGeom prst="ellipse">
            <a:avLst/>
          </a:prstGeom>
          <a:solidFill>
            <a:srgbClr val="5B6BB5"/>
          </a:solidFill>
          <a:ln w="12700">
            <a:solidFill>
              <a:srgbClr val="5B6BB5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4487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3337560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 e⁻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67912"/>
            <a:ext cx="296661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Навколо ядра. Заряд −1. Майже в 2000 разів легший за протон.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Рахуємо частинки та ізотопи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Уран-238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Порядковий номер 92, масове число 238: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протонів p = 92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електронів e = 92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нейтронів n = 238 − 92 = 146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Загальна маса ядра завжди менша за суму мас його частинок — це дефект мас. Що він більший, то стабільніше ядро.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Ізотопи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Ізотопи — атоми одного елемента з різною кількістю нейтронів.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Кисень: ¹⁶O, ¹⁷O, ¹⁸O — 8 протонів у кожного, але 8, 9 і 10 нейтронів.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Водень: протій, дейтерій, тритій.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планетарної моделі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атом не руйнується?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законами класичної фізики електрон, що обертається навколо ядра, мав би весь час випромінювати енергію, сповільнюватися і за мільярдні частки секунди впасти на ядро.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 атоми стабільні! Значить, звичайні закони тут не працюють.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 Бора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1913 р. данський фізик Нільс Бор запропонував сміливе рішення — свої квантові постулати.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цю роботу він отримав Нобелівську премію (1922).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«Квант» — найменша неподільна порція енергії.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Перший постулат Бора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6324F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Стаціонарні стани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 може перебувати лише в певних стаціонарних (стійких) станах з певною енергією. У цих станах електрон рухається по «дозволених» орбітах і НЕ випромінює енергію.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 сходи. Стояти можна лише на сходинці, а не між ними.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електрон: він може бути лише на певному енергетичному рівні. Найнижча «сходинка» — основний стан, найстійкіший.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Другий постулат Бора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 випромінює або поглинає енергію лише порціями — квантами — при переході електрона між рівнями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23818" cy="2834640"/>
          </a:xfrm>
          <a:prstGeom prst="roundRect">
            <a:avLst>
              <a:gd name="adj" fmla="val 3871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5B6BB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229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Поглинання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32043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 отримує енергію (нагрівання, світло) — електрон «стрибає» на вищий рівень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3646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2011680"/>
            <a:ext cx="3423818" cy="2834640"/>
          </a:xfrm>
          <a:prstGeom prst="roundRect">
            <a:avLst>
              <a:gd name="adj" fmla="val 3871"/>
            </a:avLst>
          </a:prstGeom>
          <a:solidFill>
            <a:srgbClr val="EA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4383938" y="201168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75378" y="30175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Збуджений стан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93666" y="3794760"/>
            <a:ext cx="32043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 на високому рівні — це нестійкий стан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7871765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2011680"/>
            <a:ext cx="3423818" cy="2834640"/>
          </a:xfrm>
          <a:prstGeom prst="roundRect">
            <a:avLst>
              <a:gd name="adj" fmla="val 3871"/>
            </a:avLst>
          </a:prstGeom>
          <a:solidFill>
            <a:srgbClr val="EAF4F8"/>
          </a:solidFill>
          <a:ln/>
        </p:spPr>
      </p:sp>
      <p:sp>
        <p:nvSpPr>
          <p:cNvPr id="17" name="Shape 13"/>
          <p:cNvSpPr/>
          <p:nvPr/>
        </p:nvSpPr>
        <p:spPr>
          <a:xfrm>
            <a:off x="8219237" y="201168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826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10677" y="301752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Випромінювання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328965" y="3794760"/>
            <a:ext cx="320436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електрон «падає» на нижчий рівень і випромінює квант світла — фотон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Енергія фотона дорівнює різниці енергій рівнів: hν = Eₙ − Eₘ. Яка різниця — такий і колір світла.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Відповідь: чому феєрверки різнокольорові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Атоми кожного елемента мають свої «сходинки», тому випромінюють свій колір</a:t>
            </a:r>
            <a:endParaRPr lang="en-US" sz="1700" dirty="0"/>
          </a:p>
        </p:txBody>
      </p:sp>
      <p:sp>
        <p:nvSpPr>
          <p:cNvPr id="4" name="card"/>
          <p:cNvSpPr/>
          <p:nvPr/>
        </p:nvSpPr>
        <p:spPr>
          <a:xfrm>
            <a:off x="548640" y="196596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22960" y="2240280"/>
            <a:ext cx="868680" cy="8686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244876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Стронцій, літій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67912"/>
            <a:ext cx="201922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червоний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3390824" y="196596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10" name="icon-circle"/>
          <p:cNvSpPr/>
          <p:nvPr/>
        </p:nvSpPr>
        <p:spPr>
          <a:xfrm>
            <a:off x="3665144" y="224028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627" y="244876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5144" y="333756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Натрій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3867912"/>
            <a:ext cx="201922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жовто-оранжевий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6233008" y="196596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15" name="icon-circle"/>
          <p:cNvSpPr/>
          <p:nvPr/>
        </p:nvSpPr>
        <p:spPr>
          <a:xfrm>
            <a:off x="6507328" y="2240280"/>
            <a:ext cx="868680" cy="868680"/>
          </a:xfrm>
          <a:prstGeom prst="ellipse">
            <a:avLst/>
          </a:prstGeom>
          <a:solidFill>
            <a:srgbClr val="3BA55C"/>
          </a:solidFill>
          <a:ln w="12700">
            <a:solidFill>
              <a:srgbClr val="3BA55C"/>
            </a:solidFill>
            <a:prstDash val="solid"/>
          </a:ln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811" y="24487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333756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Барій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867912"/>
            <a:ext cx="201922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зелений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9075191" y="1965960"/>
            <a:ext cx="2567864" cy="4206240"/>
          </a:xfrm>
          <a:prstGeom prst="roundRect">
            <a:avLst>
              <a:gd name="adj" fmla="val 4273"/>
            </a:avLst>
          </a:prstGeom>
          <a:solidFill>
            <a:srgbClr val="EAF4F8"/>
          </a:solidFill>
          <a:ln/>
        </p:spPr>
      </p:sp>
      <p:sp>
        <p:nvSpPr>
          <p:cNvPr id="20" name="icon-circle"/>
          <p:cNvSpPr/>
          <p:nvPr/>
        </p:nvSpPr>
        <p:spPr>
          <a:xfrm>
            <a:off x="9349511" y="2240280"/>
            <a:ext cx="868680" cy="8686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995" y="244876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3337560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Мідь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3867912"/>
            <a:ext cx="201922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синьо-зелений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«Між молекулами речовини немає жодних проміжків»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«Між молекулами речовини немає жодних проміжків»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 частинками є проміжки. Доказ: якщо змішати 50 мл води і 50 мл спирту, вийде менше 100 мл — молекули однієї речовини «заповнюють» проміжки між молекулами іншої.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«Атом — найменша неподільна частинка»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«Атом — найменша неподільна частинка»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«атом» з грецької справді означає «неподільний». Але атом складається з ядра (протони і нейтрони) та електронів. А протони і нейтрони — ще з менших частинок, кварків.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«Колір полум'я може «підказати», який хімічний елемент горить»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2A8C9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«Колір полум'я може «підказати», який хімічний елемент горить»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EAF4F8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2A8C9E"/>
          </a:solidFill>
          <a:ln w="12700">
            <a:solidFill>
              <a:srgbClr val="2A8C9E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елемент випромінює світло свого кольору, бо в його атомах свої енергетичні рівні. Натрій забарвлює полум'я в жовтий колір, мідь — у синьо-зелений.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нейтронів у ядрі атома Урану-238 (порядковий номер 92)?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146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238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8FD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1F5F8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1F5F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Скільки нейтронів у ядрі Урану-238?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1F5F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146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Нейтрони = масове число − кількість протонів = 238 − 92 = 146. Число 92 — це протони й електрони, а 238 — сума протонів і нейтронів.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45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МКТ: речовини складаються з частинок, які безперервно хаотично рухаються і взаємодіють.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890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3774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Докази: дифузія, броунівський рух, тиск газу. Що вища температура, то швидший рух частинок.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433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2918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Агрегатні стани: твердий, рідкий, газоподібний, плазма — відрізняються розташуванням і рухом частинок.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5770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42062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Атом: ядро (протони + нейтрони, 99,95 % маси) і електрони. Ізотопи відрізняються кількістю нейтронів.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37210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5120640"/>
            <a:ext cx="104086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Постулати Бора: електрон перебуває лише на дозволених рівнях; при переході між ними атом поглинає або випромінює квант.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я зрозумів(-ла), чому…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Найцікавішим для мене було…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1F5F8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ще хочу розібратися в…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три положення МКТ і два постулати Бора.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Наведіть 3 приклади дифузії з повсякденного життя.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Визначте кількість протонів, нейтронів і електронів в атомах ¹²C, ²³Na, ⁵⁶Fe.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C26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Поясніть своїми словами, чому світяться неонові вивіски.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6324F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8FD3E0"/>
          </a:solidFill>
          <a:ln w="12700">
            <a:solidFill>
              <a:srgbClr val="8FD3E0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F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57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C2633"/>
      </a:dk1>
      <a:lt1>
        <a:srgbClr val="FFFFFF"/>
      </a:lt1>
      <a:dk2>
        <a:srgbClr val="16324F"/>
      </a:dk2>
      <a:lt2>
        <a:srgbClr val="EAF4F8"/>
      </a:lt2>
      <a:accent1>
        <a:srgbClr val="1F5F8B"/>
      </a:accent1>
      <a:accent2>
        <a:srgbClr val="8FD3E0"/>
      </a:accent2>
      <a:accent3>
        <a:srgbClr val="F4A261"/>
      </a:accent3>
      <a:accent4>
        <a:srgbClr val="E76F51"/>
      </a:accent4>
      <a:accent5>
        <a:srgbClr val="5B6BB5"/>
      </a:accent5>
      <a:accent6>
        <a:srgbClr val="2A8C9E"/>
      </a:accent6>
      <a:hlink>
        <a:srgbClr val="5B6BB5"/>
      </a:hlink>
      <a:folHlink>
        <a:srgbClr val="1F5F8B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Основні положення МКТ. Квантові постулати Бора</dc:title>
  <dc:subject>Природничі науки, 1 курс</dc:subject>
  <dc:creator>Баталова Т. П.</dc:creator>
  <cp:lastModifiedBy>Баталова Т. П.</cp:lastModifiedBy>
  <cp:revision>1</cp:revision>
  <dcterms:created xsi:type="dcterms:W3CDTF">2026-10-03T13:47:38Z</dcterms:created>
  <dcterms:modified xsi:type="dcterms:W3CDTF">2026-10-03T13:47:38Z</dcterms:modified>
</cp:coreProperties>
</file>