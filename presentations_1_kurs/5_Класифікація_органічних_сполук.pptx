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b9a3e141-c529-123c-1689-863dc3c2a21f}">
          <p14:sldIdLst>
            <p14:sldId id="256"/>
            <p14:sldId id="257"/>
            <p14:sldId id="258"/>
            <p14:sldId id="259"/>
          </p14:sldIdLst>
        </p14:section>
        <p14:section name="Класифікація органічних сполук" id="{4a481c55-fa14-b242-18b6-d96b7b204695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Органічні речовини живого" id="{276f5d42-59e5-1069-ba41-52dd64ce3d82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Міфи і факти" id="{c6adec5b-42e2-dd07-fc48-4d7068ca76f6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Закріплення" id="{be7cbe06-f291-4d30-25a0-c8a2ed7aeae2}">
          <p14:sldIdLst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Дві частини: як класифікують органічні сполуки і які органічні речовини будують живі організми.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Відповідь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питання: як упорядкувати мільйони органічних сполук?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Інтрига. Відповідь — після розгляду функцій органічних речовин.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Відомо десятки мільйонів органічних сполук — у рази більше, ніж неорганічних.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лекцією: в основу сучасної класифікації покладено дві ознаки.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Цікаво: банани дозрівають швидше в пакеті з яблуком — яблуко виділяє етилен.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Функціональні групи з лекції (друга ознака класифікації).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лекцією: вуглеводні з однаковими функціональними групами або структурними фрагментами утворюють гомологічні ряди. Загальна формула алканів CₙH₂ₙ₊₂.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Індивідуально.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Відповідь.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Друга частина лекції: будова та функції органічних речовин.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Будова і функції вуглеводів.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Будова і функції ліпідів. Верблюд запасає жир у горбах: при його окисненні утворюється ще й вода.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Будова і функції білків. Енергетична функція теж є (≈ 17,6 кДж/г), але білки використовуються для енергії в останню чергу.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Будова і функції нуклеїнових кислот.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Відповідь на розминку №2. Наголос на збалансованому харчуванні.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завдання. Пункт 3: білки × 17,6 + жири × 38,9 + вуглеводи × 17,6 (кДж).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Класифікація органічних сполук. Будова та функції органічних речовин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Класифікація органічних сполук. Будова та функції органічних речовин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2A8C9E">
              <a:alpha val="60000"/>
            </a:srgbClr>
          </a:solidFill>
          <a:ln w="12700">
            <a:solidFill>
              <a:srgbClr val="2A8C9E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Класифікація органічних сполук. Будова та функції органічних речовин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бензину до ДНК: як розібратися в мільйонах органічних речовин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1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спільного між бензином, цукром, жиром і ДНК?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хвилину. Пригадайте попередні лекції.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вони — органічні речовини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кожної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ланцюги з атомів Карбону, сполучених з Гідрогеном.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Бензин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суміш вуглеводнів (лише C і H).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Цукор і жир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C, H і O. Поживні речовини, джерела енергії.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ДНК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C, H, O, N, P. Носій спадкової інформації. Різні будова і функції — але спільна «карбонова» основа.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Дієтологи кажуть, що організму потрібні і білки, і жири, і вуглеводи. Що буде, якщо повністю виключити щось одне?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свою версію. Відповідь — у другій частині лекції.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органічних сполук так багато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567864" cy="4846320"/>
          </a:xfrm>
          <a:prstGeom prst="roundRect">
            <a:avLst>
              <a:gd name="adj" fmla="val 4273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Чотири «руки»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27832"/>
            <a:ext cx="201922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Карбон чотиривалентний.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3390824" y="1325880"/>
            <a:ext cx="2567864" cy="4846320"/>
          </a:xfrm>
          <a:prstGeom prst="roundRect">
            <a:avLst>
              <a:gd name="adj" fmla="val 4273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3665144" y="1600200"/>
            <a:ext cx="868680" cy="86868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627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9748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Довгі ланцюги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227832"/>
            <a:ext cx="201922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Атоми C сполучаються між собою в ланцюги з тисяч атомів.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6233008" y="1325880"/>
            <a:ext cx="2567864" cy="4846320"/>
          </a:xfrm>
          <a:prstGeom prst="roundRect">
            <a:avLst>
              <a:gd name="adj" fmla="val 4273"/>
            </a:avLst>
          </a:prstGeom>
          <a:solidFill>
            <a:srgbClr val="EAF4F8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6507328" y="160020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811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9748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Різні зв'язки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227832"/>
            <a:ext cx="201922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Одинарні C–C, подвійні C=C, потрійні C≡C.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9075191" y="1325880"/>
            <a:ext cx="2567864" cy="4846320"/>
          </a:xfrm>
          <a:prstGeom prst="roundRect">
            <a:avLst>
              <a:gd name="adj" fmla="val 4273"/>
            </a:avLst>
          </a:prstGeom>
          <a:solidFill>
            <a:srgbClr val="EAF4F8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9349511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995" y="180868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9748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Кільця і гілки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227832"/>
            <a:ext cx="201922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Ланцюги бувають прямі, розгалужені, циклічні. Плюс ізомерія.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Дві основи сучасної класифікації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1468" cy="3108960"/>
          </a:xfrm>
          <a:prstGeom prst="roundRect">
            <a:avLst>
              <a:gd name="adj" fmla="val 3529"/>
            </a:avLst>
          </a:prstGeom>
          <a:solidFill>
            <a:srgbClr val="EAF4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41468" cy="868680"/>
          </a:xfrm>
          <a:prstGeom prst="roundRect">
            <a:avLst>
              <a:gd name="adj" fmla="val 12632"/>
            </a:avLst>
          </a:prstGeom>
          <a:solidFill>
            <a:srgbClr val="1F5F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5054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51585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Будова карбонового скелету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51220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ланцюг: відкритий чи замкнений; які зв'язки між атомами C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5411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6301588" y="1463040"/>
            <a:ext cx="5341468" cy="3108960"/>
          </a:xfrm>
          <a:prstGeom prst="roundRect">
            <a:avLst>
              <a:gd name="adj" fmla="val 3529"/>
            </a:avLst>
          </a:prstGeom>
          <a:solidFill>
            <a:srgbClr val="EA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6301588" y="1463040"/>
            <a:ext cx="5341468" cy="868680"/>
          </a:xfrm>
          <a:prstGeom prst="roundRect">
            <a:avLst>
              <a:gd name="adj" fmla="val 12632"/>
            </a:avLst>
          </a:prstGeom>
          <a:solidFill>
            <a:srgbClr val="5B6BB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001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393028" y="2468880"/>
            <a:ext cx="51585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Функціональні групи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11316" y="3246120"/>
            <a:ext cx="51220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 особливі групи атомів є в молекулі і визначають її властивості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 бібліотеці: книги розставляють за жанром і за автором. Органічні сполуки — за «скелетом» і за «функціональною групою».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будовою карбонового ланцюга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4754880"/>
          </a:xfrm>
          <a:prstGeom prst="roundRect">
            <a:avLst>
              <a:gd name="adj" fmla="val 2308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Аліфатичні (ациклічні)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Незамкнений ланцюг атомів Карбону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Ланцюг може бути прямим або розгалуженим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метан CH₄, пропан C₃H₈, бутан C₄H₁₀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4754880"/>
          </a:xfrm>
          <a:prstGeom prst="roundRect">
            <a:avLst>
              <a:gd name="adj" fmla="val 2308"/>
            </a:avLst>
          </a:prstGeom>
          <a:solidFill>
            <a:srgbClr val="FCE9E3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Циклічні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Карбоновий скелет замкнений у цикл (кільце)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циклогексан C₆H₁₂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Особлива група — ароматичні сполуки, наприклад бензен C₆H₆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типом зв'язків між атомами Карбону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Насичені (алкани)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27832"/>
            <a:ext cx="296661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одинарні зв'язки C–C.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Метан CH₄ — природний газ у плиті.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Ненасичені з подвійним (алкени)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75304"/>
            <a:ext cx="296661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зв'язок C=C.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Етилен C₂H₄ — газ, що прискорює дозрівання фруктів.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Ненасичені з потрійним (алкіни)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75304"/>
            <a:ext cx="296661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зв'язок C≡C.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Ацетилен C₂H₂ — для газового зварювання металів.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Функціональні групи і класи сполук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292608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Клас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Функціональна група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Приклад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 зустрічаємо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Спирти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–OH (гідроксильна)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етанол C₂H₅OH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антисептики, напої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Альдегіди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–CHO (альдегідна)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формальдегід HCHO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консервант, виробництво пластмас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Карбонові кислоти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–COOH (карбоксильна)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оцтова CH₃COOH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оцет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Естери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–COO–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етилацетат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запахи фруктів, лак для нігтів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Аміни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–NH₂ (аміногрупа)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метиламін CH₃NH₂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запах риби, ліки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Функціональна група — група атомів, яка визначає характерні властивості класу сполук.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Гомологічний ряд алканів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402336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Назва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Формула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Скорочена будова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 за кімнатної 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Метан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CH₄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CH₄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газ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Етан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C₂H₆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CH₃–CH₃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газ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Пропан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C₃H₈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CH₃–CH₂–CH₃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газ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Бутан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C₄H₁₀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CH₃–CH₂–CH₂–CH₃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газ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Пентан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C₅H₁₂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CH₃–(CH₂)₃–CH₃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рідина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Гомологи — сполуки з однаковими функціональними групами чи будовою, що відрізняються на групу CH₂. Вони утворюють гомологічні ряди.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ПЕРЕВІРТЕ СЕБЕ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якого класу належить оцтова кислота CH₃COOH? А етиловий спирт C₂H₅OH? За чим ви це визначили?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Знайдіть у формулах функціональні групи. 1 хвилина.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Шукаємо функціональну групу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CH₃COOH: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група –COOH → карбонова кислота. Аліфатична, бо ланцюг незамкнений.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C₂H₅OH: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група –OH → спирт. Теж аліфатична сполука.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 органічної сполуки визначаємо насамперед за функціональною групою.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скелет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підказує, аліфатична сполука чи циклічна, насичена чи ненасичена.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Чотири групи органічних речовин живих організмів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567864" cy="4846320"/>
          </a:xfrm>
          <a:prstGeom prst="roundRect">
            <a:avLst>
              <a:gd name="adj" fmla="val 4273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Вуглеводи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27832"/>
            <a:ext cx="201922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Енергія і будівельний матеріал.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3390824" y="1325880"/>
            <a:ext cx="2567864" cy="4846320"/>
          </a:xfrm>
          <a:prstGeom prst="roundRect">
            <a:avLst>
              <a:gd name="adj" fmla="val 4273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3665144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627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9748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Ліпіди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227832"/>
            <a:ext cx="201922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енергії, мембрани, гормони.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6233008" y="1325880"/>
            <a:ext cx="2567864" cy="4846320"/>
          </a:xfrm>
          <a:prstGeom prst="roundRect">
            <a:avLst>
              <a:gd name="adj" fmla="val 4273"/>
            </a:avLst>
          </a:prstGeom>
          <a:solidFill>
            <a:srgbClr val="EAF4F8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6507328" y="1600200"/>
            <a:ext cx="868680" cy="8686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811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9748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Білки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227832"/>
            <a:ext cx="201922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Ферменти, рух, захист, транспорт.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9075191" y="1325880"/>
            <a:ext cx="2567864" cy="4846320"/>
          </a:xfrm>
          <a:prstGeom prst="roundRect">
            <a:avLst>
              <a:gd name="adj" fmla="val 4273"/>
            </a:avLst>
          </a:prstGeom>
          <a:solidFill>
            <a:srgbClr val="EAF4F8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9349511" y="1600200"/>
            <a:ext cx="868680" cy="86868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995" y="180868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9748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Нуклеїнові кислоти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227832"/>
            <a:ext cx="201922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Зберігання і передача спадкової інформації.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Вуглеводи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Вуглеводи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Органічні речовини з C, H, O. Будова: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моносахариди — глюкоза, фруктоза (мед, фрукти)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дисахариди — сахароза (цукор)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полісахариди — крохмаль (картопля), целюлоза (деревина), глікоген (печінка, м'язи)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Функції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Енергетична: 1 г дає ≈ 17,6 кДж енергії — «швидке паливо» організму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Структурна: целюлоза — стінки рослинних клітин, хітин — панцир комах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Запасна: крохмаль у рослин, глікоген у тварин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Ліпіди (жири)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Ліпіди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Органічні речовини, нерозчинні у воді. Будова: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жири й олії — з гліцерину і жирних кислот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фосфоліпіди — основа клітинних мембран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воски — захисне покриття листків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стероїди — холестерол, деякі гормони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Функції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Енергетична: 1 г дає ≈ 38,9 кДж — удвічі більше, ніж вуглеводи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Запасна і теплоізоляційна: підшкірний жир, жир тюленів і ведмедів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Будівельна: мембрани клітин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Регуляторна: статеві гормони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Білки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Полімери, мономери яких — амінокислоти. Усі білки організму побудовані з 20 видів амінокислот, як слова з літер.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Послідовність амінокислот визначає форму і функцію білка.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Функції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Каталітична: ферменти прискорюють реакції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Будівельна: кератин (волосся), колаген (шкіра)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Транспортна: гемоглобін переносить кисень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Захисна: антитіла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Рухова: актин і міозин у м'язах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Регуляторна: інсулін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Нуклеїнові кислоти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ДНК і РНК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Полімери, мономери яких — нуклеотиди.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ДНК — подвійна спіраль, зберігає спадкову інформацію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РНК — одноланцюгова, переносить інформацію і бере участь у синтезі білків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ДНК — це «книга рецептів» організму: у ній записано, які білки і коли синтезувати.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розтягнути ДНК з однієї клітини людини, вийде нитка завдовжки близько 2 метрів!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Відповідь: чому потрібні і білки, і жири, і вуглеводи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вуглеводів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бракує «швидкої» енергії: втома, слабкість, гірше працює мозок (глюкоза — його основне паливо).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жирів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порушується будова мембран і синтез гормонів; не засвоюються вітаміни A, D, E, K.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білків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 з чого будувати м'язи, ферменти, антитіла: слабшає імунітет, руйнуються м'язи.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група виконує свої функції, замінити одну іншою повністю неможливо.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«Жири шкідливі — їх треба повністю виключити з раціону»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«Жири шкідливі — їх треба повністю виключити з раціону»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Жири потрібні для клітинних мембран, гормонів і засвоєння вітамінів A, D, E, K. Шкодить надлишок жирів, а не самі жири.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«Ферменти, що прискорюють реакції в організмі, — це білки»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2A8C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«Ферменти, що прискорюють реакції в організмі, — це білки»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AF4F8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Майже всі ферменти — білки. Наприклад, амілаза слини починає розщеплювати крохмаль уже в роті: пожуйте шматочок хліба довше — і відчуєте солодкий смак.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«Органічні речовини — це лише продукти з позначкою «органік»»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«Органічні речовини — це лише продукти з позначкою «органік»»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хімії «органічні» — це сполуки Карбону з Гідрогеном. Бензин, пластик, цукор, білок — усе це органічні речовини. Позначка «органік» на продуктах означає лише спосіб вирощування.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функціональна група характерна для карбонових кислот?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–OH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–CHO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–COOH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–NH₂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Функціональна група карбонових кислот 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1F5F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В) –COOH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Карбоксильна група –COOH — ознака карбонових кислот (оцтова CH₃COOH). –OH — спирти, –CHO — альдегіди, –NH₂ — аміни.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45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Органічні сполуки класифікують за будовою карбонового скелету і за функціональними групами.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2890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3774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ланцюгом — аліфатичні (незамкнений) і циклічні (замкнений); за зв'язками — насичені і ненасичені.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433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2918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Функціональна група визначає клас: –OH спирти, –CHO альдегіди, –COOH кислоти, –NH₂ аміни.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770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42062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Гомологи відрізняються на групу CH₂ і утворюють гомологічні ряди.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7210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51206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Органічні речовини живого: вуглеводи, ліпіди, білки, нуклеїнові кислоти — кожна група має свої функції.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Тепер, дивлячись на формулу, я можу…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Найважливіша органічна речовина для життя, на мою думку, —…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ще потрібно повторити…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дві ознаки класифікації органічних сполук і основні функціональні групи.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формули перших п'яти членів гомологічного ряду алканів.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Візьміть етикетку будь-якого продукту: випишіть вміст білків, жирів і вуглеводів і порахуйте енергетичну цінність 100 г.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6324F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C2633"/>
      </a:dk1>
      <a:lt1>
        <a:srgbClr val="FFFFFF"/>
      </a:lt1>
      <a:dk2>
        <a:srgbClr val="16324F"/>
      </a:dk2>
      <a:lt2>
        <a:srgbClr val="EAF4F8"/>
      </a:lt2>
      <a:accent1>
        <a:srgbClr val="1F5F8B"/>
      </a:accent1>
      <a:accent2>
        <a:srgbClr val="8FD3E0"/>
      </a:accent2>
      <a:accent3>
        <a:srgbClr val="F4A261"/>
      </a:accent3>
      <a:accent4>
        <a:srgbClr val="E76F51"/>
      </a:accent4>
      <a:accent5>
        <a:srgbClr val="5B6BB5"/>
      </a:accent5>
      <a:accent6>
        <a:srgbClr val="2A8C9E"/>
      </a:accent6>
      <a:hlink>
        <a:srgbClr val="5B6BB5"/>
      </a:hlink>
      <a:folHlink>
        <a:srgbClr val="1F5F8B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Класифікація органічних сполук. Будова та функції органічних речовин</dc:title>
  <dc:subject>Природничі науки, 1 курс</dc:subject>
  <dc:creator>Баталова Т. П.</dc:creator>
  <cp:lastModifiedBy>Баталова Т. П.</cp:lastModifiedBy>
  <cp:revision>1</cp:revision>
  <dcterms:created xsi:type="dcterms:W3CDTF">2026-10-03T13:47:53Z</dcterms:created>
  <dcterms:modified xsi:type="dcterms:W3CDTF">2026-10-03T13:47:53Z</dcterms:modified>
</cp:coreProperties>
</file>