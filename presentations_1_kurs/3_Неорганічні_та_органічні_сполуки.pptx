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67460806-b967-65e1-8fc3-bfa6400f8ebb}">
          <p14:sldIdLst>
            <p14:sldId id="256"/>
            <p14:sldId id="257"/>
            <p14:sldId id="258"/>
            <p14:sldId id="259"/>
          </p14:sldIdLst>
        </p14:section>
        <p14:section name="Класифікація речовин" id="{157f687c-df61-63c6-d3f6-5e883734f74e}">
          <p14:sldIdLst>
            <p14:sldId id="260"/>
            <p14:sldId id="261"/>
            <p14:sldId id="262"/>
            <p14:sldId id="263"/>
          </p14:sldIdLst>
        </p14:section>
        <p14:section name="Класи неорганічних сполук" id="{53bd19b7-7288-b971-e472-b1ac894c42aa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Міфи і факти" id="{10b14837-2a00-68e8-ed1e-f52753486cff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Закріплення" id="{9892d0d6-c6ab-4939-5a77-4b54227f4a85}">
          <p14:sldIdLst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Тема — класифікація речовин і чотири основні класи неорганічних сполук.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Можливі версії: природні/штучні, тверді/рідкі, їстівні/неїстівні. Правильна — неорганічні і органічні. Відповідь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класифікації.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Збір прикладів для практичного завдання в кінці. Запишіть кілька відповідей на дошці.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лекцією: речовини — прості і складні; складні — органічні і неорганічні.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Визначення з лекції.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Приклади з лекції.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Порівняння. Детальніше про органічні сполуки — у наступних темах.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Огляд. Далі — кожен клас детально.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Наголос: вода — теж оксид.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Техніка безпеки: при розведенні сульфатної кислоти кислоту ллють у воду, а не навпаки.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Техніка безпеки з лугами.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Солей найбільше серед неорганічних речовин.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Пари складають алгоритм.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 на проблемне 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Показує, що класи пов'язані між собою.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Розберіть і приклади студентів з розминки №2.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 Відповіді до п. 2: оксиди — SO₂, MgO, CO₂; основи — KOH, Fe(OH)₃, LiOH; кислоти — HNO₃, H₃PO₄; солі — Na₂SO₄, CaCl₂.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та органічні сполуки. Основні класи неорганічних сполук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та органічні сполуки. Основні класи неорганічних сполук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2A8C9E">
              <a:alpha val="60000"/>
            </a:srgbClr>
          </a:solidFill>
          <a:ln w="12700">
            <a:solidFill>
              <a:srgbClr val="2A8C9E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та органічні сполуки. Основні класи неорганічних сполук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Оксиди, кислоти, основи, солі — і як їх розпізнати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1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Пісок, вода, кухонна сіль — і цукор, бензин, білок. За якою ознакою їх можна розділити на дві групи?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1–2 хвилини. Висловіть свої версії.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і органічні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Пісок, вода, сіль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речовини: SiO₂, H₂O, NaCl. У них немає зв'язків Карбону з Гідрогеном.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Цукор, бензин, білок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органічні речовини: їхня основа — атоми Карбону, сполучені з Гідрогеном.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Органічні горять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обвуглюються при нагріванні. Неорганічні здебільшого ні.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ознака органічних речовин — Карбон, сполучений ковалентно з Гідрогеном.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Згадайте ваш ранок. Назвіть 5 речовин, з якими ви сьогодні мали справу.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їх. Наприкінці лекції визначимо, до якого класу належить кожна.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Класифікація речовин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89699" cy="3108960"/>
          </a:xfrm>
          <a:prstGeom prst="roundRect">
            <a:avLst>
              <a:gd name="adj" fmla="val 5807"/>
            </a:avLst>
          </a:prstGeom>
          <a:solidFill>
            <a:srgbClr val="EAF4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Речовини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16702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матерії, що має масу і складається з частинок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02347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2849819" y="1463040"/>
            <a:ext cx="1889699" cy="3108960"/>
          </a:xfrm>
          <a:prstGeom prst="roundRect">
            <a:avLst>
              <a:gd name="adj" fmla="val 5807"/>
            </a:avLst>
          </a:prstGeom>
          <a:solidFill>
            <a:srgbClr val="EA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1F5F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349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41259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Прості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59547" y="3246120"/>
            <a:ext cx="16702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атомів одного елемента: метали (Fe, Cu) і неметали (O₂, S)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80352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5150998" y="1463040"/>
            <a:ext cx="1889699" cy="3108960"/>
          </a:xfrm>
          <a:prstGeom prst="roundRect">
            <a:avLst>
              <a:gd name="adj" fmla="val 5807"/>
            </a:avLst>
          </a:prstGeom>
          <a:solidFill>
            <a:srgbClr val="EA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5B6BB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42438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Складні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60726" y="3246120"/>
            <a:ext cx="16702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атомів двох і більше елементів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104705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6"/>
          <p:cNvSpPr/>
          <p:nvPr/>
        </p:nvSpPr>
        <p:spPr>
          <a:xfrm>
            <a:off x="7452177" y="1463040"/>
            <a:ext cx="1889699" cy="3108960"/>
          </a:xfrm>
          <a:prstGeom prst="roundRect">
            <a:avLst>
              <a:gd name="adj" fmla="val 5807"/>
            </a:avLst>
          </a:prstGeom>
          <a:solidFill>
            <a:srgbClr val="EAF4F8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1618488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43617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561905" y="3246120"/>
            <a:ext cx="16702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оксиди, кислоти, основи, солі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405884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7" name="Shape 21"/>
          <p:cNvSpPr/>
          <p:nvPr/>
        </p:nvSpPr>
        <p:spPr>
          <a:xfrm>
            <a:off x="9753356" y="1463040"/>
            <a:ext cx="1889699" cy="3108960"/>
          </a:xfrm>
          <a:prstGeom prst="roundRect">
            <a:avLst>
              <a:gd name="adj" fmla="val 5807"/>
            </a:avLst>
          </a:prstGeom>
          <a:solidFill>
            <a:srgbClr val="EAF4F8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1463040"/>
            <a:ext cx="1889699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3886" y="1618488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44796" y="24688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Органічні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863084" y="3246120"/>
            <a:ext cx="167024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сполуки Карбону (C, H, O, N…)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Складні речовини поділяються на неорганічні та органічні.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сполуки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сполуки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Хімічні сполуки, які не містять атомів Карбону, ковалентно пов'язаних з атомами Гідрогену.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сполуки — основа Землі: вода, пісок, переважна більшість мінералів, розчинені у водоймах солі.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Виняток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Увага: деякі сполуки Карбону теж неорганічні, бо в них немає зв'язку C–H: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CO₂ — вуглекислий газ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 — чадний газ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CaCO₃ — крейда, мармур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H₂CO₃ — вугільна кислота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сполуки у Всесвіті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Вода, пісок (SiO₂), мінерали, солі морів. В атмосфері — CO₂, NO, NO₂, водяна пара.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5A6573"/>
          </a:solidFill>
          <a:ln w="12700">
            <a:solidFill>
              <a:srgbClr val="5A657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Місяць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Поверхня складається з оксидів: SiO₂, Fe₂O₃, MgO, Al₂O₃, Cr₂O₃, TiO₂.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Міжпланетний простір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CO₂, CO, FeO, аміак, хлороводень, хлориди натрію і калію, гідрид літію.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і органічні сполуки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Можуть містити будь-які елементи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Відомо сотні тисяч сполук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тугоплавкі, не горять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H₂O, NaCl, SiO₂, H₂SO₄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4754880"/>
          </a:xfrm>
          <a:prstGeom prst="roundRect">
            <a:avLst>
              <a:gd name="adj" fmla="val 2308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Органічні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— Карбон, сполучений з Гідрогеном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Відомо десятки мільйонів сполук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легкоплавкі, горять, обвуглюються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цукор, спирт, білки, бензин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Чотири основні класи неорганічних сполук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Оксиди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Елемент + Оксиген: CO₂, CaO, H₂O, Fe₂O₃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07328" y="160020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2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6008" y="160020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Кислоти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Гідроген + кислотний залишок: HCl, H₂SO₄, HNO₃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548640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Основи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 + гідроксогрупа OH: NaOH, Ca(OH)₂, KOH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6233008" y="3886200"/>
            <a:ext cx="5410048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6507328" y="416052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920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6008" y="416052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Солі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834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 + кислотний залишок: NaCl, CaCO₃, CuSO₄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Оксиди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Оксиди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Складні речовини з двох елементів, один з яких — Оксиген зі ступенем окиснення −2.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основні — оксиди металів: CaO, Na₂O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кислотні — оксиди неметалів: CO₂, SO₃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амфотерні — мають властивості обох: Al₂O₃, ZnO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Оксиди навколо нас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H₂O — вода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CO₂ — вуглекислий газ, «бульбашки» в газованій воді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SiO₂ — пісок, кварц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Fe₂O₃ — іржа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CaO — негашене вапно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Кислоти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Кислоти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Складні речовини, молекули яких складаються з атомів Гідрогену і кислотного залишку.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— хлоридна, H₂SO₄ — сульфатна, HNO₃ — нітратна, H₃PO₄ — ортофосфатна.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Мають кислий смак; лакмус у кислоті стає червоним.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Кислоти навколо нас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HCl — у шлунковому соку, допомагає травленню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H₂SO₄ — в автомобільних акумуляторах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H₃PO₄ — у деяких газованих напоях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H₂CO₃ — у газованій воді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Увага: пробувати кислоти в лабораторії не можна!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Складні речовини, що складаються з атома металу і однієї або кількох гідроксогруп OH.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Розчинні у воді основи — луги: NaOH, KOH, Ca(OH)₂.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Нерозчинні: Cu(OH)₂, Fe(OH)₃.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Луги милкі на дотик; фенолфталеїн у лузі стає малиновим.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Основи навколо нас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NaOH — їдкий натр, використовують для виробництва мила і засобів для чищення труб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Ca(OH)₂ — гашене вапно, ним білять стовбури дерев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KOH — у лужних батарейках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Луги роз'їдають шкіру — працюємо в рукавичках!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Солі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Складні речовини, що складаються з атомів металу і кислотного залишку.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Утворюються, наприклад, під час реакції кислоти з основою (нейтралізація):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NaOH + HCl → NaCl + H₂O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Солі навколо нас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NaCl — кухонна сіль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CaCO₃ — крейда, мармур, вапняк, яєчна шкаралупа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NaHCO₃ — харчова сода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CuSO₄ — мідний купорос (захист рослин)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KNO₃, NH₄NO₃ — добрива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ПРОБЛЕМНЕ ПИТАННЯ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лише за формулою визначити, оксид це, кислота, основа чи сіль?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Подивіться на приклади попередніх слайдів. Складіть свій алгоритм у парах — 2 хвилини.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Алгоритм: визначаємо клас сполуки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5B6BB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EₓOᵧ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елементи, один — 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оксид: CO₂, CaO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77642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7"/>
          <p:cNvSpPr/>
          <p:nvPr/>
        </p:nvSpPr>
        <p:spPr>
          <a:xfrm>
            <a:off x="3425114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3425114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5114" y="146304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H…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16554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Починається з H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34842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кислота: HCl, H₂SO₄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5411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1588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1588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A8C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1588" y="146304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…OH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393028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 + група OH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11316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основа: NaOH, Ca(OH)₂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30589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9"/>
          <p:cNvSpPr/>
          <p:nvPr/>
        </p:nvSpPr>
        <p:spPr>
          <a:xfrm>
            <a:off x="9178061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9178061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8061" y="146304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Me…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269501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 + кислотний залишок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287789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сіль: NaCl, CaCO₃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Винятки: H₂O — оксид, хоча починається з H; NH₃ (аміак) — не кислота. Тому дивимося на склад уважно.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Генетичний зв'язок між класами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Речовини одного класу можна перетворити на речовини іншого. Приклад з Кальцієм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5A65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кальцій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77642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8"/>
          <p:cNvSpPr/>
          <p:nvPr/>
        </p:nvSpPr>
        <p:spPr>
          <a:xfrm>
            <a:off x="3425114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3425114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5B6BB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5114" y="201168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516554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Основний оксид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34842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негашене вапно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1588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1588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A8C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1588" y="201168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Ca(OH)₂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393028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11316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гашене вапно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30589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20"/>
          <p:cNvSpPr/>
          <p:nvPr/>
        </p:nvSpPr>
        <p:spPr>
          <a:xfrm>
            <a:off x="9178061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9178061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78061" y="2011680"/>
            <a:ext cx="2464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CaCO₃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269501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Сіль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287789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крейда, вапняк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у будівництві вапно «твердне»: гашене вапно Ca(OH)₂ поглинає з повітря CO₂ і перетворюється на твердий CaCO₃.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Повертаємося до вашого ранку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Вода H₂O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оксид. Харчова сода NaHCO₃ і кухонна сіль NaCl — солі.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Зубна паста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містить CaCO₃ (сіль) — м'який абразив для очищення зубів.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Газована вода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містить вугільну кислоту H₂CO₃ і вуглекислий газ CO₂ (оксид).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Цукор, кава, оцет, олія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органічні речовини. Про них — на наступних лекціях.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«Усі кислоти небезпечні та роз'їдають шкіру»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«Усі кислоти небезпечні та роз'їдають шкіру»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дуже слабкі кислоти, які ми щодня їмо і п'ємо: лимонна (лимон), аскорбінова (вітамін C), вугільна (газована вода), оцтова (оцет). Але сильні кислоти — сульфатна, хлоридна — справді небезпечні.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«Вода — це оксид»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A8C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«Вода — це оксид»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AF4F8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H₂O складається з двох елементів, один з яких — Оксиген. Тому за визначенням вода — оксид Гідрогену.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«Органічні речовини можуть утворюватися лише в живих організмах»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«Органічні речовини можуть утворюватися лише в живих організмах»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вважали до 1828 р., коли Фрідріх Велер одержав у лабораторії сечовину — органічну речовину — з неорганічної. Сьогодні в лабораторіях синтезують ліки, пластмаси, барвники.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якого класу неорганічних сполук належить CaCO₃ (крейда)?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Оксиди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Кислоти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Солі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якого класу належить CaCO₃?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1F5F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Г) Солі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CaCO₃ складається з металу (Ca) і кислотного залишку вугільної кислоти (CO₃). Метал + кислотний залишок = сіль. Хоч у формулі є O, це не оксид, бо елементів три.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45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Речовини: прості (метали, неметали) і складні (неорганічні та органічні).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2890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3774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Неорганічні сполуки не містять атомів Карбону, ковалентно пов'язаних з Гідрогеном. Вони — основа Землі.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433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2918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Оксиди — елемент + Оксиген; кислоти — H + кислотний залишок.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770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42062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Основи — метал + OH (розчинні — луги); солі — метал + кислотний залишок.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7210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51206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 пов'язані між собою: метал → оксид → основа → сіль.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можу визначити клас речовини за…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здивувало, що…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ще складно…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визначення: оксиди, кислоти, основи, солі.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Розподіліть за класами: SO₂, KOH, HNO₃, MgO, Na₂SO₄, Fe(OH)₃, H₃PO₄, CaCl₂, CO₂, LiOH.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Знайдіть удома 5 речовин неорганічного походження і визначте їхній клас.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6324F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C2633"/>
      </a:dk1>
      <a:lt1>
        <a:srgbClr val="FFFFFF"/>
      </a:lt1>
      <a:dk2>
        <a:srgbClr val="16324F"/>
      </a:dk2>
      <a:lt2>
        <a:srgbClr val="EAF4F8"/>
      </a:lt2>
      <a:accent1>
        <a:srgbClr val="1F5F8B"/>
      </a:accent1>
      <a:accent2>
        <a:srgbClr val="8FD3E0"/>
      </a:accent2>
      <a:accent3>
        <a:srgbClr val="F4A261"/>
      </a:accent3>
      <a:accent4>
        <a:srgbClr val="E76F51"/>
      </a:accent4>
      <a:accent5>
        <a:srgbClr val="5B6BB5"/>
      </a:accent5>
      <a:accent6>
        <a:srgbClr val="2A8C9E"/>
      </a:accent6>
      <a:hlink>
        <a:srgbClr val="5B6BB5"/>
      </a:hlink>
      <a:folHlink>
        <a:srgbClr val="1F5F8B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Неорганічні та органічні сполуки. Основні класи неорганічних сполук</dc:title>
  <dc:subject>Природничі науки, 1 курс</dc:subject>
  <dc:creator>Баталова Т. П.</dc:creator>
  <cp:lastModifiedBy>Баталова Т. П.</cp:lastModifiedBy>
  <cp:revision>1</cp:revision>
  <dcterms:created xsi:type="dcterms:W3CDTF">2026-10-03T13:47:46Z</dcterms:created>
  <dcterms:modified xsi:type="dcterms:W3CDTF">2026-10-03T13:47:46Z</dcterms:modified>
</cp:coreProperties>
</file>