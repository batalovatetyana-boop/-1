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b69350b0-c8bf-23c5-305f-d6d8f593a5fe}">
          <p14:sldIdLst>
            <p14:sldId id="256"/>
            <p14:sldId id="257"/>
            <p14:sldId id="258"/>
            <p14:sldId id="259"/>
          </p14:sldIdLst>
        </p14:section>
        <p14:section name="Що таке агроценоз" id="{fdbcabf0-4b79-0cbd-7a5c-94859c33a1b2}">
          <p14:sldIdLst>
            <p14:sldId id="260"/>
            <p14:sldId id="261"/>
            <p14:sldId id="262"/>
          </p14:sldIdLst>
        </p14:section>
        <p14:section name="Структура агроценозу" id="{3ffd100f-d3fc-757a-33d4-1778adce3db4}">
          <p14:sldIdLst>
            <p14:sldId id="263"/>
            <p14:sldId id="264"/>
            <p14:sldId id="265"/>
            <p14:sldId id="266"/>
            <p14:sldId id="267"/>
          </p14:sldIdLst>
        </p14:section>
        <p14:section name="Вплив на біосферу" id="{9c7a5bf1-707c-8b88-9fb0-b9f008353208}">
          <p14:sldIdLst>
            <p14:sldId id="268"/>
            <p14:sldId id="269"/>
            <p14:sldId id="270"/>
            <p14:sldId id="271"/>
          </p14:sldIdLst>
        </p14:section>
        <p14:section name="Міфи і факти" id="{643c63c3-933e-67b9-cfe6-ed8d415dbb19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Закріплення" id="{62327afb-44b2-fcd8-aa67-656957eac9cb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Привітання. Сьогодні говоримо про штучні екосистеми, які створила людина, — агроценози.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Розминка. Нехай студенти фантазують. Відповіді — на наступному слайді.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Підведіть до визначення агроценозу.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Вислухайте кілька пар. Відповіді — на наступних слайдах (порівняння природних і штучних екосистем).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Поверніться до відповідей студентів з розминки.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Розберіть слово.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Можна попросити студентів навести приклад кожної ознаки.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Студенти мали пригадати поняття продуцентів, консументів, редуцентів. Попросіть навести приклад ланцюга на городі: картопля → колорадський жук → … (у нас мало природних ворогів колорадського жука, тому він такий шкідливий).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Нехай студенти зв'яжуть із ознаками агроценозу.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Ключова думка: різноманіття = стійкість.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Узагальнююча таблиця. Можна дати студентам переписати в зошит.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 — 5 призначень. Останню картку використайте як мінізавдання: нехай студенти доповнять.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Наголос: Україна — аграрна країна. Наші чорноземи — світове багатство, але розораність дуже висока.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Можна запитати: що з цього ви бачили в Україні? (пилові бурі навесні, «цвітіння» ставків, зникнення бджіл після обробки полів).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Збалансуйте картину: агроценози — не зло, вони необхідні. Питання лише в тому, як ними керувати.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Практичні рішення. Сучасні фермери в Україні використовують дрони і супутникові знімки, щоб вносити добрива точно туди, де треба.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Очікувані відповіді: лісосмуги — штучна екосистема з призначенням «захист ґрунту»; поле без захисту — ерозія. План: відновити лісосмуги, сівозміна, покривні культури, мінімальний обробіток ґрунту. Пилові бурі в Україні справді траплялися в останні роки.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Рефлексія.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Домашнє завдання з конспекту.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Агроценози. Їх структура та вплив на біосферу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E9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Агроценози. Їх структура та вплив на біосферу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291840" cy="3291840"/>
          </a:xfrm>
          <a:prstGeom prst="ellipse">
            <a:avLst/>
          </a:prstGeom>
          <a:solidFill>
            <a:srgbClr val="40916C">
              <a:alpha val="60000"/>
            </a:srgbClr>
          </a:solidFill>
          <a:ln w="12700">
            <a:solidFill>
              <a:srgbClr val="40916C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7432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ЛЕКЦІЯ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Агроценози. Їх структура та вплив на біосферу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Поле, сад, город і парк — екосистеми, які створила людина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Природничі науки · 2 курс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станеться з городом, якщо людина покине його на 5 років?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Подумайте 1 хвилину. Опишіть, що ви побачите через рік, через три, через п'ять.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Город без людини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Перший рік: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культурні рослини ще ростуть, але їх заглушують бур'яни. Урожай з'їдають шкідники.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роки: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овочів майже немає. Ділянку захоплюють бур'яни і дикі трави.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років: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з'являються кущі й молоді дерева. Город перетворюється на пустир, а згодом — на природну екосистему.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штучна екосистема руйнується без постійного втручання людини. Це головна ознака агроценозу.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Поруч ростуть поле пшениці і квітучий луг. Що в них спільного? І чим вони відрізняються?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Обговоріть у парах 2 хвилини. Назвіть хоча б по 2 подібності й відмінності.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Природні і штучні екосистеми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Природні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Створені природою без участі людини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Приклади: ліс, луг, степ, болото, озеро, пустеля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Багато видів рослин і тварин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Існують самі по собі, здатні до саморегуляції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FDF1E4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53048" y="1600200"/>
            <a:ext cx="731520" cy="7315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Штучні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Створені людиною для своїх цілей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Приклади: поле, сад, город, парк, штучні водойми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Мало видів, переважають 1–2 культури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постійного догляду людини руйнуються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 пшениці і луг: спільне — обидва мають рослини, тварин, мікроорганізми. Відмінність — поле створила і доглядає людина.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Штучна екосистема, створена людиною для своїх цілей шляхом посіву або посадки й подальшого вирощування рослин, а також використання території для інтенсивного випасу свійських тварин.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Простими словами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«Агро» — поле, «ценоз» — спільнота.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 — «польова спільнота»: культурні рослини + бур'яни + комахи + гризуни + птахи + мікроорганізми ґрунту.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Приклади: пшеничне поле, яблуневий сад, виноградник, город, пасовище.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Головні ознаки агроценозу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Створений людиною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вирішує, що і де росте, сіє, садить, доглядає.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233008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07328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2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76008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культури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Переважає одна або кілька культур. Видів рослин, тварин, грибів і бактерій мало.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Немає саморегуляції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здатен сам себе підтримувати і відтворювати.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233008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6507328" y="416052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920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76008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Потрібен постійний догляд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людини руйнується: бур'яни, шкідники, хвороби беруть гору.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агроценозу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і в природі, в агроценозі є продуценти, консументи і редуценти. Але є ще одна обов'язкова ланка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817" y="21671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Продуценти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культурні рослини (пшениця, картопля) і бур'яни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077642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Shape 7"/>
          <p:cNvSpPr/>
          <p:nvPr/>
        </p:nvSpPr>
        <p:spPr>
          <a:xfrm>
            <a:off x="3425114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1" name="Shape 8"/>
          <p:cNvSpPr/>
          <p:nvPr/>
        </p:nvSpPr>
        <p:spPr>
          <a:xfrm>
            <a:off x="3425114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291" y="216712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16554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Консументи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534842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шкідники (жуки, гусінь), гризуни, птахи, хижі комахи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954116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1588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7" name="Shape 13"/>
          <p:cNvSpPr/>
          <p:nvPr/>
        </p:nvSpPr>
        <p:spPr>
          <a:xfrm>
            <a:off x="6301588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765" y="2167128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93028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Редуценти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11316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бактерії і гриби ґрунту розкладають рештки рослин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8830589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2" name="Shape 17"/>
          <p:cNvSpPr/>
          <p:nvPr/>
        </p:nvSpPr>
        <p:spPr>
          <a:xfrm>
            <a:off x="9178061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23" name="Shape 18"/>
          <p:cNvSpPr/>
          <p:nvPr/>
        </p:nvSpPr>
        <p:spPr>
          <a:xfrm>
            <a:off x="9178061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1B433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238" y="2167128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69501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287789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обов'язкова ланка будь-якого агроценозу: забирає урожай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1E4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22960" y="51206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є обов'язковою ланкою харчового ланцюга в будь-якому агроценозі. Вона забирає більшу частину урожаю — тому в агроценоз доводиться вносити добрива.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ПРОБЛЕМНЕ ПИТАННЯ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на картопляному полі колорадський жук розмножується масово, а в лісі жодна комаха так не «захоплює» все?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Подумайте 1–2 хвилини. Підказка: згадайте ознаки агроценозу.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в агроценозі «вибухають» шкідники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Багато їжі в одному місці: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гектари однієї культури — «шведський стіл» для шкідника.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Мало ворогів: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бідній на види екосистемі мало хижаків і паразитів, які стримують шкідника.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Немає саморегуляції: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лісі сотні видів стримують одне одного. В агроценозі цей механізм не працює.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менше видове різноманіття, то менш стійка екосистема. Тому людина змушена втручатися.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Природна екосистема і агроценоз: порівняння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60520"/>
                <a:gridCol w="4160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Ознака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Природна екосистема (луг, ліс)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Агроценоз (поле, сад)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Хто створив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природа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людина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Кількість видів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велика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мала, 1–2 культури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Саморегуляція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є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немає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Стійкість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висока, існує сотні років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низька, руйнується без людини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Джерело енергії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лише Сонце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Сонце + праця людини, техніка, добрива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Куди йде продукція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залишається в екосистемі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більшу частину забирає людина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Навіщо людина створює штучні екосистеми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Продукти харчування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Поля, городи, теплиці.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3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1218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Захист ґрунту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Лісосмуги.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17647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70797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Чисте повітря, менше шуму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Дерева на вулицях з активним рухом машин.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Прикраса і відпочинок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Сквери, парки, квітники.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4" name="icon-circle"/>
          <p:cNvSpPr/>
          <p:nvPr/>
        </p:nvSpPr>
        <p:spPr>
          <a:xfrm>
            <a:off x="4612538" y="4160520"/>
            <a:ext cx="685800" cy="6858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130" y="432511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1218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Вивчення тварин і рослин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Зоологічні та ботанічні сади.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9" name="icon-circle"/>
          <p:cNvSpPr/>
          <p:nvPr/>
        </p:nvSpPr>
        <p:spPr>
          <a:xfrm>
            <a:off x="8402117" y="4160520"/>
            <a:ext cx="685800" cy="6858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709" y="432511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70797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ще?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402117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Назвіть свої приклади: ставки для риби, пасовища, виноградники…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Скільки землі займають агроценози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1/3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суші планети використовує сільське господарство (поля і пасовища)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1098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54 %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66818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території України — рілля. Це один з найвищих рівнів розораності у світі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10677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кілька 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356397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стільки залишилося в Україні цілинного степу, який колись займав майже весь південь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Агроценози — найпоширеніші штучні екосистеми. Тому від того, як ми ними керуємо, залежить стан усієї біосфери.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Джерело: FAO; Державна служба статистики України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Негативний вплив агроценозів на біосферу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Знищення природних екосистем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Розорювання степів, вирубка лісів, осушення боліт під поля.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3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1218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Ерозія ґрунтів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природного покриву вітер і вода зносять родючий шар.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685800" cy="6858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17647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70797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Хімізація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Надлишок добрив і пестицидів отруює ґрунт, воду, організми.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Зменшення біорізноманіття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Зникають дикі рослини, комахи-запилювачі, птахи.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4" name="icon-circle"/>
          <p:cNvSpPr/>
          <p:nvPr/>
        </p:nvSpPr>
        <p:spPr>
          <a:xfrm>
            <a:off x="4612538" y="4160520"/>
            <a:ext cx="685800" cy="6858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130" y="432511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1218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Порушення водного режиму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Неправильне зрошення може засолити ґрунт.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9" name="icon-circle"/>
          <p:cNvSpPr/>
          <p:nvPr/>
        </p:nvSpPr>
        <p:spPr>
          <a:xfrm>
            <a:off x="8402117" y="4160520"/>
            <a:ext cx="685800" cy="685800"/>
          </a:xfrm>
          <a:prstGeom prst="ellipse">
            <a:avLst/>
          </a:prstGeom>
          <a:solidFill>
            <a:srgbClr val="5C6B63"/>
          </a:solidFill>
          <a:ln w="12700">
            <a:solidFill>
              <a:srgbClr val="5C6B63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709" y="432511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70797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Надмірний випас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402117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Худоба витоптує і з'їдає рослинність, ґрунт деградує.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Позитивна роль агроценозів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Годують людство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Майже вся наша їжа вирощена в агроценозах.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233008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07328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2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76008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Захищають ґрунт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Лісосмуги зупиняють вітер і зберігають вологу на полях.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Покращують міста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Парки і сквери очищують повітря, знижують шум і спеку.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233008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6507328" y="416052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920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76008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Зберігають рідкісні види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Ботанічні сади і зоопарки рятують види, яким загрожує зникнення.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зробити агроценоз дружнім до природи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70" y="1618488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Сівозміна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24612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чергувати культури на полі щороку — ґрунт відпочиває, шкідники не накопичуються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02347" y="320040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9" name="Shape 6"/>
          <p:cNvSpPr/>
          <p:nvPr/>
        </p:nvSpPr>
        <p:spPr>
          <a:xfrm>
            <a:off x="2849819" y="146304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10" name="Shape 7"/>
          <p:cNvSpPr/>
          <p:nvPr/>
        </p:nvSpPr>
        <p:spPr>
          <a:xfrm>
            <a:off x="2849819" y="146304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1B433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349" y="161848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41259" y="24688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Лісосмуги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959547" y="324612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зберігати й садити смуги дерев між полями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803526" y="320040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5" name="Shape 11"/>
          <p:cNvSpPr/>
          <p:nvPr/>
        </p:nvSpPr>
        <p:spPr>
          <a:xfrm>
            <a:off x="5150998" y="146304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16" name="Shape 12"/>
          <p:cNvSpPr/>
          <p:nvPr/>
        </p:nvSpPr>
        <p:spPr>
          <a:xfrm>
            <a:off x="5150998" y="146304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161848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42438" y="24688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Біологічний захист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260726" y="324612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використовувати природних ворогів шкідників: сонечка проти попелиць, птахів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7104705" y="320040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1" name="Shape 16"/>
          <p:cNvSpPr/>
          <p:nvPr/>
        </p:nvSpPr>
        <p:spPr>
          <a:xfrm>
            <a:off x="7452177" y="146304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22" name="Shape 17"/>
          <p:cNvSpPr/>
          <p:nvPr/>
        </p:nvSpPr>
        <p:spPr>
          <a:xfrm>
            <a:off x="7452177" y="146304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457B9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707" y="1618488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543617" y="24688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Точне дозування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7561905" y="324612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добрива і засоби захисту — лише стільки, скільки потрібно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9405884" y="320040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7" name="Shape 21"/>
          <p:cNvSpPr/>
          <p:nvPr/>
        </p:nvSpPr>
        <p:spPr>
          <a:xfrm>
            <a:off x="9753356" y="146304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28" name="Shape 22"/>
          <p:cNvSpPr/>
          <p:nvPr/>
        </p:nvSpPr>
        <p:spPr>
          <a:xfrm>
            <a:off x="9753356" y="146304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40916C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3886" y="1618488"/>
            <a:ext cx="548640" cy="5486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844796" y="24688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Органічне землеробство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9863084" y="324612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мінімум хімії, більше природних методів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1/3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«Поле пшениці — це теж природа, воно може існувати саме по собі»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«Поле пшениці — це теж природа, воно може існувати саме по собі»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 — агроценоз, штучна екосистема. Воно не здатне до саморегуляції і самовідтворення. Без людини за кілька років його захоплять бур'яни, а згодом — дикі рослини.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2/3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«Чим більше добрив і хімікатів — тим кращий урожай»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«Чим більше добрив і хімікатів — тим кращий урожай»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Надлишок добрив не засвоюється рослинами: він змивається у водойми, накопичується в продуктах (нітрати), отруює ґрунт. Пестициди знищують і корисних комах, наприклад бджіл. Важлива точна, а не максимальна доза.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3/3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«Міський парк — це теж штучна екосистема»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40916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«Міський парк — це теж штучна екосистема»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E9F5EE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Парк створила людина: дерева і квіти висадили, газони косять, доріжки прибирають. Без догляду він поступово перетвориться на хащі. Призначення парку — прикраса міста, відпочинок і чисте повітря.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 СЕБЕ · 1/1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Яка ознака НЕ характерна для агроценозу?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Мале видове різноманіття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7328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73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Здатність до саморегуляції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Потреба в постійному догляді людини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7328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7328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Переважання однієї культури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 ВІДПОВІДЬ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Яка ознака НЕ характерна для агроценозу?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10312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Б) Здатність до саморегуляції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094415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56616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так: </a:t>
            </a:r>
            <a:pPr indent="0" marL="0">
              <a:buNone/>
            </a:pPr>
            <a:r>
              <a:rPr lang="en-US" sz="20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Агроценози не здатні до саморегуляції і самовідтворення — це ознака природних екосистем. Решта варіантів — саме ознаки агроценозу.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Кейс: пилова буря в полі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760720" cy="4754880"/>
          </a:xfrm>
          <a:prstGeom prst="roundRect">
            <a:avLst>
              <a:gd name="adj" fmla="val 2885"/>
            </a:avLst>
          </a:prstGeom>
          <a:solidFill>
            <a:srgbClr val="E3EEF5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68680" y="1645920"/>
            <a:ext cx="777240" cy="77724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83245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45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Ситуація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вашому районі кілька років тому вирубали старі лісосмуги між полями — «щоб було більше землі».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Цієї весни після сухої зими сильний вітер підняв пилову бурю: з полів здуло родючий шар ґрунту разом із посівами. Урожай під загрозою.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0" y="1371600"/>
            <a:ext cx="5059375" cy="4754880"/>
          </a:xfrm>
          <a:prstGeom prst="roundRect">
            <a:avLst>
              <a:gd name="adj" fmla="val 2885"/>
            </a:avLst>
          </a:prstGeom>
          <a:solidFill>
            <a:srgbClr val="1B43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03720" y="164592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Ваше завдання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286000"/>
            <a:ext cx="441929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Поясніть, чому це сталося. Яку роль виконували лісосмуги?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Які ознаки агроценозу тут проявилися?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Запропонуйте план для фермерів і громади на 5 років.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54406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7–10 хв, групи по 3–4 особи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за сьогодні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35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14630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Екосистеми бувають природні (ліс, луг, болото) і штучні (поле, сад, парк, город).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46020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225552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 — штучна екосистема, створена людиною для вирощування рослин або випасу свійських тварин.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38500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304800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Структура: продуценти, консументи, редуценти + людина — обов'язкова ланка харчового ланцюга.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30980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34440" y="384048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Ознаки: 1–2 культури, мале різноманіття, немає саморегуляції, без людини руйнується.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23460"/>
            <a:ext cx="411480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34440" y="463296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Призначення: їжа, захист ґрунту, чисте повітря, відпочинок, вивчення рослин і тварин.</a:t>
            </a:r>
            <a:endParaRPr lang="en-US" sz="18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615940"/>
            <a:ext cx="411480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234440" y="54254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Агроценози займають величезні площі і сильно впливають на біосферу — тому ними треба керувати розумно.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РЕФЛЕКСІЯ · ПРОДОВЖІТЬ РЕЧЕННЯ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2024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Агроценоз, який я бачу найчастіше, — це…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1089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здивувало, що…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29768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 я був(-ла) фермером, я б…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Домашнє завдання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Вивчіть конспект. Знайте визначення агроценозу, його структуру та ознаки.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Підготуйте коротке повідомлення про одну з природних або штучних екосистем України: виноградники Закарпаття, озеро Синевір, екопарк Фельдмана, Карпатський ліс, Каховське водосховище, Дністер, Дніпро, Дунай тощо.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Складіть один харчовий ланцюг для агроценозу (поле, сад або город), де людина — одна з ланок.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3108960"/>
          </a:xfrm>
          <a:prstGeom prst="roundRect">
            <a:avLst>
              <a:gd name="adj" fmla="val 4412"/>
            </a:avLst>
          </a:prstGeom>
          <a:solidFill>
            <a:srgbClr val="1B433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Відповіді можна оформити письмово в зошиті або як коротку презентацію чи інфографіку (3–5 слайдів).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риродничі науки">
  <a:themeElements>
    <a:clrScheme name="Природничі науки">
      <a:dk1>
        <a:srgbClr val="1F2A24"/>
      </a:dk1>
      <a:lt1>
        <a:srgbClr val="FFFFFF"/>
      </a:lt1>
      <a:dk2>
        <a:srgbClr val="1B4332"/>
      </a:dk2>
      <a:lt2>
        <a:srgbClr val="E9F5EE"/>
      </a:lt2>
      <a:accent1>
        <a:srgbClr val="2D6A4F"/>
      </a:accent1>
      <a:accent2>
        <a:srgbClr val="95D5B2"/>
      </a:accent2>
      <a:accent3>
        <a:srgbClr val="F4A261"/>
      </a:accent3>
      <a:accent4>
        <a:srgbClr val="E76F51"/>
      </a:accent4>
      <a:accent5>
        <a:srgbClr val="457B9D"/>
      </a:accent5>
      <a:accent6>
        <a:srgbClr val="40916C"/>
      </a:accent6>
      <a:hlink>
        <a:srgbClr val="457B9D"/>
      </a:hlink>
      <a:folHlink>
        <a:srgbClr val="2D6A4F"/>
      </a:folHlink>
    </a:clrScheme>
    <a:fontScheme name="Природничі наук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Агроценози. Їх структура та вплив на біосферу</dc:title>
  <dc:subject>Природничі науки, 2 курс</dc:subject>
  <dc:creator>Баталова Т. П.</dc:creator>
  <cp:lastModifiedBy>Баталова Т. П.</cp:lastModifiedBy>
  <cp:revision>1</cp:revision>
  <dcterms:created xsi:type="dcterms:W3CDTF">2026-10-03T13:27:20Z</dcterms:created>
  <dcterms:modified xsi:type="dcterms:W3CDTF">2026-10-03T13:27:20Z</dcterms:modified>
</cp:coreProperties>
</file>