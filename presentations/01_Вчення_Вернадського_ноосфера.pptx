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56fd43c2-867b-16db-2aa2-26b69f64166d}">
          <p14:sldIdLst>
            <p14:sldId id="256"/>
            <p14:sldId id="257"/>
            <p14:sldId id="258"/>
            <p14:sldId id="259"/>
          </p14:sldIdLst>
        </p14:section>
        <p14:section name="Вернадський і ноосфера" id="{a2e1907f-4e73-c029-b1c9-51736382bf7e}">
          <p14:sldIdLst>
            <p14:sldId id="260"/>
            <p14:sldId id="261"/>
            <p14:sldId id="262"/>
            <p14:sldId id="263"/>
          </p14:sldIdLst>
        </p14:section>
        <p14:section name="Основні положення вчення" id="{e9566895-536b-d97d-c728-60c0571976f8}">
          <p14:sldIdLst>
            <p14:sldId id="264"/>
            <p14:sldId id="265"/>
            <p14:sldId id="266"/>
            <p14:sldId id="267"/>
            <p14:sldId id="268"/>
          </p14:sldIdLst>
        </p14:section>
        <p14:section name="Екологічна криза і ноосфера" id="{b49cb547-5267-1612-197c-0d1a1d152808}">
          <p14:sldIdLst>
            <p14:sldId id="269"/>
            <p14:sldId id="270"/>
            <p14:sldId id="271"/>
            <p14:sldId id="272"/>
            <p14:sldId id="273"/>
          </p14:sldIdLst>
        </p14:section>
        <p14:section name="Міфи і факти" id="{4794c305-2c13-fa17-109a-5ab910970579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Закріплення" id="{7b5c8f71-96f7-391a-385e-38c6f40ddcd4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Привітання. Тема — вчення Вернадського про біосферу і ноосферу. Головна думка лекції: людина — частина біосфери, але вже така сильна, що змінює всю планету. Тому вона мусить діяти розумно.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Розминка. Вислухайте різні думки, не оцінюйте. Добре, якщо виникне суперечка. Відповіді — на наступному слайді.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Підведіть до ключового поняття лекції: людина як геологічна сила. Саме з цього почав Вернадський.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Студенти мали підготуватися вдома. Вислухайте версії. Правильна відповідь — на слайді з визначенням.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Кілька слів про особистість. Ім'я Вернадського носять Національна бібліотека України і українська антарктична станція «Академік Вернадський». Можна запитати: чи чули ви про цю станцію?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 конспектом. Підкресліть різницю: всі організми змінюють середовище, але лише людина робить це свідомо, за допомогою науки й техніки, і в масштабі планети.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Поверніться до версій студентів з розминки. Наголос: ноосфера — це не про кількість заводів і техніки, а про розумність. Ноосфера — мета, до якої людство має прийти, а не стан, у якому ми вже живемо.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 конспектом. Слово «антропогенний»: «антропос» — людина, «генез» — походження. Тобто «спричинений людиною». Гомеостаз — здатність системи підтримувати рівновагу, як температура нашого тіла 36,6.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Положення з конспекту, пояснені простими словами. Не треба вчити напам'ять — важливо зрозуміти суть кожного. Можна попросити студентів самим придумати приклад до кожного положення.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Положення 6 — «тиск життя» — найцікавіше для студентів. Зараз перевіримо його на задачі.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Нехай вгадують. Потім підкажіть: за годину 3 поділи, за добу — 72 поділи. Кількість подвоюється щоразу: 2 у 72 степені.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Розрахунок: маса однієї кишкової палички ≈ 1 пікограм (10⁻¹² г). 4,7·10²¹ × 10⁻¹² г ≈ 4,7·10⁹ г ≈ 4 700 т. Слон важить близько 4–6 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Положення 10 — міст до теми екологічної кризи. Природа завжди знайде нову рівновагу, але в ній людині може й не знайтися місця.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 конспектом. Аналогія з акваріумом добре працює. Наголос: криза наростає поступово, тому її легко не помітити.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 конспектом. Можна запитати: які ще приклади з кожного боку ви знаєте з життя вашого міста чи села?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Дані з конспекту. Можна навести приклад України: після Чорнобильської аварії різко зріс рак щитоподібної залози, особливо в дітей, через радіоактивний йод.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Приклади показують обидва боки: руйнівну і творчу силу людини. Тема війни може бути болісною — говоріть делікатно.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Перші два пункти — прямо з конспекту. Інші — з праць Вернадського (наукова думка як планетарне явище). Для нас пункт «мир» особливо зрозумілий.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Голосування: міф чи факт. Попросіть 1–2 студентів пояснити свою думку.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Розбір.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Голосування: міф чи факт. Попросіть 1–2 студентів пояснити свою думку.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Розбір.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Голосування: міф чи факт. Попросіть 1–2 студентів пояснити свою думку.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Розбір.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Голосування пальцями 1–4.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Пов'яжіть із задачею про бактерії.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Висновок, до якого варто прийти: ноосфера — це мета і процес, а не готовий стан. Ми на шляху до неї, і кожен робить свій внесок.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Рефлексія 3–5 хв.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Домашнє завдання.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Вчення В. Вернадського. Перехід біосфери в ноосферу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NT">
    <p:bg>
      <p:bgPr>
        <a:solidFill>
          <a:srgbClr val="E9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Вчення В. Вернадського. Перехід біосфери в ноосферу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097280"/>
            <a:ext cx="5669280" cy="566928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931920"/>
            <a:ext cx="3291840" cy="3291840"/>
          </a:xfrm>
          <a:prstGeom prst="ellipse">
            <a:avLst/>
          </a:prstGeom>
          <a:solidFill>
            <a:srgbClr val="40916C">
              <a:alpha val="60000"/>
            </a:srgbClr>
          </a:solidFill>
          <a:ln w="12700">
            <a:solidFill>
              <a:srgbClr val="40916C">
                <a:alpha val="60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274320"/>
            <a:ext cx="3291840" cy="3291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ЛЕКЦІЯ 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Вчення В. Вернадського. Перехід біосфери в ноосферу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9F5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людина стала «геологічною силою» і чому від нашого розуму залежить майбутнє планети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Природничі науки · 2 курс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-circle"/>
          <p:cNvSpPr/>
          <p:nvPr/>
        </p:nvSpPr>
        <p:spPr>
          <a:xfrm>
            <a:off x="548640" y="548640"/>
            <a:ext cx="1005840" cy="100584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pic>
        <p:nvPicPr>
          <p:cNvPr id="3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790042"/>
            <a:ext cx="523037" cy="5230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4A2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РОЗМИНКА · ПОДУМАЙТЕ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110944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 може одна людина змінити планету? А все людство разом?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2120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Подумайте 1 хвилину. Скажіть свою думку: «так», «ні» чи «залежить від…» — і чому.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Людина змінює планету — і це вже факт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9F5EE"/>
          </a:solidFill>
          <a:ln/>
        </p:spPr>
      </p:sp>
      <p:sp>
        <p:nvSpPr>
          <p:cNvPr id="4" name="icon-circle"/>
          <p:cNvSpPr/>
          <p:nvPr/>
        </p:nvSpPr>
        <p:spPr>
          <a:xfrm>
            <a:off x="777240" y="2017395"/>
            <a:ext cx="502920" cy="50292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2138096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783080"/>
            <a:ext cx="990569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людина — </a:t>
            </a:r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майже непомітна. Але кожен з нас щодня «голосує» своїми звичками: що купує, що викидає, скільки витрачає.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9375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9F5EE"/>
          </a:solidFill>
          <a:ln/>
        </p:spPr>
      </p:sp>
      <p:sp>
        <p:nvSpPr>
          <p:cNvPr id="8" name="icon-circle"/>
          <p:cNvSpPr/>
          <p:nvPr/>
        </p:nvSpPr>
        <p:spPr>
          <a:xfrm>
            <a:off x="777240" y="3171825"/>
            <a:ext cx="502920" cy="50292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pic>
        <p:nvPicPr>
          <p:cNvPr id="9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3292526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2937510"/>
            <a:ext cx="990569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Людство разом — </a:t>
            </a:r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переміщує більше ґрунту і гірських порід, ніж усі річки світу (кар'єри, будівництво, оранка).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40919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9F5EE"/>
          </a:solidFill>
          <a:ln/>
        </p:spPr>
      </p:sp>
      <p:sp>
        <p:nvSpPr>
          <p:cNvPr id="12" name="icon-circle"/>
          <p:cNvSpPr/>
          <p:nvPr/>
        </p:nvSpPr>
        <p:spPr>
          <a:xfrm>
            <a:off x="777240" y="4326255"/>
            <a:ext cx="502920" cy="50292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4446956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508760" y="4091940"/>
            <a:ext cx="990569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Людство разом — </a:t>
            </a:r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змінило склад атмосфери: вуглекислого газу в повітрі зараз більше, ніж будь-коли за сотні тисяч років.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548640" y="52463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9F5EE"/>
          </a:solidFill>
          <a:ln/>
        </p:spPr>
      </p:sp>
      <p:sp>
        <p:nvSpPr>
          <p:cNvPr id="16" name="icon-circle"/>
          <p:cNvSpPr/>
          <p:nvPr/>
        </p:nvSpPr>
        <p:spPr>
          <a:xfrm>
            <a:off x="777240" y="5480685"/>
            <a:ext cx="502920" cy="50292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5601386"/>
            <a:ext cx="261518" cy="26151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08760" y="5246370"/>
            <a:ext cx="990569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Висновок: </a:t>
            </a:r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Вернадський ще 100 років тому сказав: людина стала геологічною силою. Питання лише — розумною чи руйнівною.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-circle"/>
          <p:cNvSpPr/>
          <p:nvPr/>
        </p:nvSpPr>
        <p:spPr>
          <a:xfrm>
            <a:off x="548640" y="548640"/>
            <a:ext cx="1005840" cy="100584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pic>
        <p:nvPicPr>
          <p:cNvPr id="3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790042"/>
            <a:ext cx="523037" cy="5230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4A2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РОЗБЕРІТЬ СЛОВО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110944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«Ноосфера». Як ви думаєте, що означає це слово? Підказка: «сфера» — оболонка, а «ноос»…?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2120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Згадайте схожі слова: біосфера, атмосфера, гідросфера. Висловіть свої версії.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Хто такий Володимир Вернадський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32588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E9F5EE"/>
          </a:solidFill>
          <a:ln/>
        </p:spPr>
      </p:sp>
      <p:sp>
        <p:nvSpPr>
          <p:cNvPr id="4" name="icon-circle"/>
          <p:cNvSpPr/>
          <p:nvPr/>
        </p:nvSpPr>
        <p:spPr>
          <a:xfrm>
            <a:off x="822960" y="1600200"/>
            <a:ext cx="685800" cy="68580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00200"/>
            <a:ext cx="4084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1863–1945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Видатний природознавець, мінералог, геохімік, філософ. Мав українське коріння, жив і працював у Києві, Полтаві, Москві.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33008" y="132588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E9F5EE"/>
          </a:solidFill>
          <a:ln/>
        </p:spPr>
      </p:sp>
      <p:sp>
        <p:nvSpPr>
          <p:cNvPr id="9" name="icon-circle"/>
          <p:cNvSpPr/>
          <p:nvPr/>
        </p:nvSpPr>
        <p:spPr>
          <a:xfrm>
            <a:off x="6507328" y="1600200"/>
            <a:ext cx="685800" cy="685800"/>
          </a:xfrm>
          <a:prstGeom prst="ellipse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192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76008" y="1600200"/>
            <a:ext cx="4084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Перший президент УАН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1918 р. став першим президентом Української академії наук. Сьогодні це НАН України.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548640" y="388620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E9F5EE"/>
          </a:solidFill>
          <a:ln/>
        </p:spPr>
      </p:sp>
      <p:sp>
        <p:nvSpPr>
          <p:cNvPr id="14" name="icon-circle"/>
          <p:cNvSpPr/>
          <p:nvPr/>
        </p:nvSpPr>
        <p:spPr>
          <a:xfrm>
            <a:off x="822960" y="4160520"/>
            <a:ext cx="685800" cy="6858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2511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91640" y="4160520"/>
            <a:ext cx="4084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Книга «Біосфера» (1926)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8348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Створив цілісне вчення про біосферу і про те, як живе змінює неживу природу.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233008" y="388620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E9F5EE"/>
          </a:solidFill>
          <a:ln/>
        </p:spPr>
      </p:sp>
      <p:sp>
        <p:nvSpPr>
          <p:cNvPr id="19" name="icon-circle"/>
          <p:cNvSpPr/>
          <p:nvPr/>
        </p:nvSpPr>
        <p:spPr>
          <a:xfrm>
            <a:off x="6507328" y="4160520"/>
            <a:ext cx="685800" cy="6858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1920" y="432511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76008" y="4160520"/>
            <a:ext cx="4084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Вчення про ноосферу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8348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Першим показав, що людина — нова геологічна сила, і розвинув ідею ноосфери.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Людина — частина біосфери і нова сила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9494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Людина розвивалася в тісному зв'язку з навколишнім середовищем. Відділити її від біосфери неможливо.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 людина внесла в біосферу нове: розум, працю, науку.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Завдяки цьому людина стала геологічною силою, яка активно перетворює біосферу.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Ноосфера — новий стан біосфери, коли взаємовідносини людини і природи розумно регулюються.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863840" y="1371600"/>
            <a:ext cx="3779215" cy="4754880"/>
          </a:xfrm>
          <a:prstGeom prst="roundRect">
            <a:avLst>
              <a:gd name="adj" fmla="val 3629"/>
            </a:avLst>
          </a:prstGeom>
          <a:solidFill>
            <a:srgbClr val="1B4332"/>
          </a:solidFill>
          <a:ln/>
        </p:spPr>
      </p:sp>
      <p:sp>
        <p:nvSpPr>
          <p:cNvPr id="5" name="icon-circle"/>
          <p:cNvSpPr/>
          <p:nvPr/>
        </p:nvSpPr>
        <p:spPr>
          <a:xfrm>
            <a:off x="8183880" y="1645920"/>
            <a:ext cx="777240" cy="777240"/>
          </a:xfrm>
          <a:prstGeom prst="ellipse">
            <a:avLst/>
          </a:prstGeom>
          <a:solidFill>
            <a:srgbClr val="95D5B2"/>
          </a:solidFill>
          <a:ln w="12700">
            <a:solidFill>
              <a:srgbClr val="95D5B2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0418" y="1832458"/>
            <a:ext cx="404165" cy="4041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0" y="1645920"/>
            <a:ext cx="23161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Приклад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2651760"/>
            <a:ext cx="313913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Бобри будують греблі і змінюють річку — це вплив одного виду на природу.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Людина будує ГЕС, осушує болота, створює моря-водосховища, змінює клімат. Це вже вплив у масштабі всієї планети.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Ноосфера: що означає це слово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583680" cy="4663440"/>
          </a:xfrm>
          <a:prstGeom prst="roundRect">
            <a:avLst>
              <a:gd name="adj" fmla="val 2941"/>
            </a:avLst>
          </a:prstGeom>
          <a:solidFill>
            <a:srgbClr val="1B4332"/>
          </a:solidFill>
          <a:ln/>
        </p:spPr>
      </p:sp>
      <p:sp>
        <p:nvSpPr>
          <p:cNvPr id="4" name="icon-circle"/>
          <p:cNvSpPr/>
          <p:nvPr/>
        </p:nvSpPr>
        <p:spPr>
          <a:xfrm>
            <a:off x="914400" y="1691640"/>
            <a:ext cx="822960" cy="822960"/>
          </a:xfrm>
          <a:prstGeom prst="ellipse">
            <a:avLst/>
          </a:prstGeom>
          <a:solidFill>
            <a:srgbClr val="95D5B2"/>
          </a:solidFill>
          <a:ln w="12700">
            <a:solidFill>
              <a:srgbClr val="95D5B2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" y="188915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91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Ноосфера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5852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грецьких слів «ноос» — розум і «сфера» — оболонка. «Сфера розуму».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Новий стан біосфери, у якому розумна діяльність людини стає головним чинником розвитку і взаємовідносини людини та природи регулюються розумно.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406640" y="1371600"/>
            <a:ext cx="4233672" cy="4663440"/>
          </a:xfrm>
          <a:prstGeom prst="roundRect">
            <a:avLst>
              <a:gd name="adj" fmla="val 3240"/>
            </a:avLst>
          </a:prstGeom>
          <a:solidFill>
            <a:srgbClr val="FDF1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80960" y="1645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Звідки термін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2194560"/>
            <a:ext cx="3749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Термін уперше запропонували у 1927 р. французькі філософи Едуард Леруа і П'єр Тейяр де Шарден.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Науковий зміст ідеї розробив В. І. Вернадський.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Ноосфера — не «підкорена природа», а природа, з якою людина живе в згоді, бо розуміє її закони.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змінювався вплив людини на біосферу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64328" cy="3749040"/>
          </a:xfrm>
          <a:prstGeom prst="roundRect">
            <a:avLst>
              <a:gd name="adj" fmla="val 2927"/>
            </a:avLst>
          </a:prstGeom>
          <a:solidFill>
            <a:srgbClr val="E9F5EE"/>
          </a:solidFill>
          <a:ln/>
        </p:spPr>
      </p:sp>
      <p:sp>
        <p:nvSpPr>
          <p:cNvPr id="4" name="icon-circle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77576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92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Спочатку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60320"/>
            <a:ext cx="47242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Людина брала з природи лише необхідне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Взяті ресурси відновлювалися природним шляхом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Відходи входили в загальний колообіг речовин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Рівновага біосфери (гомеостаз) не порушувалася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278728" y="1371600"/>
            <a:ext cx="5364328" cy="3749040"/>
          </a:xfrm>
          <a:prstGeom prst="roundRect">
            <a:avLst>
              <a:gd name="adj" fmla="val 2927"/>
            </a:avLst>
          </a:prstGeom>
          <a:solidFill>
            <a:srgbClr val="FCE9E3"/>
          </a:solidFill>
          <a:ln/>
        </p:spPr>
      </p:sp>
      <p:sp>
        <p:nvSpPr>
          <p:cNvPr id="9" name="icon-circle"/>
          <p:cNvSpPr/>
          <p:nvPr/>
        </p:nvSpPr>
        <p:spPr>
          <a:xfrm>
            <a:off x="6553048" y="1600200"/>
            <a:ext cx="731520" cy="73152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8612" y="177576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92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Сьогодні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60320"/>
            <a:ext cx="47242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Найбільші перетворення в біосфері здійснює саме людина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Діяльність людини змінює клімат, рельєф, склад атмосфери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Змінюється видовий і кількісний склад рослин і тварин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Атомна енергетика і випробування зброї накопичили радіоактивні речовини в повітрі, ґрунті і воді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22960" y="53492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Антропогенний чинник — вплив людини та її трудової діяльності. Сьогодні це найважливіший чинник змін біосфери.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Основні положення вчення про біосферу (1–4)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32588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E9F5EE"/>
          </a:solidFill>
          <a:ln/>
        </p:spPr>
      </p:sp>
      <p:sp>
        <p:nvSpPr>
          <p:cNvPr id="4" name="icon-circle"/>
          <p:cNvSpPr/>
          <p:nvPr/>
        </p:nvSpPr>
        <p:spPr>
          <a:xfrm>
            <a:off x="822960" y="1600200"/>
            <a:ext cx="685800" cy="68580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00200"/>
            <a:ext cx="4084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Біосфера — цілісна система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Усі процеси в ній узгоджені між собою. Простими словами: усе пов'язано з усім.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33008" y="132588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E9F5EE"/>
          </a:solidFill>
          <a:ln/>
        </p:spPr>
      </p:sp>
      <p:sp>
        <p:nvSpPr>
          <p:cNvPr id="9" name="icon-circle"/>
          <p:cNvSpPr/>
          <p:nvPr/>
        </p:nvSpPr>
        <p:spPr>
          <a:xfrm>
            <a:off x="6507328" y="1600200"/>
            <a:ext cx="685800" cy="6858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192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76008" y="1600200"/>
            <a:ext cx="4084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Сонце — головне джерело енергії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Закони руху атомів на Землі — відображення гармонії космосу. Сонце регулює життєві процеси.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548640" y="388620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E9F5EE"/>
          </a:solidFill>
          <a:ln/>
        </p:spPr>
      </p:sp>
      <p:sp>
        <p:nvSpPr>
          <p:cNvPr id="14" name="icon-circle"/>
          <p:cNvSpPr/>
          <p:nvPr/>
        </p:nvSpPr>
        <p:spPr>
          <a:xfrm>
            <a:off x="822960" y="4160520"/>
            <a:ext cx="685800" cy="68580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2511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91640" y="4160520"/>
            <a:ext cx="4084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Жива речовина перетворює енергію Сонця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8348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Рослини запасають сонячну енергію в органічних речовинах. Хліб, дерево, вугілля — це «законсервоване» сонце.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233008" y="388620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E9F5EE"/>
          </a:solidFill>
          <a:ln/>
        </p:spPr>
      </p:sp>
      <p:sp>
        <p:nvSpPr>
          <p:cNvPr id="19" name="icon-circle"/>
          <p:cNvSpPr/>
          <p:nvPr/>
        </p:nvSpPr>
        <p:spPr>
          <a:xfrm>
            <a:off x="6507328" y="4160520"/>
            <a:ext cx="685800" cy="685800"/>
          </a:xfrm>
          <a:prstGeom prst="ellipse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1920" y="432511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76008" y="4160520"/>
            <a:ext cx="4084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Чим дрібніший організм, тим швидше розмножується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8348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Бактерії діляться кожні 20–30 хвилин, слони народжують раз на кілька років.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Основні положення вчення про біосферу (5–7)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325880"/>
            <a:ext cx="3515258" cy="484632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4" name="icon-circle"/>
          <p:cNvSpPr/>
          <p:nvPr/>
        </p:nvSpPr>
        <p:spPr>
          <a:xfrm>
            <a:off x="822960" y="1600200"/>
            <a:ext cx="868680" cy="86868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443" y="1808683"/>
            <a:ext cx="451714" cy="45171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Автотрофи і гетеротрофи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296661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Автотрофи (рослини) беруть речовини з неживої природи. Гетеротрофам (тваринам, людині) потрібна готова органіка. Рослини живуть лише там, куди доходить світло.</a:t>
            </a:r>
            <a:endParaRPr lang="en-US" sz="1600" dirty="0"/>
          </a:p>
        </p:txBody>
      </p:sp>
      <p:sp>
        <p:nvSpPr>
          <p:cNvPr id="8" name="card"/>
          <p:cNvSpPr/>
          <p:nvPr/>
        </p:nvSpPr>
        <p:spPr>
          <a:xfrm>
            <a:off x="4338218" y="1325880"/>
            <a:ext cx="3515258" cy="484632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9" name="icon-circle"/>
          <p:cNvSpPr/>
          <p:nvPr/>
        </p:nvSpPr>
        <p:spPr>
          <a:xfrm>
            <a:off x="4612538" y="1600200"/>
            <a:ext cx="868680" cy="86868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1022" y="1808683"/>
            <a:ext cx="451714" cy="45171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2538" y="26974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«Тиск життя»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66160"/>
            <a:ext cx="296661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Живе прагне заповнити весь можливий простір. Приклад: трава пробивається крізь асфальт, мох росте на даху.</a:t>
            </a:r>
            <a:endParaRPr lang="en-US" sz="1600" dirty="0"/>
          </a:p>
        </p:txBody>
      </p:sp>
      <p:sp>
        <p:nvSpPr>
          <p:cNvPr id="13" name="card"/>
          <p:cNvSpPr/>
          <p:nvPr/>
        </p:nvSpPr>
        <p:spPr>
          <a:xfrm>
            <a:off x="8127797" y="1325880"/>
            <a:ext cx="3515258" cy="484632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14" name="icon-circle"/>
          <p:cNvSpPr/>
          <p:nvPr/>
        </p:nvSpPr>
        <p:spPr>
          <a:xfrm>
            <a:off x="8402117" y="1600200"/>
            <a:ext cx="868680" cy="868680"/>
          </a:xfrm>
          <a:prstGeom prst="ellipse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808683"/>
            <a:ext cx="451714" cy="45171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02117" y="26974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Колообіг атомів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66160"/>
            <a:ext cx="296661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Хімічні елементи постійно переходять між гірськими породами, мінералами, водою і живими організмами.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-circle"/>
          <p:cNvSpPr/>
          <p:nvPr/>
        </p:nvSpPr>
        <p:spPr>
          <a:xfrm>
            <a:off x="548640" y="548640"/>
            <a:ext cx="1005840" cy="100584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pic>
        <p:nvPicPr>
          <p:cNvPr id="3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790042"/>
            <a:ext cx="523037" cy="5230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4A2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НА «ТИСК ЖИТТЯ»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110944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Бактерія ділиться кожні 20 хвилин. Якщо їй ніщо не заважає, скільки бактерій буде з однієї через добу?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2120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Спершу вгадайте: тисяча? мільйон? мільярд? Потім спробуйте порахувати: скільки поділів за добу?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Відповідь: «тиск життя» в цифрах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3108960"/>
          </a:xfrm>
          <a:prstGeom prst="roundRect">
            <a:avLst>
              <a:gd name="adj" fmla="val 3529"/>
            </a:avLst>
          </a:prstGeom>
          <a:solidFill>
            <a:srgbClr val="E9F5E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645920"/>
            <a:ext cx="31494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880360"/>
            <a:ext cx="305805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поділи за добу (по 3 на годину)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38218" y="1463040"/>
            <a:ext cx="3515258" cy="3108960"/>
          </a:xfrm>
          <a:prstGeom prst="roundRect">
            <a:avLst>
              <a:gd name="adj" fmla="val 3529"/>
            </a:avLst>
          </a:prstGeom>
          <a:solidFill>
            <a:srgbClr val="E9F5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21098" y="1645920"/>
            <a:ext cx="31494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4,7·10²¹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566818" y="2880360"/>
            <a:ext cx="305805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бактерій — 2 у 72 степені. Це трильйони мільярдів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27797" y="1463040"/>
            <a:ext cx="3515258" cy="3108960"/>
          </a:xfrm>
          <a:prstGeom prst="roundRect">
            <a:avLst>
              <a:gd name="adj" fmla="val 3529"/>
            </a:avLst>
          </a:prstGeom>
          <a:solidFill>
            <a:srgbClr val="E9F5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10677" y="1645920"/>
            <a:ext cx="31494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4 700 т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8356397" y="2880360"/>
            <a:ext cx="305805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важили б ці бактерії — як близько 1 000 слонів!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84632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FDF1E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84632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природі цього не стається, бо закінчується їжа і простір, бактерій їдять інші організми. Але сама сила прагнення життя до розмноження величезна — Вернадський назвав це «тиском життя».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Основні положення вчення про біосферу (8–10)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325880"/>
            <a:ext cx="3515258" cy="484632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4" name="icon-circle"/>
          <p:cNvSpPr/>
          <p:nvPr/>
        </p:nvSpPr>
        <p:spPr>
          <a:xfrm>
            <a:off x="822960" y="1600200"/>
            <a:ext cx="868680" cy="86868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443" y="1808683"/>
            <a:ext cx="451714" cy="45171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Межі поширення життя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296661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Життя поширене там, де можуть існувати зелені рослини і де організми здатні вижити. Межі визначає стійкість живої речовини до умов середовища.</a:t>
            </a:r>
            <a:endParaRPr lang="en-US" sz="1600" dirty="0"/>
          </a:p>
        </p:txBody>
      </p:sp>
      <p:sp>
        <p:nvSpPr>
          <p:cNvPr id="8" name="card"/>
          <p:cNvSpPr/>
          <p:nvPr/>
        </p:nvSpPr>
        <p:spPr>
          <a:xfrm>
            <a:off x="4338218" y="1325880"/>
            <a:ext cx="3515258" cy="484632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9" name="icon-circle"/>
          <p:cNvSpPr/>
          <p:nvPr/>
        </p:nvSpPr>
        <p:spPr>
          <a:xfrm>
            <a:off x="4612538" y="1600200"/>
            <a:ext cx="868680" cy="86868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1022" y="1808683"/>
            <a:ext cx="451714" cy="45171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2538" y="26974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Кількість живої речовини стала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66160"/>
            <a:ext cx="296661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Маса живого в біосфері відповідає кількості газів в атмосфері, насамперед кисню. Менше рослин — менше кисню.</a:t>
            </a:r>
            <a:endParaRPr lang="en-US" sz="1600" dirty="0"/>
          </a:p>
        </p:txBody>
      </p:sp>
      <p:sp>
        <p:nvSpPr>
          <p:cNvPr id="13" name="card"/>
          <p:cNvSpPr/>
          <p:nvPr/>
        </p:nvSpPr>
        <p:spPr>
          <a:xfrm>
            <a:off x="8127797" y="1325880"/>
            <a:ext cx="3515258" cy="484632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14" name="icon-circle"/>
          <p:cNvSpPr/>
          <p:nvPr/>
        </p:nvSpPr>
        <p:spPr>
          <a:xfrm>
            <a:off x="8402117" y="1600200"/>
            <a:ext cx="868680" cy="868680"/>
          </a:xfrm>
          <a:prstGeom prst="ellipse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808683"/>
            <a:ext cx="451714" cy="45171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02117" y="26974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Прагнення до рівноваги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66160"/>
            <a:ext cx="296661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Будь-яка система прагне до стійкої рівноваги. Якщо її порушити, вона шукатиме нову — і не обов'язково зручну для людини.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загрожує людству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583680" cy="4663440"/>
          </a:xfrm>
          <a:prstGeom prst="roundRect">
            <a:avLst>
              <a:gd name="adj" fmla="val 2941"/>
            </a:avLst>
          </a:prstGeom>
          <a:solidFill>
            <a:srgbClr val="1B4332"/>
          </a:solidFill>
          <a:ln/>
        </p:spPr>
      </p:sp>
      <p:sp>
        <p:nvSpPr>
          <p:cNvPr id="4" name="icon-circle"/>
          <p:cNvSpPr/>
          <p:nvPr/>
        </p:nvSpPr>
        <p:spPr>
          <a:xfrm>
            <a:off x="914400" y="1691640"/>
            <a:ext cx="822960" cy="822960"/>
          </a:xfrm>
          <a:prstGeom prst="ellipse">
            <a:avLst/>
          </a:prstGeom>
          <a:solidFill>
            <a:srgbClr val="95D5B2"/>
          </a:solidFill>
          <a:ln w="12700">
            <a:solidFill>
              <a:srgbClr val="95D5B2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" y="188915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91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Екологічна криза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5852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Такий стан навколишнього середовища, коли через зміни, які в ньому відбулися, воно може стати непридатним для життя.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406640" y="1371600"/>
            <a:ext cx="4233672" cy="4663440"/>
          </a:xfrm>
          <a:prstGeom prst="roundRect">
            <a:avLst>
              <a:gd name="adj" fmla="val 3240"/>
            </a:avLst>
          </a:prstGeom>
          <a:solidFill>
            <a:srgbClr val="FDF1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80960" y="1645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Простий образ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2194560"/>
            <a:ext cx="3749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Уявіть акваріум. Якщо не міняти воду і перегодовувати рибок, вода поступово псується. Спочатку рибкам «просто незручно». Потім вони хворіють. А потім акваріум стає непридатним для життя.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Земля — це великий акваріум, і замінити його нема чим.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Діяльність людини: два боки медалі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64328" cy="4754880"/>
          </a:xfrm>
          <a:prstGeom prst="roundRect">
            <a:avLst>
              <a:gd name="adj" fmla="val 2308"/>
            </a:avLst>
          </a:prstGeom>
          <a:solidFill>
            <a:srgbClr val="E9F5EE"/>
          </a:solidFill>
          <a:ln/>
        </p:spPr>
      </p:sp>
      <p:sp>
        <p:nvSpPr>
          <p:cNvPr id="4" name="icon-circle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77576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92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Позитивні зміни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6032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Нові високопродуктивні сорти рослин і породи тварин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Нові штами мікроорганізмів (ліки, харчові продукти)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Штучне розведення риби в морях і океані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Створення культурних біогеоценозів (сади, парки, поля)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278728" y="1371600"/>
            <a:ext cx="5364328" cy="4754880"/>
          </a:xfrm>
          <a:prstGeom prst="roundRect">
            <a:avLst>
              <a:gd name="adj" fmla="val 2308"/>
            </a:avLst>
          </a:prstGeom>
          <a:solidFill>
            <a:srgbClr val="FCE9E3"/>
          </a:solidFill>
          <a:ln/>
        </p:spPr>
      </p:sp>
      <p:sp>
        <p:nvSpPr>
          <p:cNvPr id="9" name="icon-circle"/>
          <p:cNvSpPr/>
          <p:nvPr/>
        </p:nvSpPr>
        <p:spPr>
          <a:xfrm>
            <a:off x="6553048" y="1600200"/>
            <a:ext cx="731520" cy="73152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8612" y="177576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92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Негативні зміни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6032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Нерегульована вирубка лісів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Масове збирання дикорослих рослин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Забруднення води, повітря і ґрунту відходами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Неправильний обробіток землі → ерозія ґрунтів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Екологія і здоров'я людини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3108960"/>
          </a:xfrm>
          <a:prstGeom prst="roundRect">
            <a:avLst>
              <a:gd name="adj" fmla="val 3529"/>
            </a:avLst>
          </a:prstGeom>
          <a:solidFill>
            <a:srgbClr val="E9F5E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645920"/>
            <a:ext cx="31494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+1,8 %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880360"/>
            <a:ext cx="305805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щорічне зростання рівня злоякісних новоутворень (онкозахворювань)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38218" y="1463040"/>
            <a:ext cx="3515258" cy="3108960"/>
          </a:xfrm>
          <a:prstGeom prst="roundRect">
            <a:avLst>
              <a:gd name="adj" fmla="val 3529"/>
            </a:avLst>
          </a:prstGeom>
          <a:solidFill>
            <a:srgbClr val="E9F5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21098" y="1645920"/>
            <a:ext cx="31494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Частіше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566818" y="2880360"/>
            <a:ext cx="305805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трапляються рак щитоподібної залози, органів дихання, кровотворної системи та ін.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27797" y="1463040"/>
            <a:ext cx="3515258" cy="3108960"/>
          </a:xfrm>
          <a:prstGeom prst="roundRect">
            <a:avLst>
              <a:gd name="adj" fmla="val 3529"/>
            </a:avLst>
          </a:prstGeom>
          <a:solidFill>
            <a:srgbClr val="E9F5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10677" y="1645920"/>
            <a:ext cx="31494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Діти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8356397" y="2880360"/>
            <a:ext cx="305805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найбільш вразливі: слабший імунітет, гірший фізичний розвиток, більше генетичних порушень і вроджених вад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84632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FDF1E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84632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Несприятливі екологічні умови — пряма загроза здоров'ю. Тому екологія — це не «про природу десь там», а про кожного з нас.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Приклади з України: людина як «геологічна сила»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325880"/>
            <a:ext cx="3515258" cy="484632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4" name="icon-circle"/>
          <p:cNvSpPr/>
          <p:nvPr/>
        </p:nvSpPr>
        <p:spPr>
          <a:xfrm>
            <a:off x="822960" y="1600200"/>
            <a:ext cx="868680" cy="86868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443" y="1808683"/>
            <a:ext cx="451714" cy="45171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Чорнобиль, 1986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296661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Найбільша аварія в історії атомної енергетики. Радіоактивне забруднення великих територій, зона відчуження. Саме про такі наслідки писав Вернадський.</a:t>
            </a:r>
            <a:endParaRPr lang="en-US" sz="1600" dirty="0"/>
          </a:p>
        </p:txBody>
      </p:sp>
      <p:sp>
        <p:nvSpPr>
          <p:cNvPr id="8" name="card"/>
          <p:cNvSpPr/>
          <p:nvPr/>
        </p:nvSpPr>
        <p:spPr>
          <a:xfrm>
            <a:off x="4338218" y="1325880"/>
            <a:ext cx="3515258" cy="484632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9" name="icon-circle"/>
          <p:cNvSpPr/>
          <p:nvPr/>
        </p:nvSpPr>
        <p:spPr>
          <a:xfrm>
            <a:off x="4612538" y="1600200"/>
            <a:ext cx="868680" cy="868680"/>
          </a:xfrm>
          <a:prstGeom prst="ellipse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1022" y="1808683"/>
            <a:ext cx="451714" cy="45171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2538" y="26974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Каховська ГЕС, 2023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66160"/>
            <a:ext cx="296661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Підрив греблі російськими військами: затоплення територій, загибель тварин, зникнення водосховища. Приклад екоциду.</a:t>
            </a:r>
            <a:endParaRPr lang="en-US" sz="1600" dirty="0"/>
          </a:p>
        </p:txBody>
      </p:sp>
      <p:sp>
        <p:nvSpPr>
          <p:cNvPr id="13" name="card"/>
          <p:cNvSpPr/>
          <p:nvPr/>
        </p:nvSpPr>
        <p:spPr>
          <a:xfrm>
            <a:off x="8127797" y="1325880"/>
            <a:ext cx="3515258" cy="484632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14" name="icon-circle"/>
          <p:cNvSpPr/>
          <p:nvPr/>
        </p:nvSpPr>
        <p:spPr>
          <a:xfrm>
            <a:off x="8402117" y="1600200"/>
            <a:ext cx="868680" cy="86868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808683"/>
            <a:ext cx="451714" cy="45171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02117" y="26974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Асканія-Нова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66160"/>
            <a:ext cx="296661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Позитивний приклад: заповідник, де зберегли незайманий степ ще з XIX ст. Розумна діяльність людини — крок до ноосфери.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Умови переходу біосфери в ноосферу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Вернадський мав на увазі планове, науково обґрунтоване використання природи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889699" cy="3840480"/>
          </a:xfrm>
          <a:prstGeom prst="roundRect">
            <a:avLst>
              <a:gd name="adj" fmla="val 5807"/>
            </a:avLst>
          </a:prstGeom>
          <a:solidFill>
            <a:srgbClr val="E9F5EE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1889699" cy="868680"/>
          </a:xfrm>
          <a:prstGeom prst="roundRect">
            <a:avLst>
              <a:gd name="adj" fmla="val 12632"/>
            </a:avLst>
          </a:prstGeom>
          <a:solidFill>
            <a:srgbClr val="1B433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170" y="2167128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017520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Наука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3794760"/>
            <a:ext cx="167024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рішення про використання природи ухвалюються на основі знань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502347" y="3749040"/>
            <a:ext cx="283464" cy="365760"/>
          </a:xfrm>
          <a:prstGeom prst="rightArrow">
            <a:avLst/>
          </a:prstGeom>
          <a:solidFill>
            <a:srgbClr val="F4A261"/>
          </a:solidFill>
          <a:ln/>
        </p:spPr>
      </p:sp>
      <p:sp>
        <p:nvSpPr>
          <p:cNvPr id="10" name="Shape 7"/>
          <p:cNvSpPr/>
          <p:nvPr/>
        </p:nvSpPr>
        <p:spPr>
          <a:xfrm>
            <a:off x="2849819" y="2011680"/>
            <a:ext cx="1889699" cy="3840480"/>
          </a:xfrm>
          <a:prstGeom prst="roundRect">
            <a:avLst>
              <a:gd name="adj" fmla="val 5807"/>
            </a:avLst>
          </a:prstGeom>
          <a:solidFill>
            <a:srgbClr val="E9F5EE"/>
          </a:solidFill>
          <a:ln/>
        </p:spPr>
      </p:sp>
      <p:sp>
        <p:nvSpPr>
          <p:cNvPr id="11" name="Shape 8"/>
          <p:cNvSpPr/>
          <p:nvPr/>
        </p:nvSpPr>
        <p:spPr>
          <a:xfrm>
            <a:off x="2849819" y="2011680"/>
            <a:ext cx="1889699" cy="868680"/>
          </a:xfrm>
          <a:prstGeom prst="roundRect">
            <a:avLst>
              <a:gd name="adj" fmla="val 12632"/>
            </a:avLst>
          </a:prstGeom>
          <a:solidFill>
            <a:srgbClr val="2D6A4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349" y="2167128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41259" y="3017520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Відновлення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2959547" y="3794760"/>
            <a:ext cx="167024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людина повертає в колообіг те, що руйнує: садить ліс, очищує воду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803526" y="3749040"/>
            <a:ext cx="283464" cy="365760"/>
          </a:xfrm>
          <a:prstGeom prst="rightArrow">
            <a:avLst/>
          </a:prstGeom>
          <a:solidFill>
            <a:srgbClr val="F4A261"/>
          </a:solidFill>
          <a:ln/>
        </p:spPr>
      </p:sp>
      <p:sp>
        <p:nvSpPr>
          <p:cNvPr id="16" name="Shape 12"/>
          <p:cNvSpPr/>
          <p:nvPr/>
        </p:nvSpPr>
        <p:spPr>
          <a:xfrm>
            <a:off x="5150998" y="2011680"/>
            <a:ext cx="1889699" cy="3840480"/>
          </a:xfrm>
          <a:prstGeom prst="roundRect">
            <a:avLst>
              <a:gd name="adj" fmla="val 5807"/>
            </a:avLst>
          </a:prstGeom>
          <a:solidFill>
            <a:srgbClr val="E9F5EE"/>
          </a:solidFill>
          <a:ln/>
        </p:spPr>
      </p:sp>
      <p:sp>
        <p:nvSpPr>
          <p:cNvPr id="17" name="Shape 13"/>
          <p:cNvSpPr/>
          <p:nvPr/>
        </p:nvSpPr>
        <p:spPr>
          <a:xfrm>
            <a:off x="5150998" y="2011680"/>
            <a:ext cx="1889699" cy="868680"/>
          </a:xfrm>
          <a:prstGeom prst="roundRect">
            <a:avLst>
              <a:gd name="adj" fmla="val 12632"/>
            </a:avLst>
          </a:prstGeom>
          <a:solidFill>
            <a:srgbClr val="F4A26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1528" y="2167128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42438" y="3017520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Нова енергетика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260726" y="3794760"/>
            <a:ext cx="167024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перехід до чистих джерел енергії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7104705" y="3749040"/>
            <a:ext cx="283464" cy="365760"/>
          </a:xfrm>
          <a:prstGeom prst="rightArrow">
            <a:avLst/>
          </a:prstGeom>
          <a:solidFill>
            <a:srgbClr val="F4A261"/>
          </a:solidFill>
          <a:ln/>
        </p:spPr>
      </p:sp>
      <p:sp>
        <p:nvSpPr>
          <p:cNvPr id="22" name="Shape 17"/>
          <p:cNvSpPr/>
          <p:nvPr/>
        </p:nvSpPr>
        <p:spPr>
          <a:xfrm>
            <a:off x="7452177" y="2011680"/>
            <a:ext cx="1889699" cy="3840480"/>
          </a:xfrm>
          <a:prstGeom prst="roundRect">
            <a:avLst>
              <a:gd name="adj" fmla="val 5807"/>
            </a:avLst>
          </a:prstGeom>
          <a:solidFill>
            <a:srgbClr val="E9F5EE"/>
          </a:solidFill>
          <a:ln/>
        </p:spPr>
      </p:sp>
      <p:sp>
        <p:nvSpPr>
          <p:cNvPr id="23" name="Shape 18"/>
          <p:cNvSpPr/>
          <p:nvPr/>
        </p:nvSpPr>
        <p:spPr>
          <a:xfrm>
            <a:off x="7452177" y="2011680"/>
            <a:ext cx="1889699" cy="868680"/>
          </a:xfrm>
          <a:prstGeom prst="roundRect">
            <a:avLst>
              <a:gd name="adj" fmla="val 12632"/>
            </a:avLst>
          </a:prstGeom>
          <a:solidFill>
            <a:srgbClr val="457B9D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2707" y="2167128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543617" y="3017520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Освіта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561905" y="3794760"/>
            <a:ext cx="167024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кожна людина розуміє, як її дії впливають на природу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9405884" y="3749040"/>
            <a:ext cx="283464" cy="365760"/>
          </a:xfrm>
          <a:prstGeom prst="rightArrow">
            <a:avLst/>
          </a:prstGeom>
          <a:solidFill>
            <a:srgbClr val="F4A261"/>
          </a:solidFill>
          <a:ln/>
        </p:spPr>
      </p:sp>
      <p:sp>
        <p:nvSpPr>
          <p:cNvPr id="28" name="Shape 22"/>
          <p:cNvSpPr/>
          <p:nvPr/>
        </p:nvSpPr>
        <p:spPr>
          <a:xfrm>
            <a:off x="9753356" y="2011680"/>
            <a:ext cx="1889699" cy="3840480"/>
          </a:xfrm>
          <a:prstGeom prst="roundRect">
            <a:avLst>
              <a:gd name="adj" fmla="val 5807"/>
            </a:avLst>
          </a:prstGeom>
          <a:solidFill>
            <a:srgbClr val="E9F5EE"/>
          </a:solidFill>
          <a:ln/>
        </p:spPr>
      </p:sp>
      <p:sp>
        <p:nvSpPr>
          <p:cNvPr id="29" name="Shape 23"/>
          <p:cNvSpPr/>
          <p:nvPr/>
        </p:nvSpPr>
        <p:spPr>
          <a:xfrm>
            <a:off x="9753356" y="2011680"/>
            <a:ext cx="1889699" cy="868680"/>
          </a:xfrm>
          <a:prstGeom prst="roundRect">
            <a:avLst>
              <a:gd name="adj" fmla="val 12632"/>
            </a:avLst>
          </a:prstGeom>
          <a:solidFill>
            <a:srgbClr val="E76F51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3886" y="2167128"/>
            <a:ext cx="548640" cy="54864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844796" y="3017520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9863084" y="3794760"/>
            <a:ext cx="167024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Вернадський вважав, що ноосфера несумісна з війнами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-circle"/>
          <p:cNvSpPr/>
          <p:nvPr/>
        </p:nvSpPr>
        <p:spPr>
          <a:xfrm>
            <a:off x="548640" y="548640"/>
            <a:ext cx="1005840" cy="100584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3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790042"/>
            <a:ext cx="523037" cy="5230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МІФ ЧИ ФАКТ?  1/3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«Термін «ноосфера» придумав Вернадський»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1206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Голосуємо: рука вгору — МІФ, дві руки — ФАКТ. Чому ви так вважаєте?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E76F5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МІФ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65760"/>
            <a:ext cx="8442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«Термін «ноосфера» придумав Вернадський»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4415" cy="4023360"/>
          </a:xfrm>
          <a:prstGeom prst="roundRect">
            <a:avLst>
              <a:gd name="adj" fmla="val 3409"/>
            </a:avLst>
          </a:prstGeom>
          <a:solidFill>
            <a:srgbClr val="FCE9E3"/>
          </a:solidFill>
          <a:ln/>
        </p:spPr>
      </p:sp>
      <p:sp>
        <p:nvSpPr>
          <p:cNvPr id="6" name="icon-circle"/>
          <p:cNvSpPr/>
          <p:nvPr/>
        </p:nvSpPr>
        <p:spPr>
          <a:xfrm>
            <a:off x="960120" y="3063240"/>
            <a:ext cx="1005840" cy="100584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1522" y="3304642"/>
            <a:ext cx="523037" cy="5230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286000" y="1783080"/>
            <a:ext cx="899129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Слово «ноосфера» вперше запропонували французькі філософи Е. Леруа і П. Тейяр де Шарден у 1927 р. Вернадський же створив наукове вчення про ноосферу і наповнив це слово глибоким змістом.</a:t>
            </a:r>
            <a:endParaRPr lang="en-US" sz="2200" dirty="0"/>
          </a:p>
        </p:txBody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-circle"/>
          <p:cNvSpPr/>
          <p:nvPr/>
        </p:nvSpPr>
        <p:spPr>
          <a:xfrm>
            <a:off x="548640" y="548640"/>
            <a:ext cx="1005840" cy="100584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3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790042"/>
            <a:ext cx="523037" cy="5230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МІФ ЧИ ФАКТ?  2/3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«Ноосфера — це коли людина повністю підкорила природу»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1206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Голосуємо: рука вгору — МІФ, дві руки — ФАКТ. Чому ви так вважаєте?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E76F5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МІФ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65760"/>
            <a:ext cx="8442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«Ноосфера — це коли людина повністю підкорила природу»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4415" cy="4023360"/>
          </a:xfrm>
          <a:prstGeom prst="roundRect">
            <a:avLst>
              <a:gd name="adj" fmla="val 3409"/>
            </a:avLst>
          </a:prstGeom>
          <a:solidFill>
            <a:srgbClr val="FCE9E3"/>
          </a:solidFill>
          <a:ln/>
        </p:spPr>
      </p:sp>
      <p:sp>
        <p:nvSpPr>
          <p:cNvPr id="6" name="icon-circle"/>
          <p:cNvSpPr/>
          <p:nvPr/>
        </p:nvSpPr>
        <p:spPr>
          <a:xfrm>
            <a:off x="960120" y="3063240"/>
            <a:ext cx="1005840" cy="100584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1522" y="3304642"/>
            <a:ext cx="523037" cy="5230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286000" y="1783080"/>
            <a:ext cx="899129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Навпаки! Ноосфера — це розумна взаємодія людини і природи. Не «підкорити», а зрозуміти закони природи і жити за ними, відновлюючи те, що використали.</a:t>
            </a:r>
            <a:endParaRPr lang="en-US" sz="2200" dirty="0"/>
          </a:p>
        </p:txBody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-circle"/>
          <p:cNvSpPr/>
          <p:nvPr/>
        </p:nvSpPr>
        <p:spPr>
          <a:xfrm>
            <a:off x="548640" y="548640"/>
            <a:ext cx="1005840" cy="100584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3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790042"/>
            <a:ext cx="523037" cy="5230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МІФ ЧИ ФАКТ?  3/3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«Людина за своїм впливом на планету — геологічна сила»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1206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Голосуємо: рука вгору — МІФ, дві руки — ФАКТ. Чому ви так вважаєте?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40916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65760"/>
            <a:ext cx="8442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«Людина за своїм впливом на планету — геологічна сила»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4415" cy="4023360"/>
          </a:xfrm>
          <a:prstGeom prst="roundRect">
            <a:avLst>
              <a:gd name="adj" fmla="val 3409"/>
            </a:avLst>
          </a:prstGeom>
          <a:solidFill>
            <a:srgbClr val="E9F5EE"/>
          </a:solidFill>
          <a:ln/>
        </p:spPr>
      </p:sp>
      <p:sp>
        <p:nvSpPr>
          <p:cNvPr id="6" name="icon-circle"/>
          <p:cNvSpPr/>
          <p:nvPr/>
        </p:nvSpPr>
        <p:spPr>
          <a:xfrm>
            <a:off x="960120" y="3063240"/>
            <a:ext cx="1005840" cy="100584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1522" y="3304642"/>
            <a:ext cx="523037" cy="5230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286000" y="1783080"/>
            <a:ext cx="899129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Людство переміщує більше гірських порід, ніж усі річки світу, змінює склад атмосфери і клімат. Вчені навіть обговорюють нову геологічну епоху — антропоцен, «епоху людини».</a:t>
            </a:r>
            <a:endParaRPr lang="en-US" sz="2200" dirty="0"/>
          </a:p>
        </p:txBody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ПЕРЕВІР СЕБЕ · 1/1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Вернадський назвав «тиском життя»?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60604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95D5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3017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606040"/>
            <a:ext cx="4038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Тиск атмосфери на живі організми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3008" y="260604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95D5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7328" y="3017520"/>
            <a:ext cx="640080" cy="64008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07328" y="3017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376008" y="2606040"/>
            <a:ext cx="4038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Прагнення живої речовини заповнити весь можливий простір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95D5B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754880"/>
            <a:ext cx="640080" cy="64008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754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4343400"/>
            <a:ext cx="4038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Вплив людини на природу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33008" y="434340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95D5B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7328" y="4754880"/>
            <a:ext cx="640080" cy="64008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07328" y="4754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376008" y="4343400"/>
            <a:ext cx="4038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Кров'яний тиск у тварин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ПРАВИЛЬНА ВІДПОВІДЬ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Вернадський назвав «тиском життя»?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188720"/>
          </a:xfrm>
          <a:prstGeom prst="roundRect">
            <a:avLst>
              <a:gd name="adj" fmla="val 9231"/>
            </a:avLst>
          </a:prstGeom>
          <a:solidFill>
            <a:srgbClr val="2D6A4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77440"/>
            <a:ext cx="640080" cy="640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2103120"/>
            <a:ext cx="9631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Б) Прагнення живої речовини заповнити весь можливий простір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48640" y="3566160"/>
            <a:ext cx="11094415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3566160"/>
            <a:ext cx="1036289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Чому так: </a:t>
            </a:r>
            <a:pPr indent="0" marL="0">
              <a:buNone/>
            </a:pPr>
            <a:r>
              <a:rPr lang="en-US" sz="20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 речовина перетворює енергію Сонця і прагне до максимального поширення — як у задачі про бактерії. Обмежують її лише нестача їжі, простору і несприятливі умови.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Дебати: чи живемо ми вже в ноосфері?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760720" cy="4754880"/>
          </a:xfrm>
          <a:prstGeom prst="roundRect">
            <a:avLst>
              <a:gd name="adj" fmla="val 2885"/>
            </a:avLst>
          </a:prstGeom>
          <a:solidFill>
            <a:srgbClr val="E3EEF5"/>
          </a:solidFill>
          <a:ln/>
        </p:spPr>
      </p:sp>
      <p:sp>
        <p:nvSpPr>
          <p:cNvPr id="4" name="icon-circle"/>
          <p:cNvSpPr/>
          <p:nvPr/>
        </p:nvSpPr>
        <p:spPr>
          <a:xfrm>
            <a:off x="868680" y="1645920"/>
            <a:ext cx="777240" cy="777240"/>
          </a:xfrm>
          <a:prstGeom prst="ellipse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83245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64592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Ситуація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606040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 ділиться на дві команди.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«ТАК» доводить, що людство вже діє розумно: наука, заповідники, сонячні електростанції, сортування сміття.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«НІ» доводить, що ми ще далекі від ноосфери: забруднення, вирубка лісів, війни, зміна клімату.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583680" y="1371600"/>
            <a:ext cx="5059375" cy="4754880"/>
          </a:xfrm>
          <a:prstGeom prst="roundRect">
            <a:avLst>
              <a:gd name="adj" fmla="val 2885"/>
            </a:avLst>
          </a:prstGeom>
          <a:solidFill>
            <a:srgbClr val="1B433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03720" y="164592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Ваше завдання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903720" y="2286000"/>
            <a:ext cx="441929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хвилин — підготувати 3 аргументи з прикладами.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2 хвилини — виступ кожної команди.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Разом: що потрібно змінити, щоб наблизитися до ноосфери? Назвіть 3 кроки.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903720" y="5440680"/>
            <a:ext cx="4419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4A2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≈ 15 хв, дві команди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Головне за сьогодні</a:t>
            </a:r>
            <a:endParaRPr lang="en-US" sz="3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5354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34440" y="1463040"/>
            <a:ext cx="1040861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Людина — частина біосфери, але внесла в неї розум, працю і науку — і стала геологічною силою.</a:t>
            </a:r>
            <a:endParaRPr lang="en-US" sz="1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46020"/>
            <a:ext cx="411480" cy="4114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234440" y="2255520"/>
            <a:ext cx="1040861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Ноосфера («сфера розуму») — новий стан біосфери, коли людина розумно регулює свої відносини з природою.</a:t>
            </a:r>
            <a:endParaRPr lang="en-US" sz="1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38500"/>
            <a:ext cx="411480" cy="4114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34440" y="3048000"/>
            <a:ext cx="1040861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Термін запропонували Е. Леруа і П. Тейяр де Шарден (1927), вчення створив В. І. Вернадський.</a:t>
            </a:r>
            <a:endParaRPr lang="en-US" sz="18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030980"/>
            <a:ext cx="411480" cy="4114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234440" y="3840480"/>
            <a:ext cx="1040861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Вернадський сформулював основні положення вчення про біосферу: цілісність, роль Сонця, «тиск життя», колообіг атомів та ін.</a:t>
            </a:r>
            <a:endParaRPr lang="en-US" sz="180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823460"/>
            <a:ext cx="411480" cy="4114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234440" y="4632960"/>
            <a:ext cx="1040861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Діяльність людини має позитивні і негативні наслідки; загроза — екологічна криза, яка шкодить здоров'ю людей.</a:t>
            </a:r>
            <a:endParaRPr lang="en-US" sz="180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615940"/>
            <a:ext cx="411480" cy="411480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1234440" y="5425440"/>
            <a:ext cx="1040861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Перехід до ноосфери — це планове, науково обґрунтоване використання природи з відновленням того, що зруйновано.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-circle"/>
          <p:cNvSpPr/>
          <p:nvPr/>
        </p:nvSpPr>
        <p:spPr>
          <a:xfrm>
            <a:off x="548640" y="548640"/>
            <a:ext cx="1005840" cy="100584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pic>
        <p:nvPicPr>
          <p:cNvPr id="3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790042"/>
            <a:ext cx="523037" cy="5230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777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4A2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РЕФЛЕКСІЯ · ПРОДОВЖІТЬ РЕЧЕННЯ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192024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2D6A4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92024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Найважливіша думка Вернадського для мене…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48640" y="310896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2D6A4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310896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наблизитися до ноосфери, я особисто можу…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548640" y="429768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2D6A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14400" y="429768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 дізнатися більше про…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Домашнє завдання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9494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Вивчіть конспект лекції. Знайте визначення: ноосфера, антропогенний чинник, екологічна криза, «тиск життя».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Оберіть 3 положення вчення Вернадського і до кожного наведіть свій приклад з природи.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Наведіть по 2 приклади позитивного і негативного впливу людини на природу вашого регіону.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Підготуйтеся до наступної теми: що таке агроценоз (поле, сад) і чим він відрізняється від лісу?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863840" y="1371600"/>
            <a:ext cx="3779215" cy="3108960"/>
          </a:xfrm>
          <a:prstGeom prst="roundRect">
            <a:avLst>
              <a:gd name="adj" fmla="val 4412"/>
            </a:avLst>
          </a:prstGeom>
          <a:solidFill>
            <a:srgbClr val="1B4332"/>
          </a:solidFill>
          <a:ln/>
        </p:spPr>
      </p:sp>
      <p:sp>
        <p:nvSpPr>
          <p:cNvPr id="5" name="icon-circle"/>
          <p:cNvSpPr/>
          <p:nvPr/>
        </p:nvSpPr>
        <p:spPr>
          <a:xfrm>
            <a:off x="8183880" y="1645920"/>
            <a:ext cx="777240" cy="777240"/>
          </a:xfrm>
          <a:prstGeom prst="ellipse">
            <a:avLst/>
          </a:prstGeom>
          <a:solidFill>
            <a:srgbClr val="95D5B2"/>
          </a:solidFill>
          <a:ln w="12700">
            <a:solidFill>
              <a:srgbClr val="95D5B2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0418" y="1832458"/>
            <a:ext cx="404165" cy="4041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0" y="1645920"/>
            <a:ext cx="23161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Формат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2651760"/>
            <a:ext cx="31391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Відповіді можна оформити письмово в зошиті або як коротку презентацію чи інфографіку (3–5 слайдів).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Природничі науки">
  <a:themeElements>
    <a:clrScheme name="Природничі науки">
      <a:dk1>
        <a:srgbClr val="1F2A24"/>
      </a:dk1>
      <a:lt1>
        <a:srgbClr val="FFFFFF"/>
      </a:lt1>
      <a:dk2>
        <a:srgbClr val="1B4332"/>
      </a:dk2>
      <a:lt2>
        <a:srgbClr val="E9F5EE"/>
      </a:lt2>
      <a:accent1>
        <a:srgbClr val="2D6A4F"/>
      </a:accent1>
      <a:accent2>
        <a:srgbClr val="95D5B2"/>
      </a:accent2>
      <a:accent3>
        <a:srgbClr val="F4A261"/>
      </a:accent3>
      <a:accent4>
        <a:srgbClr val="E76F51"/>
      </a:accent4>
      <a:accent5>
        <a:srgbClr val="457B9D"/>
      </a:accent5>
      <a:accent6>
        <a:srgbClr val="40916C"/>
      </a:accent6>
      <a:hlink>
        <a:srgbClr val="457B9D"/>
      </a:hlink>
      <a:folHlink>
        <a:srgbClr val="2D6A4F"/>
      </a:folHlink>
    </a:clrScheme>
    <a:fontScheme name="Природничі науки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Вчення В. Вернадського. Перехід біосфери в ноосферу</dc:title>
  <dc:subject>Природничі науки, 2 курс</dc:subject>
  <dc:creator>Баталова Т. П.</dc:creator>
  <cp:lastModifiedBy>Баталова Т. П.</cp:lastModifiedBy>
  <cp:revision>1</cp:revision>
  <dcterms:created xsi:type="dcterms:W3CDTF">2026-10-03T13:04:48Z</dcterms:created>
  <dcterms:modified xsi:type="dcterms:W3CDTF">2026-10-03T13:04:48Z</dcterms:modified>
</cp:coreProperties>
</file>