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ступ" id="{7b3ad982-355b-b020-f1f0-a9681ba80c51}">
          <p14:sldIdLst>
            <p14:sldId id="256"/>
            <p14:sldId id="257"/>
            <p14:sldId id="258"/>
            <p14:sldId id="259"/>
          </p14:sldIdLst>
        </p14:section>
        <p14:section name="Звідки беруться глобальні проблеми" id="{c0e86721-d859-8d5c-1b60-6e662a4d9a4c}">
          <p14:sldIdLst>
            <p14:sldId id="260"/>
            <p14:sldId id="261"/>
            <p14:sldId id="262"/>
            <p14:sldId id="263"/>
            <p14:sldId id="264"/>
            <p14:sldId id="265"/>
            <p14:sldId id="266"/>
          </p14:sldIdLst>
        </p14:section>
        <p14:section name="Головні екологічні проблеми" id="{ab129284-d4b9-164f-b973-c1fa0dc58469}">
          <p14:sldIdLst>
            <p14:sldId id="267"/>
            <p14:sldId id="268"/>
            <p14:sldId id="269"/>
            <p14:sldId id="270"/>
            <p14:sldId id="271"/>
          </p14:sldIdLst>
        </p14:section>
        <p14:section name="Міфи і факти" id="{7f01776b-28ff-3b5b-5dcd-9a33edd93625}">
          <p14:sldIdLst>
            <p14:sldId id="272"/>
            <p14:sldId id="273"/>
            <p14:sldId id="274"/>
            <p14:sldId id="275"/>
            <p14:sldId id="276"/>
            <p14:sldId id="277"/>
          </p14:sldIdLst>
        </p14:section>
        <p14:section name="Закріплення" id="{46dd3d6f-5829-47e9-4adb-f788cc3fd5e8}">
          <p14:sldIdLst>
            <p14:sldId id="278"/>
            <p14:sldId id="279"/>
            <p14:sldId id="280"/>
            <p14:sldId id="281"/>
            <p14:sldId id="282"/>
            <p14:sldId id="28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Привітання. Тема — глобальні проблеми: що це, звідки вони взялися і що з ними робити.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Розминка. Запишіть на дошці все, що назвуть студенти. Пізніше ці проблеми розподілимо по групах.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Висновок: є проблеми, які не можна розв'язати в межах однієї країни. Це і є глобальні проблеми.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Інтрига. Відповідь — на слайді про ресурси (День екологічного боргу).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 конспектом. НТР — науково-технічна революція: автомобілі, літаки, атомна енергія, хімія, комп'ютери.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 конспектом.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 конспектом. Аналогія з кредиткою добре зрозуміла студентам.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 конспектом. Ознаки — для кращого розуміння.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 конспектом. Поверніться до списку з розминки на дошці і попросіть віднести кожну проблему до однієї з груп.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Мінізавдання на застосування класифікації.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Головна думка: глобальні проблеми пов'язані між собою. Розв'язуючи одну, впливаємо на інші.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 конспектом — 5 проблем. Далі розбираємо кожну.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Визначення з конспекту + свіжі дані. Для України: посухи на півдні, спекотніші літа, менше снігу взимку.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 конспектом. Приклад: машина влітку з зачиненими вікнами — світло заходить, тепло не виходить. Про Кіотський протокол не розповідайте детально — це домашнє завдання.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Повертаємося до розминки: хто вгадав місяць? Наголос: решту року людство живе «в борг» у природи.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Визначення з конспекту + свіжі дані. Приклад України: війна знищила величезні площі природних територій, частина заповідників в окупації.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Голосування: міф чи факт. Попросіть пояснити.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Розбір.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Голосування: міф чи факт. Попросіть пояснити.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Розбір.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Голосування: міф чи факт. Попросіть пояснити.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Розбір.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Голосування.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Типова помилка — плутати парниковий ефект з озоновими дірами. Це різні проблеми.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Мета — показати, що глобальні проблеми потребують компромісу і спільних дій. Підведіть підсумок: які рішення прийняли б усі сторони?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Підсумок.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Рефлексія.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Домашнє завдання з конспекту.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Глобальні проблеми як наслідок антропогенного впливу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NT">
    <p:bg>
      <p:bgPr>
        <a:solidFill>
          <a:srgbClr val="E9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Глобальні проблеми як наслідок антропогенного впливу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image" Target="../media/image-26-5.png"/><Relationship Id="rId6" Type="http://schemas.openxmlformats.org/officeDocument/2006/relationships/image" Target="../media/image-26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1097280"/>
            <a:ext cx="5669280" cy="5669280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509760" y="3931920"/>
            <a:ext cx="3291840" cy="3291840"/>
          </a:xfrm>
          <a:prstGeom prst="ellipse">
            <a:avLst/>
          </a:prstGeom>
          <a:solidFill>
            <a:srgbClr val="40916C">
              <a:alpha val="60000"/>
            </a:srgbClr>
          </a:solidFill>
          <a:ln w="12700">
            <a:solidFill>
              <a:srgbClr val="40916C">
                <a:alpha val="6000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0" y="274320"/>
            <a:ext cx="3291840" cy="32918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11887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95D5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ЛЕКЦІЯ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737360"/>
            <a:ext cx="7498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Глобальні проблеми людства як наслідок антропогенного впливу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2976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9F5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Проблеми, які не можна розв'язати поодинці — лише всім людством разом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5943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5D5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Природничі науки · 2 курс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-circle"/>
          <p:cNvSpPr/>
          <p:nvPr/>
        </p:nvSpPr>
        <p:spPr>
          <a:xfrm>
            <a:off x="548640" y="548640"/>
            <a:ext cx="1005840" cy="100584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042" y="790042"/>
            <a:ext cx="523037" cy="52303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8288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РОЗМИНКА · ПОДУМАЙТЕ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828800"/>
            <a:ext cx="11094415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Назвіть одну проблему, яка стосується кожної людини на Землі — незалежно від країни, де вона живе.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521208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95D5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Подумайте 1 хвилину. Кожен називає свою проблему — запишемо всі на дошці.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ви, найімовірніше, назвали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783080"/>
            <a:ext cx="11094415" cy="971550"/>
          </a:xfrm>
          <a:prstGeom prst="roundRect">
            <a:avLst>
              <a:gd name="adj" fmla="val 11294"/>
            </a:avLst>
          </a:prstGeom>
          <a:solidFill>
            <a:srgbClr val="E9F5EE"/>
          </a:solidFill>
          <a:ln/>
        </p:spPr>
      </p:sp>
      <p:sp>
        <p:nvSpPr>
          <p:cNvPr id="4" name="icon-circle"/>
          <p:cNvSpPr/>
          <p:nvPr/>
        </p:nvSpPr>
        <p:spPr>
          <a:xfrm>
            <a:off x="777240" y="2017395"/>
            <a:ext cx="502920" cy="502920"/>
          </a:xfrm>
          <a:prstGeom prst="ellipse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941" y="2138096"/>
            <a:ext cx="261518" cy="26151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08760" y="1783080"/>
            <a:ext cx="9905695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Війни і загроза миру — </a:t>
            </a:r>
            <a:pPr indent="0" marL="0">
              <a:buNone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війна в одній країні впливає на ціни, продовольство, безпеку в усьому світі.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548640" y="2937510"/>
            <a:ext cx="11094415" cy="971550"/>
          </a:xfrm>
          <a:prstGeom prst="roundRect">
            <a:avLst>
              <a:gd name="adj" fmla="val 11294"/>
            </a:avLst>
          </a:prstGeom>
          <a:solidFill>
            <a:srgbClr val="E9F5EE"/>
          </a:solidFill>
          <a:ln/>
        </p:spPr>
      </p:sp>
      <p:sp>
        <p:nvSpPr>
          <p:cNvPr id="8" name="icon-circle"/>
          <p:cNvSpPr/>
          <p:nvPr/>
        </p:nvSpPr>
        <p:spPr>
          <a:xfrm>
            <a:off x="777240" y="3171825"/>
            <a:ext cx="502920" cy="502920"/>
          </a:xfrm>
          <a:prstGeom prst="ellipse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pic>
        <p:nvPicPr>
          <p:cNvPr id="9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941" y="3292526"/>
            <a:ext cx="261518" cy="26151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508760" y="2937510"/>
            <a:ext cx="9905695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Зміна клімату — </a:t>
            </a:r>
            <a:pPr indent="0" marL="0">
              <a:buNone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спека, посухи, повені не зважають на кордони.</a:t>
            </a:r>
            <a:endParaRPr lang="en-US" sz="1700" dirty="0"/>
          </a:p>
        </p:txBody>
      </p:sp>
      <p:sp>
        <p:nvSpPr>
          <p:cNvPr id="11" name="Shape 7"/>
          <p:cNvSpPr/>
          <p:nvPr/>
        </p:nvSpPr>
        <p:spPr>
          <a:xfrm>
            <a:off x="548640" y="4091940"/>
            <a:ext cx="11094415" cy="971550"/>
          </a:xfrm>
          <a:prstGeom prst="roundRect">
            <a:avLst>
              <a:gd name="adj" fmla="val 11294"/>
            </a:avLst>
          </a:prstGeom>
          <a:solidFill>
            <a:srgbClr val="E9F5EE"/>
          </a:solidFill>
          <a:ln/>
        </p:spPr>
      </p:sp>
      <p:sp>
        <p:nvSpPr>
          <p:cNvPr id="12" name="icon-circle"/>
          <p:cNvSpPr/>
          <p:nvPr/>
        </p:nvSpPr>
        <p:spPr>
          <a:xfrm>
            <a:off x="777240" y="4326255"/>
            <a:ext cx="502920" cy="502920"/>
          </a:xfrm>
          <a:prstGeom prst="ellipse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pic>
        <p:nvPicPr>
          <p:cNvPr id="13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941" y="4446956"/>
            <a:ext cx="261518" cy="26151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508760" y="4091940"/>
            <a:ext cx="9905695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Забруднення — </a:t>
            </a:r>
            <a:pPr indent="0" marL="0">
              <a:buNone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пластик з однієї країни течії розносять по всьому океану.</a:t>
            </a:r>
            <a:endParaRPr lang="en-US" sz="1700" dirty="0"/>
          </a:p>
        </p:txBody>
      </p:sp>
      <p:sp>
        <p:nvSpPr>
          <p:cNvPr id="15" name="Shape 10"/>
          <p:cNvSpPr/>
          <p:nvPr/>
        </p:nvSpPr>
        <p:spPr>
          <a:xfrm>
            <a:off x="548640" y="5246370"/>
            <a:ext cx="11094415" cy="971550"/>
          </a:xfrm>
          <a:prstGeom prst="roundRect">
            <a:avLst>
              <a:gd name="adj" fmla="val 11294"/>
            </a:avLst>
          </a:prstGeom>
          <a:solidFill>
            <a:srgbClr val="E9F5EE"/>
          </a:solidFill>
          <a:ln/>
        </p:spPr>
      </p:sp>
      <p:sp>
        <p:nvSpPr>
          <p:cNvPr id="16" name="icon-circle"/>
          <p:cNvSpPr/>
          <p:nvPr/>
        </p:nvSpPr>
        <p:spPr>
          <a:xfrm>
            <a:off x="777240" y="5480685"/>
            <a:ext cx="502920" cy="502920"/>
          </a:xfrm>
          <a:prstGeom prst="ellipse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pic>
        <p:nvPicPr>
          <p:cNvPr id="17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941" y="5601386"/>
            <a:ext cx="261518" cy="261518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508760" y="5246370"/>
            <a:ext cx="9905695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Голод, хвороби, бідність — </a:t>
            </a:r>
            <a:pPr indent="0" marL="0">
              <a:buNone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пандемія COVID-19 показала: хвороба з одного міста за кілька тижнів охоплює весь світ.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-circle"/>
          <p:cNvSpPr/>
          <p:nvPr/>
        </p:nvSpPr>
        <p:spPr>
          <a:xfrm>
            <a:off x="548640" y="548640"/>
            <a:ext cx="1005840" cy="100584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042" y="790042"/>
            <a:ext cx="523037" cy="52303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8288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РОЗМИНКА · ПОДУМАЙТЕ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828800"/>
            <a:ext cx="11094415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ви думаєте: у який день року людство вже використовує всі ресурси, які Земля встигає відновити за цілий рік?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521208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95D5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Назвіть місяць. Відповідь — у середині лекції.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Природа, суспільство і господарство — одне ціле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423818" cy="3108960"/>
          </a:xfrm>
          <a:prstGeom prst="roundRect">
            <a:avLst>
              <a:gd name="adj" fmla="val 3529"/>
            </a:avLst>
          </a:prstGeom>
          <a:solidFill>
            <a:srgbClr val="E9F5EE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463040"/>
            <a:ext cx="3423818" cy="868680"/>
          </a:xfrm>
          <a:prstGeom prst="roundRect">
            <a:avLst>
              <a:gd name="adj" fmla="val 12632"/>
            </a:avLst>
          </a:prstGeom>
          <a:solidFill>
            <a:srgbClr val="2D6A4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86229" y="1618488"/>
            <a:ext cx="548640" cy="5486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2468880"/>
            <a:ext cx="324093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Природа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658368" y="3246120"/>
            <a:ext cx="320436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єдина і неподільна; дає ресурси й умови для життя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036466" y="2834640"/>
            <a:ext cx="283464" cy="365760"/>
          </a:xfrm>
          <a:prstGeom prst="rightArrow">
            <a:avLst/>
          </a:prstGeom>
          <a:solidFill>
            <a:srgbClr val="F4A261"/>
          </a:solidFill>
          <a:ln/>
        </p:spPr>
      </p:sp>
      <p:sp>
        <p:nvSpPr>
          <p:cNvPr id="9" name="Shape 6"/>
          <p:cNvSpPr/>
          <p:nvPr/>
        </p:nvSpPr>
        <p:spPr>
          <a:xfrm>
            <a:off x="4383938" y="1463040"/>
            <a:ext cx="3423818" cy="3108960"/>
          </a:xfrm>
          <a:prstGeom prst="roundRect">
            <a:avLst>
              <a:gd name="adj" fmla="val 3529"/>
            </a:avLst>
          </a:prstGeom>
          <a:solidFill>
            <a:srgbClr val="E9F5EE"/>
          </a:solidFill>
          <a:ln/>
        </p:spPr>
      </p:sp>
      <p:sp>
        <p:nvSpPr>
          <p:cNvPr id="10" name="Shape 7"/>
          <p:cNvSpPr/>
          <p:nvPr/>
        </p:nvSpPr>
        <p:spPr>
          <a:xfrm>
            <a:off x="4383938" y="1463040"/>
            <a:ext cx="3423818" cy="868680"/>
          </a:xfrm>
          <a:prstGeom prst="roundRect">
            <a:avLst>
              <a:gd name="adj" fmla="val 12632"/>
            </a:avLst>
          </a:prstGeom>
          <a:solidFill>
            <a:srgbClr val="457B9D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1528" y="1618488"/>
            <a:ext cx="548640" cy="54864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475378" y="2468880"/>
            <a:ext cx="324093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Суспільство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4493666" y="3246120"/>
            <a:ext cx="320436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люди з їхніми потребами, яких стає дедалі більше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7871765" y="2834640"/>
            <a:ext cx="283464" cy="365760"/>
          </a:xfrm>
          <a:prstGeom prst="rightArrow">
            <a:avLst/>
          </a:prstGeom>
          <a:solidFill>
            <a:srgbClr val="F4A261"/>
          </a:solidFill>
          <a:ln/>
        </p:spPr>
      </p:sp>
      <p:sp>
        <p:nvSpPr>
          <p:cNvPr id="15" name="Shape 11"/>
          <p:cNvSpPr/>
          <p:nvPr/>
        </p:nvSpPr>
        <p:spPr>
          <a:xfrm>
            <a:off x="8219237" y="1463040"/>
            <a:ext cx="3423818" cy="3108960"/>
          </a:xfrm>
          <a:prstGeom prst="roundRect">
            <a:avLst>
              <a:gd name="adj" fmla="val 3529"/>
            </a:avLst>
          </a:prstGeom>
          <a:solidFill>
            <a:srgbClr val="E9F5EE"/>
          </a:solidFill>
          <a:ln/>
        </p:spPr>
      </p:sp>
      <p:sp>
        <p:nvSpPr>
          <p:cNvPr id="16" name="Shape 12"/>
          <p:cNvSpPr/>
          <p:nvPr/>
        </p:nvSpPr>
        <p:spPr>
          <a:xfrm>
            <a:off x="8219237" y="1463040"/>
            <a:ext cx="3423818" cy="868680"/>
          </a:xfrm>
          <a:prstGeom prst="roundRect">
            <a:avLst>
              <a:gd name="adj" fmla="val 12632"/>
            </a:avLst>
          </a:prstGeom>
          <a:solidFill>
            <a:srgbClr val="F4A261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6826" y="1618488"/>
            <a:ext cx="548640" cy="54864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310677" y="2468880"/>
            <a:ext cx="324093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Господарство</a:t>
            </a:r>
            <a:endParaRPr lang="en-US" sz="1700" dirty="0"/>
          </a:p>
        </p:txBody>
      </p:sp>
      <p:sp>
        <p:nvSpPr>
          <p:cNvPr id="19" name="Text 14"/>
          <p:cNvSpPr txBox="1"/>
          <p:nvPr/>
        </p:nvSpPr>
        <p:spPr>
          <a:xfrm>
            <a:off x="8328965" y="3246120"/>
            <a:ext cx="320436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результат взаємодії природи і суспільства: заводи, поля, транспорт</a:t>
            </a:r>
            <a:endParaRPr lang="en-US" sz="1600" dirty="0"/>
          </a:p>
        </p:txBody>
      </p:sp>
      <p:sp>
        <p:nvSpPr>
          <p:cNvPr id="20" name="Shape 15"/>
          <p:cNvSpPr/>
          <p:nvPr/>
        </p:nvSpPr>
        <p:spPr>
          <a:xfrm>
            <a:off x="548640" y="4846320"/>
            <a:ext cx="11094415" cy="1280160"/>
          </a:xfrm>
          <a:prstGeom prst="roundRect">
            <a:avLst>
              <a:gd name="adj" fmla="val 7143"/>
            </a:avLst>
          </a:prstGeom>
          <a:solidFill>
            <a:srgbClr val="FDF1E4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822960" y="4846320"/>
            <a:ext cx="1054577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Зв'язок між ними має глобальний характер: доля кожного компонента залежить від інших. Особливо ускладнилися відносини суспільства і природи у XX ст., коли під час науково-технічної революції різко зріс вплив людини на довкілля.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Природні і антропогенні фактори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64328" cy="3749040"/>
          </a:xfrm>
          <a:prstGeom prst="roundRect">
            <a:avLst>
              <a:gd name="adj" fmla="val 2927"/>
            </a:avLst>
          </a:prstGeom>
          <a:solidFill>
            <a:srgbClr val="E9F5EE"/>
          </a:solidFill>
          <a:ln/>
        </p:spPr>
      </p:sp>
      <p:sp>
        <p:nvSpPr>
          <p:cNvPr id="4" name="icon-circle"/>
          <p:cNvSpPr/>
          <p:nvPr/>
        </p:nvSpPr>
        <p:spPr>
          <a:xfrm>
            <a:off x="822960" y="1600200"/>
            <a:ext cx="731520" cy="731520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5" y="1775765"/>
            <a:ext cx="380390" cy="38039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737360" y="1600200"/>
            <a:ext cx="39927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Природні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2560320"/>
            <a:ext cx="47242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Виникли ще до появи людини і діють досі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Приклади: виверження вулканів, землетруси, зміна пір року, сонячна активність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278728" y="1371600"/>
            <a:ext cx="5364328" cy="3749040"/>
          </a:xfrm>
          <a:prstGeom prst="roundRect">
            <a:avLst>
              <a:gd name="adj" fmla="val 2927"/>
            </a:avLst>
          </a:prstGeom>
          <a:solidFill>
            <a:srgbClr val="FCE9E3"/>
          </a:solidFill>
          <a:ln/>
        </p:spPr>
      </p:sp>
      <p:sp>
        <p:nvSpPr>
          <p:cNvPr id="9" name="icon-circle"/>
          <p:cNvSpPr/>
          <p:nvPr/>
        </p:nvSpPr>
        <p:spPr>
          <a:xfrm>
            <a:off x="6553048" y="1600200"/>
            <a:ext cx="731520" cy="73152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pic>
        <p:nvPicPr>
          <p:cNvPr id="10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8612" y="1775765"/>
            <a:ext cx="380390" cy="38039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467448" y="1600200"/>
            <a:ext cx="39927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Антропогенні</a:t>
            </a:r>
            <a:endParaRPr lang="en-US" sz="2100" dirty="0"/>
          </a:p>
        </p:txBody>
      </p:sp>
      <p:sp>
        <p:nvSpPr>
          <p:cNvPr id="12" name="Text 8"/>
          <p:cNvSpPr txBox="1"/>
          <p:nvPr/>
        </p:nvSpPr>
        <p:spPr>
          <a:xfrm>
            <a:off x="6598768" y="2560320"/>
            <a:ext cx="47242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Зобов'язані своїм походженням діяльності людини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Приклади: викиди заводів і автомобілів, вирубка лісів, розорювання степів, війни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548640" y="5349240"/>
            <a:ext cx="11094415" cy="777240"/>
          </a:xfrm>
          <a:prstGeom prst="roundRect">
            <a:avLst>
              <a:gd name="adj" fmla="val 11765"/>
            </a:avLst>
          </a:prstGeom>
          <a:solidFill>
            <a:srgbClr val="1B4332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822960" y="5349240"/>
            <a:ext cx="105457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«Антропос» — людина, «генез» — походження. Антропогенний — спричинений людиною.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чому головна небезпека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6583680" cy="4663440"/>
          </a:xfrm>
          <a:prstGeom prst="roundRect">
            <a:avLst>
              <a:gd name="adj" fmla="val 2941"/>
            </a:avLst>
          </a:prstGeom>
          <a:solidFill>
            <a:srgbClr val="1B4332"/>
          </a:solidFill>
          <a:ln/>
        </p:spPr>
      </p:sp>
      <p:sp>
        <p:nvSpPr>
          <p:cNvPr id="4" name="icon-circle"/>
          <p:cNvSpPr/>
          <p:nvPr/>
        </p:nvSpPr>
        <p:spPr>
          <a:xfrm>
            <a:off x="914400" y="1691640"/>
            <a:ext cx="822960" cy="822960"/>
          </a:xfrm>
          <a:prstGeom prst="ellipse">
            <a:avLst/>
          </a:prstGeom>
          <a:solidFill>
            <a:srgbClr val="95D5B2"/>
          </a:solidFill>
          <a:ln w="12700">
            <a:solidFill>
              <a:srgbClr val="95D5B2"/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1910" y="1889150"/>
            <a:ext cx="427939" cy="42793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920240" y="169164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95D5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Головна проблема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2743200"/>
            <a:ext cx="58521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Невідповідність між: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безмежними потребами людства,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майже безмежними науково-технічними можливостями впливати на природу,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і обмеженими можливостями самої природи.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7406640" y="1371600"/>
            <a:ext cx="4233672" cy="4663440"/>
          </a:xfrm>
          <a:prstGeom prst="roundRect">
            <a:avLst>
              <a:gd name="adj" fmla="val 3240"/>
            </a:avLst>
          </a:prstGeom>
          <a:solidFill>
            <a:srgbClr val="FDF1E4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680960" y="16459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Простий образ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7680960" y="2194560"/>
            <a:ext cx="37490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Уявіть родину, яка щомісяця витрачає більше, ніж заробляє, бо взяла кредитну картку з великим лімітом.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Спочатку все добре. Але борг росте, і колись настане день, коли платити буде нічим.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Людство «живе в кредит» у природи.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Глобальні проблеми сучасності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6583680" cy="4663440"/>
          </a:xfrm>
          <a:prstGeom prst="roundRect">
            <a:avLst>
              <a:gd name="adj" fmla="val 2941"/>
            </a:avLst>
          </a:prstGeom>
          <a:solidFill>
            <a:srgbClr val="1B4332"/>
          </a:solidFill>
          <a:ln/>
        </p:spPr>
      </p:sp>
      <p:sp>
        <p:nvSpPr>
          <p:cNvPr id="4" name="icon-circle"/>
          <p:cNvSpPr/>
          <p:nvPr/>
        </p:nvSpPr>
        <p:spPr>
          <a:xfrm>
            <a:off x="914400" y="1691640"/>
            <a:ext cx="822960" cy="822960"/>
          </a:xfrm>
          <a:prstGeom prst="ellipse">
            <a:avLst/>
          </a:prstGeom>
          <a:solidFill>
            <a:srgbClr val="95D5B2"/>
          </a:solidFill>
          <a:ln w="12700">
            <a:solidFill>
              <a:srgbClr val="95D5B2"/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1910" y="1889150"/>
            <a:ext cx="427939" cy="42793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920240" y="169164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95D5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Глобальні проблеми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2743200"/>
            <a:ext cx="58521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Проблеми, що виникли у другій половині XX ст. внаслідок стрімкого розвитку виробництва (в умовах НТР), коли з'явилася загроза порушення балансу між суспільством і природою.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 цього балансу залежить існування і прогрес людської цивілізації.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7406640" y="1371600"/>
            <a:ext cx="4233672" cy="4663440"/>
          </a:xfrm>
          <a:prstGeom prst="roundRect">
            <a:avLst>
              <a:gd name="adj" fmla="val 3240"/>
            </a:avLst>
          </a:prstGeom>
          <a:solidFill>
            <a:srgbClr val="FDF1E4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680960" y="16459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упізнати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7680960" y="2194560"/>
            <a:ext cx="37490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Ознаки глобальної проблеми: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стосується всього людства;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загрожує майбутньому цивілізації;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не може бути розв'язана однією країною;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потребує спільних дій усіх держав.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Три групи глобальних проблем</a:t>
            </a:r>
            <a:endParaRPr lang="en-US" sz="3200" dirty="0"/>
          </a:p>
        </p:txBody>
      </p:sp>
      <p:sp>
        <p:nvSpPr>
          <p:cNvPr id="3" name="card"/>
          <p:cNvSpPr/>
          <p:nvPr/>
        </p:nvSpPr>
        <p:spPr>
          <a:xfrm>
            <a:off x="548640" y="1325880"/>
            <a:ext cx="3515258" cy="4846320"/>
          </a:xfrm>
          <a:prstGeom prst="roundRect">
            <a:avLst>
              <a:gd name="adj" fmla="val 3121"/>
            </a:avLst>
          </a:prstGeom>
          <a:solidFill>
            <a:srgbClr val="E9F5EE"/>
          </a:solidFill>
          <a:ln/>
        </p:spPr>
      </p:sp>
      <p:sp>
        <p:nvSpPr>
          <p:cNvPr id="4" name="icon-circle"/>
          <p:cNvSpPr/>
          <p:nvPr/>
        </p:nvSpPr>
        <p:spPr>
          <a:xfrm>
            <a:off x="822960" y="1600200"/>
            <a:ext cx="868680" cy="868680"/>
          </a:xfrm>
          <a:prstGeom prst="ellipse">
            <a:avLst/>
          </a:prstGeom>
          <a:solidFill>
            <a:srgbClr val="457B9D"/>
          </a:solidFill>
          <a:ln w="12700">
            <a:solidFill>
              <a:srgbClr val="457B9D"/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1443" y="1808683"/>
            <a:ext cx="451714" cy="45171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697480"/>
            <a:ext cx="29666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Інтерсоціальні (між країнами)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566160"/>
            <a:ext cx="2966618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Міжнародні відносини, збереження миру, справедливість у світі, подолання економічної відсталості країн, що розвиваються, проблема «багаті — бідні».</a:t>
            </a:r>
            <a:endParaRPr lang="en-US" sz="1600" dirty="0"/>
          </a:p>
        </p:txBody>
      </p:sp>
      <p:sp>
        <p:nvSpPr>
          <p:cNvPr id="8" name="card"/>
          <p:cNvSpPr/>
          <p:nvPr/>
        </p:nvSpPr>
        <p:spPr>
          <a:xfrm>
            <a:off x="4338218" y="1325880"/>
            <a:ext cx="3515258" cy="4846320"/>
          </a:xfrm>
          <a:prstGeom prst="roundRect">
            <a:avLst>
              <a:gd name="adj" fmla="val 3121"/>
            </a:avLst>
          </a:prstGeom>
          <a:solidFill>
            <a:srgbClr val="E9F5EE"/>
          </a:solidFill>
          <a:ln/>
        </p:spPr>
      </p:sp>
      <p:sp>
        <p:nvSpPr>
          <p:cNvPr id="9" name="icon-circle"/>
          <p:cNvSpPr/>
          <p:nvPr/>
        </p:nvSpPr>
        <p:spPr>
          <a:xfrm>
            <a:off x="4612538" y="1600200"/>
            <a:ext cx="868680" cy="86868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10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1022" y="1808683"/>
            <a:ext cx="451714" cy="45171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612538" y="2697480"/>
            <a:ext cx="29666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Особистість і суспільство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4612538" y="3566160"/>
            <a:ext cx="2966618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Боротьба з голодом і недоїданням, охорона здоров'я, освіта, захист людини від забруднення довкілля.</a:t>
            </a:r>
            <a:endParaRPr lang="en-US" sz="1600" dirty="0"/>
          </a:p>
        </p:txBody>
      </p:sp>
      <p:sp>
        <p:nvSpPr>
          <p:cNvPr id="13" name="card"/>
          <p:cNvSpPr/>
          <p:nvPr/>
        </p:nvSpPr>
        <p:spPr>
          <a:xfrm>
            <a:off x="8127797" y="1325880"/>
            <a:ext cx="3515258" cy="4846320"/>
          </a:xfrm>
          <a:prstGeom prst="roundRect">
            <a:avLst>
              <a:gd name="adj" fmla="val 3121"/>
            </a:avLst>
          </a:prstGeom>
          <a:solidFill>
            <a:srgbClr val="E9F5EE"/>
          </a:solidFill>
          <a:ln/>
        </p:spPr>
      </p:sp>
      <p:sp>
        <p:nvSpPr>
          <p:cNvPr id="14" name="icon-circle"/>
          <p:cNvSpPr/>
          <p:nvPr/>
        </p:nvSpPr>
        <p:spPr>
          <a:xfrm>
            <a:off x="8402117" y="1600200"/>
            <a:ext cx="868680" cy="868680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pic>
        <p:nvPicPr>
          <p:cNvPr id="15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0600" y="1808683"/>
            <a:ext cx="451714" cy="45171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402117" y="2697480"/>
            <a:ext cx="29666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Людина і природа</a:t>
            </a:r>
            <a:endParaRPr lang="en-US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8402117" y="3566160"/>
            <a:ext cx="2966618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Екологічна, енергетична, сировинна, продовольча, демографічна проблеми; розумне освоєння Світового океану і космосу.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-circle"/>
          <p:cNvSpPr/>
          <p:nvPr/>
        </p:nvSpPr>
        <p:spPr>
          <a:xfrm>
            <a:off x="548640" y="548640"/>
            <a:ext cx="1005840" cy="100584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042" y="790042"/>
            <a:ext cx="523037" cy="52303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8288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РОЗПОДІЛІТЬ ПО ГРУПАХ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828800"/>
            <a:ext cx="11094415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якої групи належать: а) війна; б) голод в Африці; в) забруднення Світового океану; г) нестача нафти і газу?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521208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95D5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Обговоріть у парах 2 хвилини. Деякі проблеми можуть належати до кількох груп — поясніть чому.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Можливі відповіді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783080"/>
            <a:ext cx="11094415" cy="971550"/>
          </a:xfrm>
          <a:prstGeom prst="roundRect">
            <a:avLst>
              <a:gd name="adj" fmla="val 11294"/>
            </a:avLst>
          </a:prstGeom>
          <a:solidFill>
            <a:srgbClr val="E9F5EE"/>
          </a:solidFill>
          <a:ln/>
        </p:spPr>
      </p:sp>
      <p:sp>
        <p:nvSpPr>
          <p:cNvPr id="4" name="icon-circle"/>
          <p:cNvSpPr/>
          <p:nvPr/>
        </p:nvSpPr>
        <p:spPr>
          <a:xfrm>
            <a:off x="777240" y="2017395"/>
            <a:ext cx="502920" cy="502920"/>
          </a:xfrm>
          <a:prstGeom prst="ellipse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941" y="2138096"/>
            <a:ext cx="261518" cy="26151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08760" y="1783080"/>
            <a:ext cx="9905695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а) Війна — </a:t>
            </a:r>
            <a:pPr indent="0" marL="0">
              <a:buNone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інтерсоціальна проблема (збереження миру). Але війна в Україні — це ще й екологічна катастрофа і загроза продовольчій безпеці світу.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548640" y="2937510"/>
            <a:ext cx="11094415" cy="971550"/>
          </a:xfrm>
          <a:prstGeom prst="roundRect">
            <a:avLst>
              <a:gd name="adj" fmla="val 11294"/>
            </a:avLst>
          </a:prstGeom>
          <a:solidFill>
            <a:srgbClr val="E9F5EE"/>
          </a:solidFill>
          <a:ln/>
        </p:spPr>
      </p:sp>
      <p:sp>
        <p:nvSpPr>
          <p:cNvPr id="8" name="icon-circle"/>
          <p:cNvSpPr/>
          <p:nvPr/>
        </p:nvSpPr>
        <p:spPr>
          <a:xfrm>
            <a:off x="777240" y="3171825"/>
            <a:ext cx="502920" cy="502920"/>
          </a:xfrm>
          <a:prstGeom prst="ellipse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pic>
        <p:nvPicPr>
          <p:cNvPr id="9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941" y="3292526"/>
            <a:ext cx="261518" cy="26151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508760" y="2937510"/>
            <a:ext cx="9905695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б) Голод — </a:t>
            </a:r>
            <a:pPr indent="0" marL="0">
              <a:buNone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проблема «особистість і суспільство», пов'язана також із бідністю (інтерсоціальна) і продовольчою (людина і природа).</a:t>
            </a:r>
            <a:endParaRPr lang="en-US" sz="1700" dirty="0"/>
          </a:p>
        </p:txBody>
      </p:sp>
      <p:sp>
        <p:nvSpPr>
          <p:cNvPr id="11" name="Shape 7"/>
          <p:cNvSpPr/>
          <p:nvPr/>
        </p:nvSpPr>
        <p:spPr>
          <a:xfrm>
            <a:off x="548640" y="4091940"/>
            <a:ext cx="11094415" cy="971550"/>
          </a:xfrm>
          <a:prstGeom prst="roundRect">
            <a:avLst>
              <a:gd name="adj" fmla="val 11294"/>
            </a:avLst>
          </a:prstGeom>
          <a:solidFill>
            <a:srgbClr val="E9F5EE"/>
          </a:solidFill>
          <a:ln/>
        </p:spPr>
      </p:sp>
      <p:sp>
        <p:nvSpPr>
          <p:cNvPr id="12" name="icon-circle"/>
          <p:cNvSpPr/>
          <p:nvPr/>
        </p:nvSpPr>
        <p:spPr>
          <a:xfrm>
            <a:off x="777240" y="4326255"/>
            <a:ext cx="502920" cy="502920"/>
          </a:xfrm>
          <a:prstGeom prst="ellipse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pic>
        <p:nvPicPr>
          <p:cNvPr id="13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941" y="4446956"/>
            <a:ext cx="261518" cy="26151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508760" y="4091940"/>
            <a:ext cx="9905695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в) Забруднення океану — </a:t>
            </a:r>
            <a:pPr indent="0" marL="0">
              <a:buNone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проблема «людина і природа» (екологічна, освоєння Світового океану).</a:t>
            </a:r>
            <a:endParaRPr lang="en-US" sz="1700" dirty="0"/>
          </a:p>
        </p:txBody>
      </p:sp>
      <p:sp>
        <p:nvSpPr>
          <p:cNvPr id="15" name="Shape 10"/>
          <p:cNvSpPr/>
          <p:nvPr/>
        </p:nvSpPr>
        <p:spPr>
          <a:xfrm>
            <a:off x="548640" y="5246370"/>
            <a:ext cx="11094415" cy="971550"/>
          </a:xfrm>
          <a:prstGeom prst="roundRect">
            <a:avLst>
              <a:gd name="adj" fmla="val 11294"/>
            </a:avLst>
          </a:prstGeom>
          <a:solidFill>
            <a:srgbClr val="E9F5EE"/>
          </a:solidFill>
          <a:ln/>
        </p:spPr>
      </p:sp>
      <p:sp>
        <p:nvSpPr>
          <p:cNvPr id="16" name="icon-circle"/>
          <p:cNvSpPr/>
          <p:nvPr/>
        </p:nvSpPr>
        <p:spPr>
          <a:xfrm>
            <a:off x="777240" y="5480685"/>
            <a:ext cx="502920" cy="502920"/>
          </a:xfrm>
          <a:prstGeom prst="ellipse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pic>
        <p:nvPicPr>
          <p:cNvPr id="17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941" y="5601386"/>
            <a:ext cx="261518" cy="261518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508760" y="5246370"/>
            <a:ext cx="9905695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г) Нестача нафти і газу — </a:t>
            </a:r>
            <a:pPr indent="0" marL="0">
              <a:buNone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проблема «людина і природа» (енергетична, сировинна).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П'ять головних екологічних проблем</a:t>
            </a:r>
            <a:endParaRPr lang="en-US" sz="3200" dirty="0"/>
          </a:p>
        </p:txBody>
      </p:sp>
      <p:sp>
        <p:nvSpPr>
          <p:cNvPr id="3" name="card"/>
          <p:cNvSpPr/>
          <p:nvPr/>
        </p:nvSpPr>
        <p:spPr>
          <a:xfrm>
            <a:off x="548640" y="1325880"/>
            <a:ext cx="3515258" cy="2286000"/>
          </a:xfrm>
          <a:prstGeom prst="roundRect">
            <a:avLst>
              <a:gd name="adj" fmla="val 4800"/>
            </a:avLst>
          </a:prstGeom>
          <a:solidFill>
            <a:srgbClr val="E9F5EE"/>
          </a:solidFill>
          <a:ln/>
        </p:spPr>
      </p:sp>
      <p:sp>
        <p:nvSpPr>
          <p:cNvPr id="4" name="icon-circle"/>
          <p:cNvSpPr/>
          <p:nvPr/>
        </p:nvSpPr>
        <p:spPr>
          <a:xfrm>
            <a:off x="822960" y="1600200"/>
            <a:ext cx="685800" cy="6858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1764792"/>
            <a:ext cx="356616" cy="35661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91640" y="1600200"/>
            <a:ext cx="21893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Зміна клімату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423160"/>
            <a:ext cx="29666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Підвищення середньої температури атмосфери Землі.</a:t>
            </a:r>
            <a:endParaRPr lang="en-US" sz="1500" dirty="0"/>
          </a:p>
        </p:txBody>
      </p:sp>
      <p:sp>
        <p:nvSpPr>
          <p:cNvPr id="8" name="card"/>
          <p:cNvSpPr/>
          <p:nvPr/>
        </p:nvSpPr>
        <p:spPr>
          <a:xfrm>
            <a:off x="4338218" y="1325880"/>
            <a:ext cx="3515258" cy="2286000"/>
          </a:xfrm>
          <a:prstGeom prst="roundRect">
            <a:avLst>
              <a:gd name="adj" fmla="val 4800"/>
            </a:avLst>
          </a:prstGeom>
          <a:solidFill>
            <a:srgbClr val="E9F5EE"/>
          </a:solidFill>
          <a:ln/>
        </p:spPr>
      </p:sp>
      <p:sp>
        <p:nvSpPr>
          <p:cNvPr id="9" name="icon-circle"/>
          <p:cNvSpPr/>
          <p:nvPr/>
        </p:nvSpPr>
        <p:spPr>
          <a:xfrm>
            <a:off x="4612538" y="1600200"/>
            <a:ext cx="685800" cy="685800"/>
          </a:xfrm>
          <a:prstGeom prst="ellipse">
            <a:avLst/>
          </a:prstGeom>
          <a:solidFill>
            <a:srgbClr val="5C6B63"/>
          </a:solidFill>
          <a:ln w="12700">
            <a:solidFill>
              <a:srgbClr val="5C6B63"/>
            </a:solidFill>
            <a:prstDash val="solid"/>
          </a:ln>
        </p:spPr>
      </p:sp>
      <p:pic>
        <p:nvPicPr>
          <p:cNvPr id="10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7130" y="1764792"/>
            <a:ext cx="356616" cy="35661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481218" y="1600200"/>
            <a:ext cx="21893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Парникові гази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4612538" y="2423160"/>
            <a:ext cx="29666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Викиди затримують тепло Землі — парниковий ефект.</a:t>
            </a:r>
            <a:endParaRPr lang="en-US" sz="1500" dirty="0"/>
          </a:p>
        </p:txBody>
      </p:sp>
      <p:sp>
        <p:nvSpPr>
          <p:cNvPr id="13" name="card"/>
          <p:cNvSpPr/>
          <p:nvPr/>
        </p:nvSpPr>
        <p:spPr>
          <a:xfrm>
            <a:off x="8127797" y="1325880"/>
            <a:ext cx="3515258" cy="2286000"/>
          </a:xfrm>
          <a:prstGeom prst="roundRect">
            <a:avLst>
              <a:gd name="adj" fmla="val 4800"/>
            </a:avLst>
          </a:prstGeom>
          <a:solidFill>
            <a:srgbClr val="E9F5EE"/>
          </a:solidFill>
          <a:ln/>
        </p:spPr>
      </p:sp>
      <p:sp>
        <p:nvSpPr>
          <p:cNvPr id="14" name="icon-circle"/>
          <p:cNvSpPr/>
          <p:nvPr/>
        </p:nvSpPr>
        <p:spPr>
          <a:xfrm>
            <a:off x="8402117" y="1600200"/>
            <a:ext cx="685800" cy="685800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pic>
        <p:nvPicPr>
          <p:cNvPr id="15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6709" y="1764792"/>
            <a:ext cx="356616" cy="356616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9270797" y="1600200"/>
            <a:ext cx="21893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Перевитрата відновних ресурсів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8402117" y="2423160"/>
            <a:ext cx="29666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Ліси, прісна вода, риба використовуються швидше, ніж відновлюються.</a:t>
            </a:r>
            <a:endParaRPr lang="en-US" sz="1500" dirty="0"/>
          </a:p>
        </p:txBody>
      </p:sp>
      <p:sp>
        <p:nvSpPr>
          <p:cNvPr id="18" name="card"/>
          <p:cNvSpPr/>
          <p:nvPr/>
        </p:nvSpPr>
        <p:spPr>
          <a:xfrm>
            <a:off x="548640" y="3886200"/>
            <a:ext cx="3515258" cy="2286000"/>
          </a:xfrm>
          <a:prstGeom prst="roundRect">
            <a:avLst>
              <a:gd name="adj" fmla="val 4800"/>
            </a:avLst>
          </a:prstGeom>
          <a:solidFill>
            <a:srgbClr val="E9F5EE"/>
          </a:solidFill>
          <a:ln/>
        </p:spPr>
      </p:sp>
      <p:sp>
        <p:nvSpPr>
          <p:cNvPr id="19" name="icon-circle"/>
          <p:cNvSpPr/>
          <p:nvPr/>
        </p:nvSpPr>
        <p:spPr>
          <a:xfrm>
            <a:off x="822960" y="4160520"/>
            <a:ext cx="685800" cy="6858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20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" y="4325112"/>
            <a:ext cx="356616" cy="356616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691640" y="4160520"/>
            <a:ext cx="21893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Виснаження і забруднення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822960" y="4983480"/>
            <a:ext cx="29666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Деградація ґрунтів, природних вод, ландшафтів.</a:t>
            </a:r>
            <a:endParaRPr lang="en-US" sz="1500" dirty="0"/>
          </a:p>
        </p:txBody>
      </p:sp>
      <p:sp>
        <p:nvSpPr>
          <p:cNvPr id="23" name="card"/>
          <p:cNvSpPr/>
          <p:nvPr/>
        </p:nvSpPr>
        <p:spPr>
          <a:xfrm>
            <a:off x="4338218" y="3886200"/>
            <a:ext cx="3515258" cy="2286000"/>
          </a:xfrm>
          <a:prstGeom prst="roundRect">
            <a:avLst>
              <a:gd name="adj" fmla="val 4800"/>
            </a:avLst>
          </a:prstGeom>
          <a:solidFill>
            <a:srgbClr val="E9F5EE"/>
          </a:solidFill>
          <a:ln/>
        </p:spPr>
      </p:sp>
      <p:sp>
        <p:nvSpPr>
          <p:cNvPr id="24" name="icon-circle"/>
          <p:cNvSpPr/>
          <p:nvPr/>
        </p:nvSpPr>
        <p:spPr>
          <a:xfrm>
            <a:off x="4612538" y="4160520"/>
            <a:ext cx="685800" cy="685800"/>
          </a:xfrm>
          <a:prstGeom prst="ellipse">
            <a:avLst/>
          </a:prstGeom>
          <a:solidFill>
            <a:srgbClr val="457B9D"/>
          </a:solidFill>
          <a:ln w="12700">
            <a:solidFill>
              <a:srgbClr val="457B9D"/>
            </a:solidFill>
            <a:prstDash val="solid"/>
          </a:ln>
        </p:spPr>
      </p:sp>
      <p:pic>
        <p:nvPicPr>
          <p:cNvPr id="25" name="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7130" y="4325112"/>
            <a:ext cx="356616" cy="356616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5481218" y="4160520"/>
            <a:ext cx="21893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Скорочення біорізноманіття</a:t>
            </a:r>
            <a:endParaRPr lang="en-US" sz="1600" dirty="0"/>
          </a:p>
        </p:txBody>
      </p:sp>
      <p:sp>
        <p:nvSpPr>
          <p:cNvPr id="27" name="Text 20"/>
          <p:cNvSpPr txBox="1"/>
          <p:nvPr/>
        </p:nvSpPr>
        <p:spPr>
          <a:xfrm>
            <a:off x="4612538" y="4983480"/>
            <a:ext cx="29666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Загибель багатьох видів і знищення їхніх домівок.</a:t>
            </a:r>
            <a:endParaRPr lang="en-US" sz="1500" dirty="0"/>
          </a:p>
        </p:txBody>
      </p:sp>
      <p:sp>
        <p:nvSpPr>
          <p:cNvPr id="28" name="card"/>
          <p:cNvSpPr/>
          <p:nvPr/>
        </p:nvSpPr>
        <p:spPr>
          <a:xfrm>
            <a:off x="8127797" y="3886200"/>
            <a:ext cx="3515258" cy="2286000"/>
          </a:xfrm>
          <a:prstGeom prst="roundRect">
            <a:avLst>
              <a:gd name="adj" fmla="val 4800"/>
            </a:avLst>
          </a:prstGeom>
          <a:solidFill>
            <a:srgbClr val="E9F5EE"/>
          </a:solidFill>
          <a:ln/>
        </p:spPr>
      </p:sp>
      <p:sp>
        <p:nvSpPr>
          <p:cNvPr id="29" name="icon-circle"/>
          <p:cNvSpPr/>
          <p:nvPr/>
        </p:nvSpPr>
        <p:spPr>
          <a:xfrm>
            <a:off x="8402117" y="4160520"/>
            <a:ext cx="685800" cy="685800"/>
          </a:xfrm>
          <a:prstGeom prst="ellipse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pic>
        <p:nvPicPr>
          <p:cNvPr id="30" name="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66709" y="4325112"/>
            <a:ext cx="356616" cy="356616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9270797" y="4160520"/>
            <a:ext cx="21893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Далі — кожна детально</a:t>
            </a:r>
            <a:endParaRPr lang="en-US" sz="1600" dirty="0"/>
          </a:p>
        </p:txBody>
      </p:sp>
      <p:sp>
        <p:nvSpPr>
          <p:cNvPr id="32" name="Text 24"/>
          <p:cNvSpPr txBox="1"/>
          <p:nvPr/>
        </p:nvSpPr>
        <p:spPr>
          <a:xfrm>
            <a:off x="8402117" y="4983480"/>
            <a:ext cx="29666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прикладами і свіжими даними.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Глобальна зміна клімату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515258" cy="3108960"/>
          </a:xfrm>
          <a:prstGeom prst="roundRect">
            <a:avLst>
              <a:gd name="adj" fmla="val 3529"/>
            </a:avLst>
          </a:prstGeom>
          <a:solidFill>
            <a:srgbClr val="E9F5E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645920"/>
            <a:ext cx="314949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+1,5 °C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880360"/>
            <a:ext cx="305805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стільки 2024 рік був теплішим за доіндустріальний рівень — найтепліший рік за всю історію спостережень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338218" y="1463040"/>
            <a:ext cx="3515258" cy="3108960"/>
          </a:xfrm>
          <a:prstGeom prst="roundRect">
            <a:avLst>
              <a:gd name="adj" fmla="val 3529"/>
            </a:avLst>
          </a:prstGeom>
          <a:solidFill>
            <a:srgbClr val="E9F5E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21098" y="1645920"/>
            <a:ext cx="314949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457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з 10</a:t>
            </a:r>
            <a:endParaRPr lang="en-US" sz="5400" dirty="0"/>
          </a:p>
        </p:txBody>
      </p:sp>
      <p:sp>
        <p:nvSpPr>
          <p:cNvPr id="8" name="Text 6"/>
          <p:cNvSpPr txBox="1"/>
          <p:nvPr/>
        </p:nvSpPr>
        <p:spPr>
          <a:xfrm>
            <a:off x="4566818" y="2880360"/>
            <a:ext cx="305805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найтепліших років за історію вимірювань припали на останнє десятиліття (2015–2024)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127797" y="1463040"/>
            <a:ext cx="3515258" cy="3108960"/>
          </a:xfrm>
          <a:prstGeom prst="roundRect">
            <a:avLst>
              <a:gd name="adj" fmla="val 3529"/>
            </a:avLst>
          </a:prstGeom>
          <a:solidFill>
            <a:srgbClr val="E9F5E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310677" y="1645920"/>
            <a:ext cx="314949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частіше</a:t>
            </a:r>
            <a:endParaRPr lang="en-US" sz="5400" dirty="0"/>
          </a:p>
        </p:txBody>
      </p:sp>
      <p:sp>
        <p:nvSpPr>
          <p:cNvPr id="11" name="Text 9"/>
          <p:cNvSpPr txBox="1"/>
          <p:nvPr/>
        </p:nvSpPr>
        <p:spPr>
          <a:xfrm>
            <a:off x="8356397" y="2880360"/>
            <a:ext cx="305805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посухи, спека, зливи, повені, лісові пожежі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4846320"/>
            <a:ext cx="11094415" cy="1051560"/>
          </a:xfrm>
          <a:prstGeom prst="roundRect">
            <a:avLst>
              <a:gd name="adj" fmla="val 8696"/>
            </a:avLst>
          </a:prstGeom>
          <a:solidFill>
            <a:srgbClr val="FDF1E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2960" y="4846320"/>
            <a:ext cx="1054577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Зміна клімату — частина глобальних змін природного середовища: змінюються тепловий баланс атмосфери, циркуляція вод океану і кругообіг води. Причини — і антропогенні (парниковий ефект), і природні.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59893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Джерело: Copernicus Climate Change Service, WMO, 2025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Парникові гази і парниковий ефект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парниковий ефект працює — на прикладі машини на сонці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464994" cy="2834640"/>
          </a:xfrm>
          <a:prstGeom prst="roundRect">
            <a:avLst>
              <a:gd name="adj" fmla="val 4451"/>
            </a:avLst>
          </a:prstGeom>
          <a:solidFill>
            <a:srgbClr val="E9F5EE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2011680"/>
            <a:ext cx="2464994" cy="868680"/>
          </a:xfrm>
          <a:prstGeom prst="roundRect">
            <a:avLst>
              <a:gd name="adj" fmla="val 12632"/>
            </a:avLst>
          </a:prstGeom>
          <a:solidFill>
            <a:srgbClr val="F4A26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6817" y="2167128"/>
            <a:ext cx="548640" cy="5486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3017520"/>
            <a:ext cx="228211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Сонце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3794760"/>
            <a:ext cx="224553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сонячне світло проходить крізь атмосферу і нагріває Землю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077642" y="3246120"/>
            <a:ext cx="283464" cy="365760"/>
          </a:xfrm>
          <a:prstGeom prst="rightArrow">
            <a:avLst/>
          </a:prstGeom>
          <a:solidFill>
            <a:srgbClr val="F4A261"/>
          </a:solidFill>
          <a:ln/>
        </p:spPr>
      </p:sp>
      <p:sp>
        <p:nvSpPr>
          <p:cNvPr id="10" name="Shape 7"/>
          <p:cNvSpPr/>
          <p:nvPr/>
        </p:nvSpPr>
        <p:spPr>
          <a:xfrm>
            <a:off x="3425114" y="2011680"/>
            <a:ext cx="2464994" cy="2834640"/>
          </a:xfrm>
          <a:prstGeom prst="roundRect">
            <a:avLst>
              <a:gd name="adj" fmla="val 4451"/>
            </a:avLst>
          </a:prstGeom>
          <a:solidFill>
            <a:srgbClr val="E9F5EE"/>
          </a:solidFill>
          <a:ln/>
        </p:spPr>
      </p:sp>
      <p:sp>
        <p:nvSpPr>
          <p:cNvPr id="11" name="Shape 8"/>
          <p:cNvSpPr/>
          <p:nvPr/>
        </p:nvSpPr>
        <p:spPr>
          <a:xfrm>
            <a:off x="3425114" y="2011680"/>
            <a:ext cx="2464994" cy="868680"/>
          </a:xfrm>
          <a:prstGeom prst="roundRect">
            <a:avLst>
              <a:gd name="adj" fmla="val 12632"/>
            </a:avLst>
          </a:prstGeom>
          <a:solidFill>
            <a:srgbClr val="2D6A4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3291" y="2167128"/>
            <a:ext cx="548640" cy="54864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516554" y="3017520"/>
            <a:ext cx="228211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Земля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3534842" y="3794760"/>
            <a:ext cx="224553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нагріта поверхня віддає тепло назад у вигляді теплового випромінювання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5954116" y="3246120"/>
            <a:ext cx="283464" cy="365760"/>
          </a:xfrm>
          <a:prstGeom prst="rightArrow">
            <a:avLst/>
          </a:prstGeom>
          <a:solidFill>
            <a:srgbClr val="F4A261"/>
          </a:solidFill>
          <a:ln/>
        </p:spPr>
      </p:sp>
      <p:sp>
        <p:nvSpPr>
          <p:cNvPr id="16" name="Shape 12"/>
          <p:cNvSpPr/>
          <p:nvPr/>
        </p:nvSpPr>
        <p:spPr>
          <a:xfrm>
            <a:off x="6301588" y="2011680"/>
            <a:ext cx="2464994" cy="2834640"/>
          </a:xfrm>
          <a:prstGeom prst="roundRect">
            <a:avLst>
              <a:gd name="adj" fmla="val 4451"/>
            </a:avLst>
          </a:prstGeom>
          <a:solidFill>
            <a:srgbClr val="E9F5EE"/>
          </a:solidFill>
          <a:ln/>
        </p:spPr>
      </p:sp>
      <p:sp>
        <p:nvSpPr>
          <p:cNvPr id="17" name="Shape 13"/>
          <p:cNvSpPr/>
          <p:nvPr/>
        </p:nvSpPr>
        <p:spPr>
          <a:xfrm>
            <a:off x="6301588" y="2011680"/>
            <a:ext cx="2464994" cy="868680"/>
          </a:xfrm>
          <a:prstGeom prst="roundRect">
            <a:avLst>
              <a:gd name="adj" fmla="val 12632"/>
            </a:avLst>
          </a:prstGeom>
          <a:solidFill>
            <a:srgbClr val="5C6B63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9765" y="2167128"/>
            <a:ext cx="548640" cy="54864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393028" y="3017520"/>
            <a:ext cx="228211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Парникові гази</a:t>
            </a:r>
            <a:endParaRPr lang="en-US" sz="1700" dirty="0"/>
          </a:p>
        </p:txBody>
      </p:sp>
      <p:sp>
        <p:nvSpPr>
          <p:cNvPr id="20" name="Text 15"/>
          <p:cNvSpPr txBox="1"/>
          <p:nvPr/>
        </p:nvSpPr>
        <p:spPr>
          <a:xfrm>
            <a:off x="6411316" y="3794760"/>
            <a:ext cx="224553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CO₂, метан та інші затримують це тепло, як скло в теплиці чи в машині</a:t>
            </a:r>
            <a:endParaRPr lang="en-US" sz="1600" dirty="0"/>
          </a:p>
        </p:txBody>
      </p:sp>
      <p:sp>
        <p:nvSpPr>
          <p:cNvPr id="21" name="Shape 16"/>
          <p:cNvSpPr/>
          <p:nvPr/>
        </p:nvSpPr>
        <p:spPr>
          <a:xfrm>
            <a:off x="8830589" y="3246120"/>
            <a:ext cx="283464" cy="365760"/>
          </a:xfrm>
          <a:prstGeom prst="rightArrow">
            <a:avLst/>
          </a:prstGeom>
          <a:solidFill>
            <a:srgbClr val="F4A261"/>
          </a:solidFill>
          <a:ln/>
        </p:spPr>
      </p:sp>
      <p:sp>
        <p:nvSpPr>
          <p:cNvPr id="22" name="Shape 17"/>
          <p:cNvSpPr/>
          <p:nvPr/>
        </p:nvSpPr>
        <p:spPr>
          <a:xfrm>
            <a:off x="9178061" y="2011680"/>
            <a:ext cx="2464994" cy="2834640"/>
          </a:xfrm>
          <a:prstGeom prst="roundRect">
            <a:avLst>
              <a:gd name="adj" fmla="val 4451"/>
            </a:avLst>
          </a:prstGeom>
          <a:solidFill>
            <a:srgbClr val="E9F5EE"/>
          </a:solidFill>
          <a:ln/>
        </p:spPr>
      </p:sp>
      <p:sp>
        <p:nvSpPr>
          <p:cNvPr id="23" name="Shape 18"/>
          <p:cNvSpPr/>
          <p:nvPr/>
        </p:nvSpPr>
        <p:spPr>
          <a:xfrm>
            <a:off x="9178061" y="2011680"/>
            <a:ext cx="2464994" cy="868680"/>
          </a:xfrm>
          <a:prstGeom prst="roundRect">
            <a:avLst>
              <a:gd name="adj" fmla="val 12632"/>
            </a:avLst>
          </a:prstGeom>
          <a:solidFill>
            <a:srgbClr val="E76F51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36238" y="2167128"/>
            <a:ext cx="548640" cy="54864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9269501" y="3017520"/>
            <a:ext cx="228211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Потепління</a:t>
            </a:r>
            <a:endParaRPr lang="en-US" sz="1700" dirty="0"/>
          </a:p>
        </p:txBody>
      </p:sp>
      <p:sp>
        <p:nvSpPr>
          <p:cNvPr id="26" name="Text 20"/>
          <p:cNvSpPr txBox="1"/>
          <p:nvPr/>
        </p:nvSpPr>
        <p:spPr>
          <a:xfrm>
            <a:off x="9287789" y="3794760"/>
            <a:ext cx="224553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більше парникових газів, то тепліше на планеті</a:t>
            </a:r>
            <a:endParaRPr lang="en-US" sz="1600" dirty="0"/>
          </a:p>
        </p:txBody>
      </p:sp>
      <p:sp>
        <p:nvSpPr>
          <p:cNvPr id="27" name="Shape 21"/>
          <p:cNvSpPr/>
          <p:nvPr/>
        </p:nvSpPr>
        <p:spPr>
          <a:xfrm>
            <a:off x="548640" y="5120640"/>
            <a:ext cx="11094415" cy="1005840"/>
          </a:xfrm>
          <a:prstGeom prst="roundRect">
            <a:avLst>
              <a:gd name="adj" fmla="val 9091"/>
            </a:avLst>
          </a:prstGeom>
          <a:solidFill>
            <a:srgbClr val="FDF1E4"/>
          </a:solidFill>
          <a:ln/>
        </p:spPr>
      </p:sp>
      <p:sp>
        <p:nvSpPr>
          <p:cNvPr id="28" name="Text 22"/>
          <p:cNvSpPr txBox="1"/>
          <p:nvPr/>
        </p:nvSpPr>
        <p:spPr>
          <a:xfrm>
            <a:off x="822960" y="5120640"/>
            <a:ext cx="1054577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Концентрація парникових газів в атмосфері неухильно зростає. Цій проблемі присвячений Кіотський протокол — про нього ви напишете вдома.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3–4. Ресурси і забруднення: людство «живе в кредит»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515258" cy="3108960"/>
          </a:xfrm>
          <a:prstGeom prst="roundRect">
            <a:avLst>
              <a:gd name="adj" fmla="val 3529"/>
            </a:avLst>
          </a:prstGeom>
          <a:solidFill>
            <a:srgbClr val="E9F5E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645920"/>
            <a:ext cx="314949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липня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880360"/>
            <a:ext cx="305805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День екологічного боргу у 2025 р.: до цієї дати людство використало все, що Земля відновлює за рік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338218" y="1463040"/>
            <a:ext cx="3515258" cy="3108960"/>
          </a:xfrm>
          <a:prstGeom prst="roundRect">
            <a:avLst>
              <a:gd name="adj" fmla="val 3529"/>
            </a:avLst>
          </a:prstGeom>
          <a:solidFill>
            <a:srgbClr val="E9F5E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21098" y="1645920"/>
            <a:ext cx="314949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457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1,7</a:t>
            </a:r>
            <a:endParaRPr lang="en-US" sz="5400" dirty="0"/>
          </a:p>
        </p:txBody>
      </p:sp>
      <p:sp>
        <p:nvSpPr>
          <p:cNvPr id="8" name="Text 6"/>
          <p:cNvSpPr txBox="1"/>
          <p:nvPr/>
        </p:nvSpPr>
        <p:spPr>
          <a:xfrm>
            <a:off x="4566818" y="2880360"/>
            <a:ext cx="305805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стільки планет Земля потрібно, щоб відновлювати все, що людство споживає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127797" y="1463040"/>
            <a:ext cx="3515258" cy="3108960"/>
          </a:xfrm>
          <a:prstGeom prst="roundRect">
            <a:avLst>
              <a:gd name="adj" fmla="val 3529"/>
            </a:avLst>
          </a:prstGeom>
          <a:solidFill>
            <a:srgbClr val="E9F5E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310677" y="1645920"/>
            <a:ext cx="314949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8,2 млрд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8356397" y="2880360"/>
            <a:ext cx="305805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людей на Землі (2025). Потреби зростають щороку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4846320"/>
            <a:ext cx="11094415" cy="1051560"/>
          </a:xfrm>
          <a:prstGeom prst="roundRect">
            <a:avLst>
              <a:gd name="adj" fmla="val 8696"/>
            </a:avLst>
          </a:prstGeom>
          <a:solidFill>
            <a:srgbClr val="FDF1E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2960" y="4846320"/>
            <a:ext cx="1054577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Відновні ресурси — ліси, прісна вода, риба — використовуються швидше, ніж природа встигає їх відновити. Разом із забрудненням це веде до деградації ґрунтів, вод і ландшафтів.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59893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Джерело: Global Footprint Network; ООН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Скорочення біорізноманіття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515258" cy="3108960"/>
          </a:xfrm>
          <a:prstGeom prst="roundRect">
            <a:avLst>
              <a:gd name="adj" fmla="val 3529"/>
            </a:avLst>
          </a:prstGeom>
          <a:solidFill>
            <a:srgbClr val="E9F5E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645920"/>
            <a:ext cx="314949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−73 %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880360"/>
            <a:ext cx="305805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стільки в середньому зменшилися популяції диких тварин з 1970 р.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338218" y="1463040"/>
            <a:ext cx="3515258" cy="3108960"/>
          </a:xfrm>
          <a:prstGeom prst="roundRect">
            <a:avLst>
              <a:gd name="adj" fmla="val 3529"/>
            </a:avLst>
          </a:prstGeom>
          <a:solidFill>
            <a:srgbClr val="E9F5E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21098" y="1645920"/>
            <a:ext cx="314949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457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 млн</a:t>
            </a:r>
            <a:endParaRPr lang="en-US" sz="5400" dirty="0"/>
          </a:p>
        </p:txBody>
      </p:sp>
      <p:sp>
        <p:nvSpPr>
          <p:cNvPr id="8" name="Text 6"/>
          <p:cNvSpPr txBox="1"/>
          <p:nvPr/>
        </p:nvSpPr>
        <p:spPr>
          <a:xfrm>
            <a:off x="4566818" y="2880360"/>
            <a:ext cx="305805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видів рослин і тварин під загрозою зникнення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127797" y="1463040"/>
            <a:ext cx="3515258" cy="3108960"/>
          </a:xfrm>
          <a:prstGeom prst="roundRect">
            <a:avLst>
              <a:gd name="adj" fmla="val 3529"/>
            </a:avLst>
          </a:prstGeom>
          <a:solidFill>
            <a:srgbClr val="E9F5E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310677" y="1645920"/>
            <a:ext cx="314949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головна причина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8356397" y="2880360"/>
            <a:ext cx="305805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знищення середовищ існування: вирубка лісів, розорювання, осушення, забудова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4846320"/>
            <a:ext cx="11094415" cy="1051560"/>
          </a:xfrm>
          <a:prstGeom prst="roundRect">
            <a:avLst>
              <a:gd name="adj" fmla="val 8696"/>
            </a:avLst>
          </a:prstGeom>
          <a:solidFill>
            <a:srgbClr val="FDF1E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2960" y="4846320"/>
            <a:ext cx="1054577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Скорочення біорізноманіття — загибель багатьох видів через непомірне знищення та руйнування природних домівок тварин і рослин людиною.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59893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Джерело: WWF Living Planet Report 2024; IPBES 2019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-circle"/>
          <p:cNvSpPr/>
          <p:nvPr/>
        </p:nvSpPr>
        <p:spPr>
          <a:xfrm>
            <a:off x="548640" y="548640"/>
            <a:ext cx="1005840" cy="100584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042" y="790042"/>
            <a:ext cx="523037" cy="52303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8288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МІФ ЧИ ФАКТ?  1/3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828800"/>
            <a:ext cx="1109441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«Глобальне потепління означає, що всюди просто стане тепліше і зими зникнуть»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51206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95D5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Голосуємо: рука вгору — МІФ, дві руки — ФАКТ. Чому ви так вважаєте?</a:t>
            </a:r>
            <a:endParaRPr lang="en-US" sz="1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377440" cy="685800"/>
          </a:xfrm>
          <a:prstGeom prst="roundRect">
            <a:avLst>
              <a:gd name="adj" fmla="val 13333"/>
            </a:avLst>
          </a:prstGeom>
          <a:solidFill>
            <a:srgbClr val="E76F5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МІФ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3200400" y="365760"/>
            <a:ext cx="84426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i="1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«Глобальне потепління означає, що всюди просто стане тепліше і зими зникнуть»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94415" cy="4023360"/>
          </a:xfrm>
          <a:prstGeom prst="roundRect">
            <a:avLst>
              <a:gd name="adj" fmla="val 3409"/>
            </a:avLst>
          </a:prstGeom>
          <a:solidFill>
            <a:srgbClr val="FCE9E3"/>
          </a:solidFill>
          <a:ln/>
        </p:spPr>
      </p:sp>
      <p:sp>
        <p:nvSpPr>
          <p:cNvPr id="6" name="icon-circle"/>
          <p:cNvSpPr/>
          <p:nvPr/>
        </p:nvSpPr>
        <p:spPr>
          <a:xfrm>
            <a:off x="960120" y="3063240"/>
            <a:ext cx="1005840" cy="100584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1522" y="3304642"/>
            <a:ext cx="523037" cy="523037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2286000" y="1783080"/>
            <a:ext cx="8991295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Зростає середня температура планети, але головне — клімат стає нестабільним: частішають і спека, і зливи, і посухи, і різкі похолодання. Снігові зими можуть траплятися, але рідше.</a:t>
            </a:r>
            <a:endParaRPr lang="en-US" sz="2200" dirty="0"/>
          </a:p>
        </p:txBody>
      </p:sp>
      <p:sp>
        <p:nvSpPr>
          <p:cNvPr id="10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-circle"/>
          <p:cNvSpPr/>
          <p:nvPr/>
        </p:nvSpPr>
        <p:spPr>
          <a:xfrm>
            <a:off x="548640" y="548640"/>
            <a:ext cx="1005840" cy="100584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042" y="790042"/>
            <a:ext cx="523037" cy="52303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8288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МІФ ЧИ ФАКТ?  2/3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828800"/>
            <a:ext cx="1109441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«Парниковий ефект — це завжди погано»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51206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95D5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Голосуємо: рука вгору — МІФ, дві руки — ФАКТ. Чому ви так вважаєте?</a:t>
            </a:r>
            <a:endParaRPr lang="en-US" sz="17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377440" cy="685800"/>
          </a:xfrm>
          <a:prstGeom prst="roundRect">
            <a:avLst>
              <a:gd name="adj" fmla="val 13333"/>
            </a:avLst>
          </a:prstGeom>
          <a:solidFill>
            <a:srgbClr val="E76F5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МІФ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3200400" y="365760"/>
            <a:ext cx="84426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i="1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«Парниковий ефект — це завжди погано»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94415" cy="4023360"/>
          </a:xfrm>
          <a:prstGeom prst="roundRect">
            <a:avLst>
              <a:gd name="adj" fmla="val 3409"/>
            </a:avLst>
          </a:prstGeom>
          <a:solidFill>
            <a:srgbClr val="FCE9E3"/>
          </a:solidFill>
          <a:ln/>
        </p:spPr>
      </p:sp>
      <p:sp>
        <p:nvSpPr>
          <p:cNvPr id="6" name="icon-circle"/>
          <p:cNvSpPr/>
          <p:nvPr/>
        </p:nvSpPr>
        <p:spPr>
          <a:xfrm>
            <a:off x="960120" y="3063240"/>
            <a:ext cx="1005840" cy="100584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1522" y="3304642"/>
            <a:ext cx="523037" cy="523037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2286000" y="1783080"/>
            <a:ext cx="8991295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Природний парниковий ефект — необхідний для життя. Без нього середня температура Землі була б близько −18 °C, а не +15 °C. Проблема — у посиленні ефекту через надлишок парникових газів від діяльності людини.</a:t>
            </a:r>
            <a:endParaRPr lang="en-US" sz="2200" dirty="0"/>
          </a:p>
        </p:txBody>
      </p:sp>
      <p:sp>
        <p:nvSpPr>
          <p:cNvPr id="10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-circle"/>
          <p:cNvSpPr/>
          <p:nvPr/>
        </p:nvSpPr>
        <p:spPr>
          <a:xfrm>
            <a:off x="548640" y="548640"/>
            <a:ext cx="1005840" cy="100584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042" y="790042"/>
            <a:ext cx="523037" cy="52303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8288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МІФ ЧИ ФАКТ?  3/3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828800"/>
            <a:ext cx="1109441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«Глобальні проблеми — це справа урядів, одна людина нічого не може змінити»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51206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95D5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Голосуємо: рука вгору — МІФ, дві руки — ФАКТ. Чому ви так вважаєте?</a:t>
            </a:r>
            <a:endParaRPr lang="en-US" sz="17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377440" cy="685800"/>
          </a:xfrm>
          <a:prstGeom prst="roundRect">
            <a:avLst>
              <a:gd name="adj" fmla="val 13333"/>
            </a:avLst>
          </a:prstGeom>
          <a:solidFill>
            <a:srgbClr val="E76F5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МІФ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3200400" y="365760"/>
            <a:ext cx="84426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i="1" dirty="0">
                <a:solidFill>
                  <a:srgbClr val="5C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«Глобальні проблеми — це справа урядів, одна людина нічого не може змінити»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94415" cy="4023360"/>
          </a:xfrm>
          <a:prstGeom prst="roundRect">
            <a:avLst>
              <a:gd name="adj" fmla="val 3409"/>
            </a:avLst>
          </a:prstGeom>
          <a:solidFill>
            <a:srgbClr val="FCE9E3"/>
          </a:solidFill>
          <a:ln/>
        </p:spPr>
      </p:sp>
      <p:sp>
        <p:nvSpPr>
          <p:cNvPr id="6" name="icon-circle"/>
          <p:cNvSpPr/>
          <p:nvPr/>
        </p:nvSpPr>
        <p:spPr>
          <a:xfrm>
            <a:off x="960120" y="3063240"/>
            <a:ext cx="1005840" cy="100584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1522" y="3304642"/>
            <a:ext cx="523037" cy="523037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2286000" y="1783080"/>
            <a:ext cx="8991295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Уряди підписують угоди, але споживає ресурси кожен з нас. Те, що ми купуємо, як їздимо, скільки викидаємо, чи сортуємо сміття, — разом у мільйонів людей дає величезний ефект.</a:t>
            </a:r>
            <a:endParaRPr lang="en-US" sz="2200" dirty="0"/>
          </a:p>
        </p:txBody>
      </p:sp>
      <p:sp>
        <p:nvSpPr>
          <p:cNvPr id="10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ПЕРЕВІР СЕБЕ · 1/1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Яка головна причина посилення парникового ефекту?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60604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95D5B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3017520"/>
            <a:ext cx="640080" cy="64008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3017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691640" y="2606040"/>
            <a:ext cx="40384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Виверження вулканів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233008" y="260604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95D5B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07328" y="3017520"/>
            <a:ext cx="640080" cy="64008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07328" y="3017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7376008" y="2606040"/>
            <a:ext cx="40384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Збільшення викидів парникових газів діяльністю людини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48640" y="434340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95D5B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" y="4754880"/>
            <a:ext cx="640080" cy="64008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2960" y="4754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691640" y="4343400"/>
            <a:ext cx="40384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Руйнування озонового шару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233008" y="434340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95D5B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07328" y="4754880"/>
            <a:ext cx="640080" cy="64008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507328" y="4754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7376008" y="4343400"/>
            <a:ext cx="40384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Зміни сонячної активності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ПРАВИЛЬНА ВІДПОВІДЬ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Яка головна причина посилення парникового ефекту?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11094415" cy="1188720"/>
          </a:xfrm>
          <a:prstGeom prst="roundRect">
            <a:avLst>
              <a:gd name="adj" fmla="val 9231"/>
            </a:avLst>
          </a:prstGeom>
          <a:solidFill>
            <a:srgbClr val="2D6A4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377440"/>
            <a:ext cx="640080" cy="6400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737360" y="2103120"/>
            <a:ext cx="963137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Б) Збільшення викидів парникових газів діяльністю людини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548640" y="3566160"/>
            <a:ext cx="11094415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914400" y="3566160"/>
            <a:ext cx="10362895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76F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Чому так: </a:t>
            </a:r>
            <a:pPr indent="0" marL="0">
              <a:buNone/>
            </a:pPr>
            <a:r>
              <a:rPr lang="en-US" sz="20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Спалювання вугілля, нафти і газу, вирубка лісів, тваринництво збільшують кількість CO₂ і метану в атмосфері. Вони затримують тепло Землі. Природні фактори теж впливають, але значно менше.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Рольова гра: міжнародний саміт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760720" cy="4754880"/>
          </a:xfrm>
          <a:prstGeom prst="roundRect">
            <a:avLst>
              <a:gd name="adj" fmla="val 2885"/>
            </a:avLst>
          </a:prstGeom>
          <a:solidFill>
            <a:srgbClr val="E3EEF5"/>
          </a:solidFill>
          <a:ln/>
        </p:spPr>
      </p:sp>
      <p:sp>
        <p:nvSpPr>
          <p:cNvPr id="4" name="icon-circle"/>
          <p:cNvSpPr/>
          <p:nvPr/>
        </p:nvSpPr>
        <p:spPr>
          <a:xfrm>
            <a:off x="868680" y="1645920"/>
            <a:ext cx="777240" cy="777240"/>
          </a:xfrm>
          <a:prstGeom prst="ellipse">
            <a:avLst/>
          </a:prstGeom>
          <a:solidFill>
            <a:srgbClr val="457B9D"/>
          </a:solidFill>
          <a:ln w="12700">
            <a:solidFill>
              <a:srgbClr val="457B9D"/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5218" y="1832458"/>
            <a:ext cx="404165" cy="40416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828800" y="164592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57B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Ситуація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2606040"/>
            <a:ext cx="51206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 — делегати на саміті ООН. Кожна група представляє одну сторону: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уряд країни, що розвивається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велика промислова компанія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екологічна організація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молодь планети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Тема саміту: як зменшити викиди парникових газів на половину до 2035 року.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6583680" y="1371600"/>
            <a:ext cx="5059375" cy="4754880"/>
          </a:xfrm>
          <a:prstGeom prst="roundRect">
            <a:avLst>
              <a:gd name="adj" fmla="val 2885"/>
            </a:avLst>
          </a:prstGeom>
          <a:solidFill>
            <a:srgbClr val="1B433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903720" y="1645920"/>
            <a:ext cx="4419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95D5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Ваше завдання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6903720" y="2286000"/>
            <a:ext cx="4419295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Сформулюйте позицію своєї сторони: що ви готові зробити і чого хочете від інших?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Запропонуйте 2 конкретні рішення.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Спробуйте домовитися з іншими групами про спільний план.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6903720" y="5440680"/>
            <a:ext cx="4419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≈ 15 хв, 4 групи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Головне за сьогодні</a:t>
            </a:r>
            <a:endParaRPr lang="en-US" sz="3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53540"/>
            <a:ext cx="411480" cy="4114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34440" y="1463040"/>
            <a:ext cx="10408615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Природа, суспільство і господарство взаємопов'язані; у XX ст. внаслідок НТР вплив людини на природу різко зріс.</a:t>
            </a:r>
            <a:endParaRPr lang="en-US" sz="18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446020"/>
            <a:ext cx="411480" cy="41148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234440" y="2255520"/>
            <a:ext cx="10408615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Антропогенні фактори — спричинені діяльністю людини. Головна небезпека: безмежні потреби людства і обмежені можливості природи.</a:t>
            </a:r>
            <a:endParaRPr lang="en-US" sz="18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238500"/>
            <a:ext cx="411480" cy="41148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1234440" y="3048000"/>
            <a:ext cx="10408615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Глобальні проблеми виникли в другій половині XX ст.; вони загрожують балансу між суспільством і природою.</a:t>
            </a:r>
            <a:endParaRPr lang="en-US" sz="180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030980"/>
            <a:ext cx="411480" cy="41148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1234440" y="3840480"/>
            <a:ext cx="10408615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Три групи: інтерсоціальні; особистість і суспільство; людина і природа.</a:t>
            </a:r>
            <a:endParaRPr lang="en-US" sz="1800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4823460"/>
            <a:ext cx="411480" cy="411480"/>
          </a:xfrm>
          <a:prstGeom prst="rect">
            <a:avLst/>
          </a:prstGeom>
        </p:spPr>
      </p:pic>
      <p:sp>
        <p:nvSpPr>
          <p:cNvPr id="12" name="Text 5"/>
          <p:cNvSpPr txBox="1"/>
          <p:nvPr/>
        </p:nvSpPr>
        <p:spPr>
          <a:xfrm>
            <a:off x="1234440" y="4632960"/>
            <a:ext cx="10408615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Головні екологічні проблеми: зміна клімату, парникові гази, перевитрата ресурсів, забруднення, скорочення біорізноманіття.</a:t>
            </a:r>
            <a:endParaRPr lang="en-US" sz="1800" dirty="0"/>
          </a:p>
        </p:txBody>
      </p:sp>
      <p:pic>
        <p:nvPicPr>
          <p:cNvPr id="1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5615940"/>
            <a:ext cx="411480" cy="411480"/>
          </a:xfrm>
          <a:prstGeom prst="rect">
            <a:avLst/>
          </a:prstGeom>
        </p:spPr>
      </p:pic>
      <p:sp>
        <p:nvSpPr>
          <p:cNvPr id="14" name="Text 6"/>
          <p:cNvSpPr txBox="1"/>
          <p:nvPr/>
        </p:nvSpPr>
        <p:spPr>
          <a:xfrm>
            <a:off x="1234440" y="5425440"/>
            <a:ext cx="10408615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Шлях подолання екологічної кризи — раціональне використання природи і спільні дії всього людства.</a:t>
            </a:r>
            <a:endParaRPr lang="en-US" sz="1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-circle"/>
          <p:cNvSpPr/>
          <p:nvPr/>
        </p:nvSpPr>
        <p:spPr>
          <a:xfrm>
            <a:off x="548640" y="548640"/>
            <a:ext cx="1005840" cy="100584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pic>
        <p:nvPicPr>
          <p:cNvPr id="3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042" y="790042"/>
            <a:ext cx="523037" cy="52303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828800" y="7772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РЕФЛЕКСІЯ · ПРОДОВЖІТЬ РЕЧЕННЯ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548640" y="1920240"/>
            <a:ext cx="11094415" cy="960120"/>
          </a:xfrm>
          <a:prstGeom prst="roundRect">
            <a:avLst>
              <a:gd name="adj" fmla="val 11429"/>
            </a:avLst>
          </a:prstGeom>
          <a:solidFill>
            <a:srgbClr val="2D6A4F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14400" y="1920240"/>
            <a:ext cx="1036289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Найбільше мене турбує проблема…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548640" y="3108960"/>
            <a:ext cx="11094415" cy="960120"/>
          </a:xfrm>
          <a:prstGeom prst="roundRect">
            <a:avLst>
              <a:gd name="adj" fmla="val 11429"/>
            </a:avLst>
          </a:prstGeom>
          <a:solidFill>
            <a:srgbClr val="2D6A4F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914400" y="3108960"/>
            <a:ext cx="1036289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можу допомогти її розв'язати, якщо…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548640" y="4297680"/>
            <a:ext cx="11094415" cy="960120"/>
          </a:xfrm>
          <a:prstGeom prst="roundRect">
            <a:avLst>
              <a:gd name="adj" fmla="val 11429"/>
            </a:avLst>
          </a:prstGeom>
          <a:solidFill>
            <a:srgbClr val="2D6A4F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914400" y="4297680"/>
            <a:ext cx="1036289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Мене здивувало, що…</a:t>
            </a:r>
            <a:endParaRPr lang="en-US" sz="2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Домашнє завдання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69494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Вивчіть конспект. Знайте визначення: антропогенні фактори, глобальні проблеми, три групи глобальних проблем.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Коротко напишіть про Кіотський протокол: що це? хто його створив і для чого?</a:t>
            </a:r>
            <a:endParaRPr lang="en-US" sz="18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1F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Запропонуйте способи вирішення однієї з глобальних проблем (на ваш вибір).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863840" y="1371600"/>
            <a:ext cx="3779215" cy="3108960"/>
          </a:xfrm>
          <a:prstGeom prst="roundRect">
            <a:avLst>
              <a:gd name="adj" fmla="val 4412"/>
            </a:avLst>
          </a:prstGeom>
          <a:solidFill>
            <a:srgbClr val="1B4332"/>
          </a:solidFill>
          <a:ln/>
        </p:spPr>
      </p:sp>
      <p:sp>
        <p:nvSpPr>
          <p:cNvPr id="5" name="icon-circle"/>
          <p:cNvSpPr/>
          <p:nvPr/>
        </p:nvSpPr>
        <p:spPr>
          <a:xfrm>
            <a:off x="8183880" y="1645920"/>
            <a:ext cx="777240" cy="777240"/>
          </a:xfrm>
          <a:prstGeom prst="ellipse">
            <a:avLst/>
          </a:prstGeom>
          <a:solidFill>
            <a:srgbClr val="95D5B2"/>
          </a:solidFill>
          <a:ln w="12700">
            <a:solidFill>
              <a:srgbClr val="95D5B2"/>
            </a:solidFill>
            <a:prstDash val="solid"/>
          </a:ln>
        </p:spPr>
      </p:sp>
      <p:pic>
        <p:nvPicPr>
          <p:cNvPr id="6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70418" y="1832458"/>
            <a:ext cx="404165" cy="40416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144000" y="1645920"/>
            <a:ext cx="23161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95D5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Формат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183880" y="2651760"/>
            <a:ext cx="313913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Відповіді можна оформити письмово в зошиті або як коротку презентацію чи інфографіку (3–5 слайдів).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Природничі науки">
  <a:themeElements>
    <a:clrScheme name="Природничі науки">
      <a:dk1>
        <a:srgbClr val="1F2A24"/>
      </a:dk1>
      <a:lt1>
        <a:srgbClr val="FFFFFF"/>
      </a:lt1>
      <a:dk2>
        <a:srgbClr val="1B4332"/>
      </a:dk2>
      <a:lt2>
        <a:srgbClr val="E9F5EE"/>
      </a:lt2>
      <a:accent1>
        <a:srgbClr val="2D6A4F"/>
      </a:accent1>
      <a:accent2>
        <a:srgbClr val="95D5B2"/>
      </a:accent2>
      <a:accent3>
        <a:srgbClr val="F4A261"/>
      </a:accent3>
      <a:accent4>
        <a:srgbClr val="E76F51"/>
      </a:accent4>
      <a:accent5>
        <a:srgbClr val="457B9D"/>
      </a:accent5>
      <a:accent6>
        <a:srgbClr val="40916C"/>
      </a:accent6>
      <a:hlink>
        <a:srgbClr val="457B9D"/>
      </a:hlink>
      <a:folHlink>
        <a:srgbClr val="2D6A4F"/>
      </a:folHlink>
    </a:clrScheme>
    <a:fontScheme name="Природничі науки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Глобальні проблеми як наслідок антропогенного впливу</dc:title>
  <dc:subject>Природничі науки, 2 курс</dc:subject>
  <dc:creator>Баталова Т. П.</dc:creator>
  <cp:lastModifiedBy>Баталова Т. П.</cp:lastModifiedBy>
  <cp:revision>1</cp:revision>
  <dcterms:created xsi:type="dcterms:W3CDTF">2026-10-03T13:27:40Z</dcterms:created>
  <dcterms:modified xsi:type="dcterms:W3CDTF">2026-10-03T13:27:40Z</dcterms:modified>
</cp:coreProperties>
</file>