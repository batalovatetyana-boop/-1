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e5b9d801-861b-ed2c-62fb-effcbbb873cc}">
          <p14:sldIdLst>
            <p14:sldId id="256"/>
            <p14:sldId id="257"/>
            <p14:sldId id="258"/>
            <p14:sldId id="259"/>
          </p14:sldIdLst>
        </p14:section>
        <p14:section name="Біосфера як система" id="{87c4bf18-1d01-0bfe-3c9c-81d44f191322}">
          <p14:sldIdLst>
            <p14:sldId id="260"/>
            <p14:sldId id="261"/>
            <p14:sldId id="262"/>
            <p14:sldId id="263"/>
            <p14:sldId id="264"/>
          </p14:sldIdLst>
        </p14:section>
        <p14:section name="Межі біосфери" id="{079550eb-f04a-2df9-6641-eb89401b8e06}">
          <p14:sldIdLst>
            <p14:sldId id="265"/>
            <p14:sldId id="266"/>
            <p14:sldId id="267"/>
            <p14:sldId id="268"/>
            <p14:sldId id="269"/>
          </p14:sldIdLst>
        </p14:section>
        <p14:section name="Роль живих організмів" id="{cef64033-475e-9e87-ac52-3f9a6e348e77}">
          <p14:sldIdLst>
            <p14:sldId id="270"/>
            <p14:sldId id="271"/>
          </p14:sldIdLst>
        </p14:section>
        <p14:section name="Міфи і факти" id="{61e9ae05-8bff-3583-a024-a45fe26a3dfc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Закріплення" id="{779ec398-f6b0-8231-1113-4caef6e89eff}">
          <p14:sldIdLst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Привітання. Тема — біосфера: що це, де її межі і чому її називають найвищим рівнем організації життя.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Розминка. Не підказуйте. Вислухайте 3–5 думок. Відповідь — на наступному слайді.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Підведіть до головної ідеї лекції: живе і неживе на Землі пов'язані в одну систему.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Інтрига. Відповідь — на слайді «Перевіряємо ваші здогадки».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Пояснення назви теми. Біосфера — найвищий, найбільший рівень, який об'єднує всі інші.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конспектом. Розберіть назви оболонок — студентам легше запам'ятати через переклад.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Приклади з конспекту. Висновок: оболонки об'єднуються в цілісну систему і створюють умови для життя на планеті.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конспектом. Ключовий контраст: мало за масою — величезна роль.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конспектом. Біосфера — найбільша екосистема, яка існує.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конспектом. Що обмежує життя: вгорі — холод і ультрафіолет, внизу — щільність породи і температура.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Перші три цифри — з конспекту та підручника. Винятки, про які згадує конспект, — бактерії в глибоких шахтах.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конспектом.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Нехай пари назвуть, що потрібно для життя, і де все це є одночасно.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Висновок: межа оболонок — найкраще місце для життя.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конспектом. Приклад з крейдою: крейда, якою пишемо на дошці, — рештки мікроскопічних морських організмів.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 конспектом. Глобальний біотичний кругообіг відбувається за участю всіх організмів планети.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Голосування: міф чи факт. Попросіть пояснити.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Розбір.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Голосування: міф чи факт. Попросіть пояснити.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Розбір.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Голосування: міф чи факт. Попросіть пояснити.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Розбір.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Голосування.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Розбір.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Очікувані відповіді: 1 — так, мало життя (холод, вітер); 2 — ні, вище озонового екрану; 3 — так, багато (доходить світло, до 200 м); 4 — майже немає, лише винятки (нижня межа ~10 м); 5 — так, дуже багато (межа води і повітря, світло).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Рефлексія.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Домашнє завдання.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Біосфера Землі — найвищий рівень організації життя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rgbClr val="E9F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Біосфера Землі — найвищий рівень організації життя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097280"/>
            <a:ext cx="5669280" cy="56692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931920"/>
            <a:ext cx="3291840" cy="3291840"/>
          </a:xfrm>
          <a:prstGeom prst="ellipse">
            <a:avLst/>
          </a:prstGeom>
          <a:solidFill>
            <a:srgbClr val="40916C">
              <a:alpha val="60000"/>
            </a:srgbClr>
          </a:solidFill>
          <a:ln w="12700">
            <a:solidFill>
              <a:srgbClr val="40916C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27432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ЛЕКЦІЯ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Біосфера Землі — найвищий рівень організації життя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2976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9F5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оболонки Землі і живі організми утворюють єдину систему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Природничі науки · 2 курс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РОЗМИНКА · ПОДУМАЙТЕ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Уявіть, що на Землі зникло все живе. Чи змінилися б повітря, вода і ґрунт? Як саме?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120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Подумайте 1–2 хвилини і скажіть свою думку. Правильних варіантів може бути багато.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Земля без життя була б зовсім іншою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777240" y="201739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138096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78308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Повітря: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рослин і водоростей поступово зник би кисень — його виробляють живі організми.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9375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8" name="icon-circle"/>
          <p:cNvSpPr/>
          <p:nvPr/>
        </p:nvSpPr>
        <p:spPr>
          <a:xfrm>
            <a:off x="777240" y="317182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9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3292526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93751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Ґрунт: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бактерій, грибів, черв'яків і рослин ґрунту не було б — лише пісок і каміння.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40919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12" name="icon-circle"/>
          <p:cNvSpPr/>
          <p:nvPr/>
        </p:nvSpPr>
        <p:spPr>
          <a:xfrm>
            <a:off x="777240" y="432625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4446956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08760" y="409194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Вода: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змінився б склад морів і океанів — його теж підтримують живі організми.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48640" y="52463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16" name="icon-circle"/>
          <p:cNvSpPr/>
          <p:nvPr/>
        </p:nvSpPr>
        <p:spPr>
          <a:xfrm>
            <a:off x="777240" y="548068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5601386"/>
            <a:ext cx="261518" cy="26151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08760" y="524637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Висновок: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живі організми впливають на всі оболонки Землі. Разом з ними вони утворюють біосферу.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РОЗМИНКА · ПОДУМАЙТЕ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ви думаєте: як високо в повітрі і як глибоко під землею можна знайти живі організми?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120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Запишіть свої числа (у метрах або кілометрах). Перевіримо в середині лекції.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Рівні організації життя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Кожен наступний рівень складається з попередніх. Біосфера — найвищий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506169" cy="2834640"/>
          </a:xfrm>
          <a:prstGeom prst="roundRect">
            <a:avLst>
              <a:gd name="adj" fmla="val 7285"/>
            </a:avLst>
          </a:prstGeom>
          <a:solidFill>
            <a:srgbClr val="E9F5EE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1506169" cy="868680"/>
          </a:xfrm>
          <a:prstGeom prst="roundRect">
            <a:avLst>
              <a:gd name="adj" fmla="val 12632"/>
            </a:avLst>
          </a:prstGeom>
          <a:solidFill>
            <a:srgbClr val="1B433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405" y="2167128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3017520"/>
            <a:ext cx="13232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Молекулярний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794760"/>
            <a:ext cx="12867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ДНК, білки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118817" y="324612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10" name="Shape 7"/>
          <p:cNvSpPr/>
          <p:nvPr/>
        </p:nvSpPr>
        <p:spPr>
          <a:xfrm>
            <a:off x="2466289" y="2011680"/>
            <a:ext cx="1506169" cy="2834640"/>
          </a:xfrm>
          <a:prstGeom prst="roundRect">
            <a:avLst>
              <a:gd name="adj" fmla="val 7285"/>
            </a:avLst>
          </a:prstGeom>
          <a:solidFill>
            <a:srgbClr val="E9F5EE"/>
          </a:solidFill>
          <a:ln/>
        </p:spPr>
      </p:sp>
      <p:sp>
        <p:nvSpPr>
          <p:cNvPr id="11" name="Shape 8"/>
          <p:cNvSpPr/>
          <p:nvPr/>
        </p:nvSpPr>
        <p:spPr>
          <a:xfrm>
            <a:off x="2466289" y="2011680"/>
            <a:ext cx="1506169" cy="868680"/>
          </a:xfrm>
          <a:prstGeom prst="roundRect">
            <a:avLst>
              <a:gd name="adj" fmla="val 12632"/>
            </a:avLst>
          </a:prstGeom>
          <a:solidFill>
            <a:srgbClr val="2D6A4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5054" y="2167128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557729" y="3017520"/>
            <a:ext cx="13232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Клітинний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2576017" y="3794760"/>
            <a:ext cx="12867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клітина — найменша жива одиниця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036466" y="324612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16" name="Shape 12"/>
          <p:cNvSpPr/>
          <p:nvPr/>
        </p:nvSpPr>
        <p:spPr>
          <a:xfrm>
            <a:off x="4383938" y="2011680"/>
            <a:ext cx="1506169" cy="2834640"/>
          </a:xfrm>
          <a:prstGeom prst="roundRect">
            <a:avLst>
              <a:gd name="adj" fmla="val 7285"/>
            </a:avLst>
          </a:prstGeom>
          <a:solidFill>
            <a:srgbClr val="E9F5EE"/>
          </a:solidFill>
          <a:ln/>
        </p:spPr>
      </p:sp>
      <p:sp>
        <p:nvSpPr>
          <p:cNvPr id="17" name="Shape 13"/>
          <p:cNvSpPr/>
          <p:nvPr/>
        </p:nvSpPr>
        <p:spPr>
          <a:xfrm>
            <a:off x="4383938" y="2011680"/>
            <a:ext cx="1506169" cy="868680"/>
          </a:xfrm>
          <a:prstGeom prst="roundRect">
            <a:avLst>
              <a:gd name="adj" fmla="val 12632"/>
            </a:avLst>
          </a:prstGeom>
          <a:solidFill>
            <a:srgbClr val="40916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2703" y="2167128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4475378" y="3017520"/>
            <a:ext cx="13232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Організмовий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493666" y="3794760"/>
            <a:ext cx="12867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окрема рослина, тварина, людина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954116" y="324612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22" name="Shape 17"/>
          <p:cNvSpPr/>
          <p:nvPr/>
        </p:nvSpPr>
        <p:spPr>
          <a:xfrm>
            <a:off x="6301588" y="2011680"/>
            <a:ext cx="1506169" cy="2834640"/>
          </a:xfrm>
          <a:prstGeom prst="roundRect">
            <a:avLst>
              <a:gd name="adj" fmla="val 7285"/>
            </a:avLst>
          </a:prstGeom>
          <a:solidFill>
            <a:srgbClr val="E9F5EE"/>
          </a:solidFill>
          <a:ln/>
        </p:spPr>
      </p:sp>
      <p:sp>
        <p:nvSpPr>
          <p:cNvPr id="23" name="Shape 18"/>
          <p:cNvSpPr/>
          <p:nvPr/>
        </p:nvSpPr>
        <p:spPr>
          <a:xfrm>
            <a:off x="6301588" y="2011680"/>
            <a:ext cx="1506169" cy="868680"/>
          </a:xfrm>
          <a:prstGeom prst="roundRect">
            <a:avLst>
              <a:gd name="adj" fmla="val 12632"/>
            </a:avLst>
          </a:prstGeom>
          <a:solidFill>
            <a:srgbClr val="457B9D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0352" y="2167128"/>
            <a:ext cx="548640" cy="5486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393028" y="3017520"/>
            <a:ext cx="13232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Популяційно-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видовий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411316" y="3794760"/>
            <a:ext cx="12867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усі особини одного виду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7871765" y="324612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28" name="Shape 22"/>
          <p:cNvSpPr/>
          <p:nvPr/>
        </p:nvSpPr>
        <p:spPr>
          <a:xfrm>
            <a:off x="8219237" y="2011680"/>
            <a:ext cx="1506169" cy="2834640"/>
          </a:xfrm>
          <a:prstGeom prst="roundRect">
            <a:avLst>
              <a:gd name="adj" fmla="val 7285"/>
            </a:avLst>
          </a:prstGeom>
          <a:solidFill>
            <a:srgbClr val="E9F5EE"/>
          </a:solidFill>
          <a:ln/>
        </p:spPr>
      </p:sp>
      <p:sp>
        <p:nvSpPr>
          <p:cNvPr id="29" name="Shape 23"/>
          <p:cNvSpPr/>
          <p:nvPr/>
        </p:nvSpPr>
        <p:spPr>
          <a:xfrm>
            <a:off x="8219237" y="2011680"/>
            <a:ext cx="1506169" cy="868680"/>
          </a:xfrm>
          <a:prstGeom prst="roundRect">
            <a:avLst>
              <a:gd name="adj" fmla="val 12632"/>
            </a:avLst>
          </a:prstGeom>
          <a:solidFill>
            <a:srgbClr val="F4A261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8001" y="2167128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8310677" y="3017520"/>
            <a:ext cx="13232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Екосистемний</a:t>
            </a:r>
            <a:endParaRPr lang="en-US" sz="1300" dirty="0"/>
          </a:p>
        </p:txBody>
      </p:sp>
      <p:sp>
        <p:nvSpPr>
          <p:cNvPr id="32" name="Text 25"/>
          <p:cNvSpPr txBox="1"/>
          <p:nvPr/>
        </p:nvSpPr>
        <p:spPr>
          <a:xfrm>
            <a:off x="8328965" y="3794760"/>
            <a:ext cx="12867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ліс, озеро, луг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9789414" y="324612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34" name="Shape 27"/>
          <p:cNvSpPr/>
          <p:nvPr/>
        </p:nvSpPr>
        <p:spPr>
          <a:xfrm>
            <a:off x="10136886" y="2011680"/>
            <a:ext cx="1506169" cy="2834640"/>
          </a:xfrm>
          <a:prstGeom prst="roundRect">
            <a:avLst>
              <a:gd name="adj" fmla="val 7285"/>
            </a:avLst>
          </a:prstGeom>
          <a:solidFill>
            <a:srgbClr val="E9F5EE"/>
          </a:solidFill>
          <a:ln/>
        </p:spPr>
      </p:sp>
      <p:sp>
        <p:nvSpPr>
          <p:cNvPr id="35" name="Shape 28"/>
          <p:cNvSpPr/>
          <p:nvPr/>
        </p:nvSpPr>
        <p:spPr>
          <a:xfrm>
            <a:off x="10136886" y="2011680"/>
            <a:ext cx="1506169" cy="868680"/>
          </a:xfrm>
          <a:prstGeom prst="roundRect">
            <a:avLst>
              <a:gd name="adj" fmla="val 12632"/>
            </a:avLst>
          </a:prstGeom>
          <a:solidFill>
            <a:srgbClr val="E76F51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5651" y="2167128"/>
            <a:ext cx="548640" cy="54864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228326" y="3017520"/>
            <a:ext cx="13232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Біосферний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10246614" y="3794760"/>
            <a:ext cx="128671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усе життя Землі разом з оболонками</a:t>
            </a:r>
            <a:endParaRPr lang="en-US" sz="1300" dirty="0"/>
          </a:p>
        </p:txBody>
      </p:sp>
      <p:sp>
        <p:nvSpPr>
          <p:cNvPr id="39" name="Shape 31"/>
          <p:cNvSpPr/>
          <p:nvPr/>
        </p:nvSpPr>
        <p:spPr>
          <a:xfrm>
            <a:off x="548640" y="512064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FDF1E4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822960" y="5120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Простий образ: літера → слово → речення → абзац → розділ → книга. Біосфера — це вся «книга життя» Землі.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утворилися оболонки Землі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464994" cy="3108960"/>
          </a:xfrm>
          <a:prstGeom prst="roundRect">
            <a:avLst>
              <a:gd name="adj" fmla="val 4451"/>
            </a:avLst>
          </a:prstGeom>
          <a:solidFill>
            <a:srgbClr val="E9F5EE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63040"/>
            <a:ext cx="2464994" cy="868680"/>
          </a:xfrm>
          <a:prstGeom prst="roundRect">
            <a:avLst>
              <a:gd name="adj" fmla="val 12632"/>
            </a:avLst>
          </a:prstGeom>
          <a:solidFill>
            <a:srgbClr val="E76F5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6817" y="1618488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468880"/>
            <a:ext cx="22821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Гаряча Земля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3246120"/>
            <a:ext cx="22455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Земля виникла багато мільярдів років тому і спочатку була гарячою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077642" y="283464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9" name="Shape 6"/>
          <p:cNvSpPr/>
          <p:nvPr/>
        </p:nvSpPr>
        <p:spPr>
          <a:xfrm>
            <a:off x="3425114" y="1463040"/>
            <a:ext cx="2464994" cy="3108960"/>
          </a:xfrm>
          <a:prstGeom prst="roundRect">
            <a:avLst>
              <a:gd name="adj" fmla="val 4451"/>
            </a:avLst>
          </a:prstGeom>
          <a:solidFill>
            <a:srgbClr val="E9F5EE"/>
          </a:solidFill>
          <a:ln/>
        </p:spPr>
      </p:sp>
      <p:sp>
        <p:nvSpPr>
          <p:cNvPr id="10" name="Shape 7"/>
          <p:cNvSpPr/>
          <p:nvPr/>
        </p:nvSpPr>
        <p:spPr>
          <a:xfrm>
            <a:off x="3425114" y="1463040"/>
            <a:ext cx="2464994" cy="868680"/>
          </a:xfrm>
          <a:prstGeom prst="roundRect">
            <a:avLst>
              <a:gd name="adj" fmla="val 12632"/>
            </a:avLst>
          </a:prstGeom>
          <a:solidFill>
            <a:srgbClr val="457B9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291" y="1618488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16554" y="2468880"/>
            <a:ext cx="22821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Охолодження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34842" y="3246120"/>
            <a:ext cx="22455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плином часу планета охолола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954116" y="283464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15" name="Shape 11"/>
          <p:cNvSpPr/>
          <p:nvPr/>
        </p:nvSpPr>
        <p:spPr>
          <a:xfrm>
            <a:off x="6301588" y="1463040"/>
            <a:ext cx="2464994" cy="3108960"/>
          </a:xfrm>
          <a:prstGeom prst="roundRect">
            <a:avLst>
              <a:gd name="adj" fmla="val 4451"/>
            </a:avLst>
          </a:prstGeom>
          <a:solidFill>
            <a:srgbClr val="E9F5EE"/>
          </a:solidFill>
          <a:ln/>
        </p:spPr>
      </p:sp>
      <p:sp>
        <p:nvSpPr>
          <p:cNvPr id="16" name="Shape 12"/>
          <p:cNvSpPr/>
          <p:nvPr/>
        </p:nvSpPr>
        <p:spPr>
          <a:xfrm>
            <a:off x="6301588" y="1463040"/>
            <a:ext cx="2464994" cy="868680"/>
          </a:xfrm>
          <a:prstGeom prst="roundRect">
            <a:avLst>
              <a:gd name="adj" fmla="val 12632"/>
            </a:avLst>
          </a:prstGeom>
          <a:solidFill>
            <a:srgbClr val="2D6A4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9765" y="1618488"/>
            <a:ext cx="548640" cy="5486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93028" y="2468880"/>
            <a:ext cx="22821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оболонки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6411316" y="3246120"/>
            <a:ext cx="22455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утворилися літосфера (тверда), гідросфера (водна), атмосфера (повітряна)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8830589" y="2834640"/>
            <a:ext cx="283464" cy="365760"/>
          </a:xfrm>
          <a:prstGeom prst="rightArrow">
            <a:avLst/>
          </a:prstGeom>
          <a:solidFill>
            <a:srgbClr val="F4A261"/>
          </a:solidFill>
          <a:ln/>
        </p:spPr>
      </p:sp>
      <p:sp>
        <p:nvSpPr>
          <p:cNvPr id="21" name="Shape 16"/>
          <p:cNvSpPr/>
          <p:nvPr/>
        </p:nvSpPr>
        <p:spPr>
          <a:xfrm>
            <a:off x="9178061" y="1463040"/>
            <a:ext cx="2464994" cy="3108960"/>
          </a:xfrm>
          <a:prstGeom prst="roundRect">
            <a:avLst>
              <a:gd name="adj" fmla="val 4451"/>
            </a:avLst>
          </a:prstGeom>
          <a:solidFill>
            <a:srgbClr val="E9F5EE"/>
          </a:solidFill>
          <a:ln/>
        </p:spPr>
      </p:sp>
      <p:sp>
        <p:nvSpPr>
          <p:cNvPr id="22" name="Shape 17"/>
          <p:cNvSpPr/>
          <p:nvPr/>
        </p:nvSpPr>
        <p:spPr>
          <a:xfrm>
            <a:off x="9178061" y="1463040"/>
            <a:ext cx="2464994" cy="868680"/>
          </a:xfrm>
          <a:prstGeom prst="roundRect">
            <a:avLst>
              <a:gd name="adj" fmla="val 12632"/>
            </a:avLst>
          </a:prstGeom>
          <a:solidFill>
            <a:srgbClr val="1B4332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6238" y="1618488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69501" y="2468880"/>
            <a:ext cx="228211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Біосфера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9287789" y="3246120"/>
            <a:ext cx="22455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з'явилося життя і почало змінювати всі оболонки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548640" y="4846320"/>
            <a:ext cx="11094415" cy="1280160"/>
          </a:xfrm>
          <a:prstGeom prst="roundRect">
            <a:avLst>
              <a:gd name="adj" fmla="val 7143"/>
            </a:avLst>
          </a:prstGeom>
          <a:solidFill>
            <a:srgbClr val="FDF1E4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822960" y="484632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«Літос» — камінь, «гідро» — вода, «атмос» — пара, «біос» — життя. «Сфера» — оболонка, куля.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Оболонки Землі тісно пов'язані між собою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22960" y="1600200"/>
            <a:ext cx="685800" cy="68580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00200"/>
            <a:ext cx="2189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Течії → повітря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Теплі течії зігрівають атмосферу там, де протікають, а холодні — охолоджують.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338218" y="132588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9" name="icon-circle"/>
          <p:cNvSpPr/>
          <p:nvPr/>
        </p:nvSpPr>
        <p:spPr>
          <a:xfrm>
            <a:off x="4612538" y="1600200"/>
            <a:ext cx="685800" cy="68580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13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1218" y="1600200"/>
            <a:ext cx="2189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Вода → атмосфера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42316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вигляді пари і хмар вода постійно є в атмосфері.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8127797" y="132588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14" name="icon-circle"/>
          <p:cNvSpPr/>
          <p:nvPr/>
        </p:nvSpPr>
        <p:spPr>
          <a:xfrm>
            <a:off x="8402117" y="1600200"/>
            <a:ext cx="685800" cy="685800"/>
          </a:xfrm>
          <a:prstGeom prst="ellipse">
            <a:avLst/>
          </a:prstGeom>
          <a:solidFill>
            <a:srgbClr val="1B4332"/>
          </a:solidFill>
          <a:ln w="12700">
            <a:solidFill>
              <a:srgbClr val="1B4332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176479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70797" y="1600200"/>
            <a:ext cx="2189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Рельєф → річки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42316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рельєфу залежить швидкість течії річок: у горах швидко, на рівнині повільно.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548640" y="388620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19" name="icon-circle"/>
          <p:cNvSpPr/>
          <p:nvPr/>
        </p:nvSpPr>
        <p:spPr>
          <a:xfrm>
            <a:off x="822960" y="4160520"/>
            <a:ext cx="685800" cy="68580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32511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160520"/>
            <a:ext cx="2189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Вулкани → повітря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8348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 час виверження в повітря потрапляють гази і вулканічний попіл.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4338218" y="388620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24" name="icon-circle"/>
          <p:cNvSpPr/>
          <p:nvPr/>
        </p:nvSpPr>
        <p:spPr>
          <a:xfrm>
            <a:off x="4612538" y="4160520"/>
            <a:ext cx="685800" cy="68580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130" y="4325112"/>
            <a:ext cx="356616" cy="35661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81218" y="4160520"/>
            <a:ext cx="2189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Вітер → течії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4612538" y="498348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 вітру залежить напрямок морських течій.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8127797" y="3886200"/>
            <a:ext cx="3515258" cy="2286000"/>
          </a:xfrm>
          <a:prstGeom prst="roundRect">
            <a:avLst>
              <a:gd name="adj" fmla="val 4800"/>
            </a:avLst>
          </a:prstGeom>
          <a:solidFill>
            <a:srgbClr val="E9F5EE"/>
          </a:solidFill>
          <a:ln/>
        </p:spPr>
      </p:sp>
      <p:sp>
        <p:nvSpPr>
          <p:cNvPr id="29" name="icon-circle"/>
          <p:cNvSpPr/>
          <p:nvPr/>
        </p:nvSpPr>
        <p:spPr>
          <a:xfrm>
            <a:off x="8402117" y="4160520"/>
            <a:ext cx="685800" cy="68580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6709" y="4325112"/>
            <a:ext cx="356616" cy="35661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270797" y="4160520"/>
            <a:ext cx="2189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Живе → усе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402117" y="498348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Живі організми теж впливають на всі оболонки Землі.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 речовина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583680" cy="4663440"/>
          </a:xfrm>
          <a:prstGeom prst="roundRect">
            <a:avLst>
              <a:gd name="adj" fmla="val 2941"/>
            </a:avLst>
          </a:prstGeom>
          <a:solidFill>
            <a:srgbClr val="1B4332"/>
          </a:solidFill>
          <a:ln/>
        </p:spPr>
      </p:sp>
      <p:sp>
        <p:nvSpPr>
          <p:cNvPr id="4" name="icon-circle"/>
          <p:cNvSpPr/>
          <p:nvPr/>
        </p:nvSpPr>
        <p:spPr>
          <a:xfrm>
            <a:off x="914400" y="1691640"/>
            <a:ext cx="822960" cy="822960"/>
          </a:xfrm>
          <a:prstGeom prst="ellipse">
            <a:avLst/>
          </a:prstGeom>
          <a:solidFill>
            <a:srgbClr val="95D5B2"/>
          </a:solidFill>
          <a:ln w="12700">
            <a:solidFill>
              <a:srgbClr val="95D5B2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18891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 речовина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Сукупність усіх живих організмів на Землі (термін В. І. Вернадського).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масою вона становить лише близько 0,01 % маси земної кори, але відіграє провідну роль у процесах на планеті.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406640" y="1371600"/>
            <a:ext cx="4233672" cy="4663440"/>
          </a:xfrm>
          <a:prstGeom prst="roundRect">
            <a:avLst>
              <a:gd name="adj" fmla="val 3240"/>
            </a:avLst>
          </a:prstGeom>
          <a:solidFill>
            <a:srgbClr val="FDF1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80960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Простими словами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2194560"/>
            <a:ext cx="3749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дріжджі в тісті: їх зовсім трохи, але саме вони змушують усе тісто піднятися.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Так і живих організмів мало порівняно з масою Землі, але саме вони створили кисень у повітрі, ґрунт під ногами, вапняк і крейду.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таке біосфера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583680" cy="4663440"/>
          </a:xfrm>
          <a:prstGeom prst="roundRect">
            <a:avLst>
              <a:gd name="adj" fmla="val 2941"/>
            </a:avLst>
          </a:prstGeom>
          <a:solidFill>
            <a:srgbClr val="1B4332"/>
          </a:solidFill>
          <a:ln/>
        </p:spPr>
      </p:sp>
      <p:sp>
        <p:nvSpPr>
          <p:cNvPr id="4" name="icon-circle"/>
          <p:cNvSpPr/>
          <p:nvPr/>
        </p:nvSpPr>
        <p:spPr>
          <a:xfrm>
            <a:off x="914400" y="1691640"/>
            <a:ext cx="822960" cy="822960"/>
          </a:xfrm>
          <a:prstGeom prst="ellipse">
            <a:avLst/>
          </a:prstGeom>
          <a:solidFill>
            <a:srgbClr val="95D5B2"/>
          </a:solidFill>
          <a:ln w="12700">
            <a:solidFill>
              <a:srgbClr val="95D5B2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18891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Біосфера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Глобальна екологічна система, межі якої визначені життєдіяльністю організмів.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Тобто біосфера — це та частина оболонок Землі, де є життя і яку живе змінило.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406640" y="1371600"/>
            <a:ext cx="4233672" cy="4663440"/>
          </a:xfrm>
          <a:prstGeom prst="roundRect">
            <a:avLst>
              <a:gd name="adj" fmla="val 3240"/>
            </a:avLst>
          </a:prstGeom>
          <a:solidFill>
            <a:srgbClr val="FDF1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80960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Простими словами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2194560"/>
            <a:ext cx="3749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«Біо» — життя, «сфера» — оболонка. «Оболонка життя».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Біосфера охоплює: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нижню частину атмосфери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всю гідросферу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верхню частину літосфери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Межі біосфери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22960" y="1600200"/>
            <a:ext cx="868680" cy="86868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" y="1808683"/>
            <a:ext cx="451714" cy="45171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Верхня межа — в атмосфері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Життя є лише до озонового екрану. Вище низькі температури й ультрафіолет згубні для живих істот. На висоті 20–25 км трапляються лише спори грибів і бактерії.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338218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9" name="icon-circle"/>
          <p:cNvSpPr/>
          <p:nvPr/>
        </p:nvSpPr>
        <p:spPr>
          <a:xfrm>
            <a:off x="4612538" y="1600200"/>
            <a:ext cx="868680" cy="8686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022" y="1808683"/>
            <a:ext cx="451714" cy="45171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2538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Гідросфера — заселена повністю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Організми живуть від поверхні до найглибшого дна. Але найбільша різноманітність — у товщі води, куди проникає сонячне проміння.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8127797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14" name="icon-circle"/>
          <p:cNvSpPr/>
          <p:nvPr/>
        </p:nvSpPr>
        <p:spPr>
          <a:xfrm>
            <a:off x="8402117" y="1600200"/>
            <a:ext cx="868680" cy="86868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808683"/>
            <a:ext cx="451714" cy="45171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2117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 межа — в літосфері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Нижче 0,5–2 м кількість організмів швидко зменшується. На глибині 10 м їх уже майже немає: заважають щільність середовища і висока температура. Але бувають винятки.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Перевіряємо ваші здогадки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3108960"/>
          </a:xfrm>
          <a:prstGeom prst="roundRect">
            <a:avLst>
              <a:gd name="adj" fmla="val 4273"/>
            </a:avLst>
          </a:prstGeom>
          <a:solidFill>
            <a:srgbClr val="E9F5E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20–25 км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880360"/>
            <a:ext cx="21106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такій висоті в атмосфері ще трапляються спори грибів і бактерії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390824" y="1463040"/>
            <a:ext cx="2567864" cy="3108960"/>
          </a:xfrm>
          <a:prstGeom prst="roundRect">
            <a:avLst>
              <a:gd name="adj" fmla="val 4273"/>
            </a:avLst>
          </a:prstGeom>
          <a:solidFill>
            <a:srgbClr val="E9F5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73704" y="16459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11 км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9424" y="2880360"/>
            <a:ext cx="21106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найглибше місце океану — Маріанська западина. І там є життя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33008" y="1463040"/>
            <a:ext cx="2567864" cy="3108960"/>
          </a:xfrm>
          <a:prstGeom prst="roundRect">
            <a:avLst>
              <a:gd name="adj" fmla="val 4273"/>
            </a:avLst>
          </a:prstGeom>
          <a:solidFill>
            <a:srgbClr val="E9F5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15888" y="16459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10 м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880360"/>
            <a:ext cx="21106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ґрунті й породах — тут закінчується більшість життя суші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075191" y="1463040"/>
            <a:ext cx="2567864" cy="3108960"/>
          </a:xfrm>
          <a:prstGeom prst="roundRect">
            <a:avLst>
              <a:gd name="adj" fmla="val 4273"/>
            </a:avLst>
          </a:prstGeom>
          <a:solidFill>
            <a:srgbClr val="E9F5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58071" y="16459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09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кілька км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9303791" y="2880360"/>
            <a:ext cx="21106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винятки: окремі бактерії знаходили глибоко в шахтах і свердловинах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84632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FDF1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846320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Хто був найближче? Межі біосфери визначають умови, за яких організми можуть вижити.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життя найбільше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Найсприятливіші умови — на межі атмосфери, гідросфери і літосфери</a:t>
            </a:r>
            <a:endParaRPr lang="en-US" sz="1700" dirty="0"/>
          </a:p>
        </p:txBody>
      </p:sp>
      <p:sp>
        <p:nvSpPr>
          <p:cNvPr id="4" name="card"/>
          <p:cNvSpPr/>
          <p:nvPr/>
        </p:nvSpPr>
        <p:spPr>
          <a:xfrm>
            <a:off x="548640" y="1965960"/>
            <a:ext cx="3515258" cy="420624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5" name="icon-circle"/>
          <p:cNvSpPr/>
          <p:nvPr/>
        </p:nvSpPr>
        <p:spPr>
          <a:xfrm>
            <a:off x="822960" y="2240280"/>
            <a:ext cx="868680" cy="8686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" y="2448763"/>
            <a:ext cx="451714" cy="45171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33756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Поверхня суходолу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296661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Ґрунт, ліси, луги: є повітря, вода, світло і поживні речовини.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4338218" y="1965960"/>
            <a:ext cx="3515258" cy="420624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10" name="icon-circle"/>
          <p:cNvSpPr/>
          <p:nvPr/>
        </p:nvSpPr>
        <p:spPr>
          <a:xfrm>
            <a:off x="4612538" y="2240280"/>
            <a:ext cx="868680" cy="8686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022" y="2448763"/>
            <a:ext cx="451714" cy="45171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2538" y="333756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Поверхня океану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4206240"/>
            <a:ext cx="296661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Сюди доходить сонячне світло — тут живуть водорості і безліч тварин.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8127797" y="1965960"/>
            <a:ext cx="3515258" cy="420624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15" name="icon-circle"/>
          <p:cNvSpPr/>
          <p:nvPr/>
        </p:nvSpPr>
        <p:spPr>
          <a:xfrm>
            <a:off x="8402117" y="2240280"/>
            <a:ext cx="868680" cy="86868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2448763"/>
            <a:ext cx="451714" cy="45171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02117" y="333756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Дно до глибини 200 м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4206240"/>
            <a:ext cx="296661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Мілководдя, куди ще надходять сонячні промені.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ПРОБЛЕМНЕ ПИТАННЯ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Чому найбільше живих організмів саме там, де стикаються повітря, вода і земля?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2120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Обговоріть у парах 2 хвилини. Подумайте: що потрібно живому для життя?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Життю потрібне все одразу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777240" y="201739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2138096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78308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Світло —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фотосинтезу рослин і водоростей. Глибоко під землею і в глибинах океану його немає.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9375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8" name="icon-circle"/>
          <p:cNvSpPr/>
          <p:nvPr/>
        </p:nvSpPr>
        <p:spPr>
          <a:xfrm>
            <a:off x="777240" y="317182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9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3292526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93751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Вода —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неї не відбувається жоден процес у клітині.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40919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12" name="icon-circle"/>
          <p:cNvSpPr/>
          <p:nvPr/>
        </p:nvSpPr>
        <p:spPr>
          <a:xfrm>
            <a:off x="777240" y="432625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4446956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08760" y="409194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Повітря —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кисень для дихання і вуглекислий газ для фотосинтезу.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48640" y="52463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9F5EE"/>
          </a:solidFill>
          <a:ln/>
        </p:spPr>
      </p:sp>
      <p:sp>
        <p:nvSpPr>
          <p:cNvPr id="16" name="icon-circle"/>
          <p:cNvSpPr/>
          <p:nvPr/>
        </p:nvSpPr>
        <p:spPr>
          <a:xfrm>
            <a:off x="777240" y="5480685"/>
            <a:ext cx="502920" cy="50292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17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1" y="5601386"/>
            <a:ext cx="261518" cy="26151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08760" y="5246370"/>
            <a:ext cx="990569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Поживні речовини і тепло — </a:t>
            </a:r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дають ґрунт і літосфера. На межі оболонок є все це разом.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живі організми змінюють оболонки Землі</a:t>
            </a:r>
            <a:endParaRPr lang="en-US" sz="3200" dirty="0"/>
          </a:p>
        </p:txBody>
      </p:sp>
      <p:sp>
        <p:nvSpPr>
          <p:cNvPr id="3" name="card"/>
          <p:cNvSpPr/>
          <p:nvPr/>
        </p:nvSpPr>
        <p:spPr>
          <a:xfrm>
            <a:off x="548640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22960" y="1600200"/>
            <a:ext cx="868680" cy="86868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443" y="1808683"/>
            <a:ext cx="451714" cy="45171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Атмосфера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Діяльність організмів визначає склад атмосфери. Наприклад, кисень у повітрі — результат фотосинтезу рослин і водоростей.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338218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9" name="icon-circle"/>
          <p:cNvSpPr/>
          <p:nvPr/>
        </p:nvSpPr>
        <p:spPr>
          <a:xfrm>
            <a:off x="4612538" y="1600200"/>
            <a:ext cx="868680" cy="86868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1022" y="1808683"/>
            <a:ext cx="451714" cy="45171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2538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Ґрунти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Організми визначають склад і структуру ґрунтів. Ґрунт утворюють рослини, бактерії, гриби, черв'яки разом з гірською породою.</a:t>
            </a:r>
            <a:endParaRPr lang="en-US" sz="1600" dirty="0"/>
          </a:p>
        </p:txBody>
      </p:sp>
      <p:sp>
        <p:nvSpPr>
          <p:cNvPr id="13" name="card"/>
          <p:cNvSpPr/>
          <p:nvPr/>
        </p:nvSpPr>
        <p:spPr>
          <a:xfrm>
            <a:off x="8127797" y="1325880"/>
            <a:ext cx="3515258" cy="4846320"/>
          </a:xfrm>
          <a:prstGeom prst="roundRect">
            <a:avLst>
              <a:gd name="adj" fmla="val 3121"/>
            </a:avLst>
          </a:prstGeom>
          <a:solidFill>
            <a:srgbClr val="E9F5EE"/>
          </a:solidFill>
          <a:ln/>
        </p:spPr>
      </p:sp>
      <p:sp>
        <p:nvSpPr>
          <p:cNvPr id="14" name="icon-circle"/>
          <p:cNvSpPr/>
          <p:nvPr/>
        </p:nvSpPr>
        <p:spPr>
          <a:xfrm>
            <a:off x="8402117" y="1600200"/>
            <a:ext cx="868680" cy="86868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808683"/>
            <a:ext cx="451714" cy="45171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02117" y="269748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Гідросфера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66160"/>
            <a:ext cx="2966618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Організми визначають склад багатьох речовин у воді. З черепашок морських організмів утворилися вапняк і крейда.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Головна функція біосфери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583680" cy="4663440"/>
          </a:xfrm>
          <a:prstGeom prst="roundRect">
            <a:avLst>
              <a:gd name="adj" fmla="val 2941"/>
            </a:avLst>
          </a:prstGeom>
          <a:solidFill>
            <a:srgbClr val="1B4332"/>
          </a:solidFill>
          <a:ln/>
        </p:spPr>
      </p:sp>
      <p:sp>
        <p:nvSpPr>
          <p:cNvPr id="4" name="icon-circle"/>
          <p:cNvSpPr/>
          <p:nvPr/>
        </p:nvSpPr>
        <p:spPr>
          <a:xfrm>
            <a:off x="914400" y="1691640"/>
            <a:ext cx="822960" cy="822960"/>
          </a:xfrm>
          <a:prstGeom prst="ellipse">
            <a:avLst/>
          </a:prstGeom>
          <a:solidFill>
            <a:srgbClr val="95D5B2"/>
          </a:solidFill>
          <a:ln w="12700">
            <a:solidFill>
              <a:srgbClr val="95D5B2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" y="188915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Кругообіг речовин і енергії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Головна функція біосфери — здійснення кругообігу речовин і енергії.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Завдяки обміну речовин, розмноженню і розселенню живі організми спричиняють біогенну міграцію атомів. За час існування біосфери атоми більшості елементів багато разів пройшли через тіла живих організмів.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406640" y="1371600"/>
            <a:ext cx="4233672" cy="4663440"/>
          </a:xfrm>
          <a:prstGeom prst="roundRect">
            <a:avLst>
              <a:gd name="adj" fmla="val 3240"/>
            </a:avLst>
          </a:prstGeom>
          <a:solidFill>
            <a:srgbClr val="FDF1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80960" y="16459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Цікаво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2194560"/>
            <a:ext cx="3749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Атоми у вашому тілі дуже «старі». Можливо, деякі з них колись були в листку стародавньої папороті, у мамонті чи в динозаврі.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Природа нічого не викидає: усе знову й знову використовується.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МІФ ЧИ ФАКТ?  1/3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«Живих організмів на Землі так багато, що вони становлять значну частину маси планети»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Голосуємо: рука вгору — МІФ, дві руки — ФАКТ. Чому ви так вважаєте?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76F5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5760"/>
            <a:ext cx="8442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«Живих організмів на Землі так багато, що вони становлять значну частину маси планети»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4415" cy="4023360"/>
          </a:xfrm>
          <a:prstGeom prst="roundRect">
            <a:avLst>
              <a:gd name="adj" fmla="val 3409"/>
            </a:avLst>
          </a:prstGeom>
          <a:solidFill>
            <a:srgbClr val="FCE9E3"/>
          </a:solidFill>
          <a:ln/>
        </p:spPr>
      </p:sp>
      <p:sp>
        <p:nvSpPr>
          <p:cNvPr id="6" name="icon-circle"/>
          <p:cNvSpPr/>
          <p:nvPr/>
        </p:nvSpPr>
        <p:spPr>
          <a:xfrm>
            <a:off x="960120" y="3063240"/>
            <a:ext cx="1005840" cy="100584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1522" y="33046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86000" y="1783080"/>
            <a:ext cx="899129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 речовина — лише близько 0,01 % маси земної кори. Але, попри малу масу, саме вона відіграє провідну роль: змінює склад повітря, води і ґрунту.</a:t>
            </a:r>
            <a:endParaRPr lang="en-US" sz="2200" dirty="0"/>
          </a:p>
        </p:txBody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МІФ ЧИ ФАКТ?  2/3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«Живі організми можна знайти скрізь в атмосфері — аж до космосу»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Голосуємо: рука вгору — МІФ, дві руки — ФАКТ. Чому ви так вважаєте?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76F5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5760"/>
            <a:ext cx="8442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«Живі організми можна знайти скрізь в атмосфері — аж до космосу»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4415" cy="4023360"/>
          </a:xfrm>
          <a:prstGeom prst="roundRect">
            <a:avLst>
              <a:gd name="adj" fmla="val 3409"/>
            </a:avLst>
          </a:prstGeom>
          <a:solidFill>
            <a:srgbClr val="FCE9E3"/>
          </a:solidFill>
          <a:ln/>
        </p:spPr>
      </p:sp>
      <p:sp>
        <p:nvSpPr>
          <p:cNvPr id="6" name="icon-circle"/>
          <p:cNvSpPr/>
          <p:nvPr/>
        </p:nvSpPr>
        <p:spPr>
          <a:xfrm>
            <a:off x="960120" y="3063240"/>
            <a:ext cx="1005840" cy="100584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1522" y="33046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86000" y="1783080"/>
            <a:ext cx="899129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Верхня межа біосфери — озоновий екран. Вище низькі температури й ультрафіолетове випромінювання згубні для живих істот. На висоті 20–25 км трапляються лише спори і бактерії.</a:t>
            </a:r>
            <a:endParaRPr lang="en-US" sz="2200" dirty="0"/>
          </a:p>
        </p:txBody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МІФ ЧИ ФАКТ?  3/3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82880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«Кисень у повітрі, яким ми дихаємо, створили живі організми»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1206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Голосуємо: рука вгору — МІФ, дві руки — ФАКТ. Чому ви так вважаєте?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40916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ФАКТ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200400" y="365760"/>
            <a:ext cx="8442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i="1" dirty="0">
                <a:solidFill>
                  <a:srgbClr val="5C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«Кисень у повітрі, яким ми дихаємо, створили живі організми»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94415" cy="4023360"/>
          </a:xfrm>
          <a:prstGeom prst="roundRect">
            <a:avLst>
              <a:gd name="adj" fmla="val 3409"/>
            </a:avLst>
          </a:prstGeom>
          <a:solidFill>
            <a:srgbClr val="E9F5EE"/>
          </a:solidFill>
          <a:ln/>
        </p:spPr>
      </p:sp>
      <p:sp>
        <p:nvSpPr>
          <p:cNvPr id="6" name="icon-circle"/>
          <p:cNvSpPr/>
          <p:nvPr/>
        </p:nvSpPr>
        <p:spPr>
          <a:xfrm>
            <a:off x="960120" y="3063240"/>
            <a:ext cx="1005840" cy="1005840"/>
          </a:xfrm>
          <a:prstGeom prst="ellipse">
            <a:avLst/>
          </a:prstGeom>
          <a:solidFill>
            <a:srgbClr val="40916C"/>
          </a:solidFill>
          <a:ln w="12700">
            <a:solidFill>
              <a:srgbClr val="40916C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1522" y="330464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286000" y="1783080"/>
            <a:ext cx="899129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Кисень в атмосфері з'явився завдяки фотосинтезу — спочатку бактерій і водоростей, потім рослин. Діяльність організмів визначає склад атмосфери.</a:t>
            </a:r>
            <a:endParaRPr lang="en-US" sz="2200" dirty="0"/>
          </a:p>
        </p:txBody>
      </p:sp>
      <p:sp>
        <p:nvSpPr>
          <p:cNvPr id="10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ПЕРЕВІР СЕБЕ · 1/1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Чому верхня межа біосфери проходить на рівні озонового екрану?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60604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95D5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017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06040"/>
            <a:ext cx="403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Там закінчується повітря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33008" y="260604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95D5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07328" y="3017520"/>
            <a:ext cx="640080" cy="64008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07328" y="3017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376008" y="2606040"/>
            <a:ext cx="403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Вище — низькі температури й ультрафіолет, згубні для живого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434340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95D5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754880"/>
            <a:ext cx="640080" cy="64008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754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4343400"/>
            <a:ext cx="403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Там дуже висока температура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33008" y="434340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95D5B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7328" y="4754880"/>
            <a:ext cx="640080" cy="64008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07328" y="4754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376008" y="4343400"/>
            <a:ext cx="40384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Птахи не можуть літати вище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ПРАВИЛЬНА ВІДПОВІДЬ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Чому верхня межа біосфери — озоновий екран?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188720"/>
          </a:xfrm>
          <a:prstGeom prst="roundRect">
            <a:avLst>
              <a:gd name="adj" fmla="val 9231"/>
            </a:avLst>
          </a:prstGeom>
          <a:solidFill>
            <a:srgbClr val="2D6A4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3774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103120"/>
            <a:ext cx="9631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Б) Вище — низькі температури й ультрафіолет, згубні для живого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48640" y="3566160"/>
            <a:ext cx="11094415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566160"/>
            <a:ext cx="103628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76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Чому так: </a:t>
            </a:r>
            <a:pPr indent="0" marL="0">
              <a:buNone/>
            </a:pPr>
            <a:r>
              <a:rPr lang="en-US" sz="20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Озоновий шар затримує більшу частину ультрафіолету Сонця. Вище нього живі клітини гинуть. Тому озоновий шар — «парасолька» біосфери.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Завдання: експедиція по біосфері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760720" cy="4754880"/>
          </a:xfrm>
          <a:prstGeom prst="roundRect">
            <a:avLst>
              <a:gd name="adj" fmla="val 2885"/>
            </a:avLst>
          </a:prstGeom>
          <a:solidFill>
            <a:srgbClr val="E3EEF5"/>
          </a:solidFill>
          <a:ln/>
        </p:spPr>
      </p:sp>
      <p:sp>
        <p:nvSpPr>
          <p:cNvPr id="4" name="icon-circle"/>
          <p:cNvSpPr/>
          <p:nvPr/>
        </p:nvSpPr>
        <p:spPr>
          <a:xfrm>
            <a:off x="868680" y="1645920"/>
            <a:ext cx="777240" cy="777240"/>
          </a:xfrm>
          <a:prstGeom prst="ellipse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83245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6459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Ситуація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Ваша група — науковці. Ви отримали «квиток» в одне з місць: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вершина Говерли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стратосфера на висоті 30 км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дно Чорного моря на глибині 50 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кар'єр на глибині 300 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5) поверхня Дніпра влітку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583680" y="1371600"/>
            <a:ext cx="5059375" cy="4754880"/>
          </a:xfrm>
          <a:prstGeom prst="roundRect">
            <a:avLst>
              <a:gd name="adj" fmla="val 2885"/>
            </a:avLst>
          </a:prstGeom>
          <a:solidFill>
            <a:srgbClr val="1B433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03720" y="1645920"/>
            <a:ext cx="4419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Ваше завдання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903720" y="2286000"/>
            <a:ext cx="44192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 належить ваше місце до біосфери?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Яка оболонка Землі там переважає?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Багато там життя чи мало? Чому? Які умови заважають або допомагають?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903720" y="5440680"/>
            <a:ext cx="4419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7–10 хв, групи по 3–4 особи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Головне за сьогодні</a:t>
            </a:r>
            <a:endParaRPr lang="en-US" sz="3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5354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34440" y="146304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Біосфера — глобальна екологічна система, межі якої визначені життєдіяльністю організмів. Це найвищий рівень організації життя.</a:t>
            </a:r>
            <a:endParaRPr lang="en-US" sz="1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46020"/>
            <a:ext cx="411480" cy="411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34440" y="225552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Оболонки Землі — літосфера, гідросфера, атмосфера — тісно пов'язані і утворюють цілісну систему.</a:t>
            </a:r>
            <a:endParaRPr lang="en-US" sz="1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38500"/>
            <a:ext cx="411480" cy="4114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304800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Жива речовина — усі живі організми (Вернадський). Лише ≈ 0,01 % маси земної кори, але провідна роль.</a:t>
            </a:r>
            <a:endParaRPr lang="en-US" sz="18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30980"/>
            <a:ext cx="411480" cy="4114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234440" y="384048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Межі: в атмосфері — до озонового екрану (20–25 км), гідросфера — повністю, у літосфері — кілька метрів.</a:t>
            </a:r>
            <a:endParaRPr lang="en-US" sz="180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823460"/>
            <a:ext cx="411480" cy="41148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234440" y="463296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Найбільше життя — на межі оболонок: поверхня суші, поверхня океану, дно до 200 м.</a:t>
            </a:r>
            <a:endParaRPr lang="en-US" sz="180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615940"/>
            <a:ext cx="411480" cy="411480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1234440" y="5425440"/>
            <a:ext cx="10408615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Головна функція біосфери — кругообіг речовин і енергії.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con-circle"/>
          <p:cNvSpPr/>
          <p:nvPr/>
        </p:nvSpPr>
        <p:spPr>
          <a:xfrm>
            <a:off x="548640" y="548640"/>
            <a:ext cx="1005840" cy="100584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pic>
        <p:nvPicPr>
          <p:cNvPr id="3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790042"/>
            <a:ext cx="523037" cy="52303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828800" y="777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A2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РЕФЛЕКСІЯ · ПРОДОВЖІТЬ РЕЧЕННЯ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192024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2D6A4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92024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Сьогодні мене найбільше здивувало…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48640" y="310896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2D6A4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14400" y="310896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можу пояснити другові, що таке біосфера, так:…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48640" y="429768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2D6A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4400" y="429768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ще не до кінця розумію…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Домашнє завдання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9494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Вивчіть конспект. Знайте визначення: біосфера, жива речовина, межі біосфери.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Намалюйте схему «Межі біосфери»: атмосфера, гідросфера, літосфера і де в них є життя.</a:t>
            </a:r>
            <a:endParaRPr lang="en-US" sz="18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B43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Наведіть 3 приклади того, як живі організми змінюють оболонки Землі.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863840" y="1371600"/>
            <a:ext cx="3779215" cy="3108960"/>
          </a:xfrm>
          <a:prstGeom prst="roundRect">
            <a:avLst>
              <a:gd name="adj" fmla="val 4412"/>
            </a:avLst>
          </a:prstGeom>
          <a:solidFill>
            <a:srgbClr val="1B4332"/>
          </a:solidFill>
          <a:ln/>
        </p:spPr>
      </p:sp>
      <p:sp>
        <p:nvSpPr>
          <p:cNvPr id="5" name="icon-circle"/>
          <p:cNvSpPr/>
          <p:nvPr/>
        </p:nvSpPr>
        <p:spPr>
          <a:xfrm>
            <a:off x="8183880" y="1645920"/>
            <a:ext cx="777240" cy="777240"/>
          </a:xfrm>
          <a:prstGeom prst="ellipse">
            <a:avLst/>
          </a:prstGeom>
          <a:solidFill>
            <a:srgbClr val="95D5B2"/>
          </a:solidFill>
          <a:ln w="12700">
            <a:solidFill>
              <a:srgbClr val="95D5B2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0418" y="1832458"/>
            <a:ext cx="404165" cy="4041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0" y="1645920"/>
            <a:ext cx="23161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95D5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651760"/>
            <a:ext cx="31391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Відповіді можна оформити письмово в зошиті або як коротку презентацію чи інфографіку (3–5 слайдів).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B6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Природничі науки">
  <a:themeElements>
    <a:clrScheme name="Природничі науки">
      <a:dk1>
        <a:srgbClr val="1F2A24"/>
      </a:dk1>
      <a:lt1>
        <a:srgbClr val="FFFFFF"/>
      </a:lt1>
      <a:dk2>
        <a:srgbClr val="1B4332"/>
      </a:dk2>
      <a:lt2>
        <a:srgbClr val="E9F5EE"/>
      </a:lt2>
      <a:accent1>
        <a:srgbClr val="2D6A4F"/>
      </a:accent1>
      <a:accent2>
        <a:srgbClr val="95D5B2"/>
      </a:accent2>
      <a:accent3>
        <a:srgbClr val="F4A261"/>
      </a:accent3>
      <a:accent4>
        <a:srgbClr val="E76F51"/>
      </a:accent4>
      <a:accent5>
        <a:srgbClr val="457B9D"/>
      </a:accent5>
      <a:accent6>
        <a:srgbClr val="40916C"/>
      </a:accent6>
      <a:hlink>
        <a:srgbClr val="457B9D"/>
      </a:hlink>
      <a:folHlink>
        <a:srgbClr val="2D6A4F"/>
      </a:folHlink>
    </a:clrScheme>
    <a:fontScheme name="Природничі науки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Біосфера Землі — найвищий рівень організації життя</dc:title>
  <dc:subject>Природничі науки, 2 курс</dc:subject>
  <dc:creator>Баталова Т. П.</dc:creator>
  <cp:lastModifiedBy>Баталова Т. П.</cp:lastModifiedBy>
  <cp:revision>1</cp:revision>
  <dcterms:created xsi:type="dcterms:W3CDTF">2026-10-03T13:20:12Z</dcterms:created>
  <dcterms:modified xsi:type="dcterms:W3CDTF">2026-10-03T13:20:12Z</dcterms:modified>
</cp:coreProperties>
</file>