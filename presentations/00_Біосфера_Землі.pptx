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35f32d0e-94ef-62c2-6929-0b47463f9997}">
          <p14:sldIdLst>
            <p14:sldId id="256"/>
            <p14:sldId id="257"/>
            <p14:sldId id="258"/>
            <p14:sldId id="259"/>
            <p14:sldId id="260"/>
          </p14:sldIdLst>
        </p14:section>
        <p14:section name="1. Рівні організації" id="{fbb80f77-cb4e-8615-ec7a-8d407d96d291}">
          <p14:sldIdLst>
            <p14:sldId id="261"/>
            <p14:sldId id="262"/>
            <p14:sldId id="263"/>
          </p14:sldIdLst>
        </p14:section>
        <p14:section name="2. Межі біосфери" id="{b975be95-2d3d-e34a-e0f8-9aa5785385e6}">
          <p14:sldIdLst>
            <p14:sldId id="264"/>
            <p14:sldId id="265"/>
            <p14:sldId id="266"/>
            <p14:sldId id="267"/>
          </p14:sldIdLst>
        </p14:section>
        <p14:section name="3. Жива речовина" id="{4063ca89-f94d-6dee-4993-ad3975c35fc7}">
          <p14:sldIdLst>
            <p14:sldId id="268"/>
            <p14:sldId id="269"/>
            <p14:sldId id="270"/>
            <p14:sldId id="271"/>
            <p14:sldId id="272"/>
          </p14:sldIdLst>
        </p14:section>
        <p14:section name="4. Ланцюги живлення" id="{ab72a628-c26e-25a3-f304-4422291ddba9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5. Колообіг речовин" id="{1db52a34-9531-b657-3eec-3a07802d7b7c}">
          <p14:sldIdLst>
            <p14:sldId id="279"/>
            <p14:sldId id="280"/>
            <p14:sldId id="281"/>
            <p14:sldId id="282"/>
            <p14:sldId id="283"/>
          </p14:sldIdLst>
        </p14:section>
        <p14:section name="6. Міфи і факти" id="{0496a7b2-fc16-1340-54e3-71c6c235dffb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7. Закріплення" id="{dd84306a-95be-946a-d231-56e08b889928}">
          <p14:sldIdLst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Привітання. Сьогодні говоримо про найбільшу «живу систему», яку знає людство: про всю планету як дім для життя. Тема вступна: на ній тримаються наступні лекції (Вернадський, агроценози, природокористування, біоетика, біобезпека, глобальні проблеми).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Розминка без правильної відповіді. Мета — увімкнути асоціативне мислення. Дайте студентам 1–2 хв. Вислухайте 3–5 відповідей, хваліть незвичні. Відповіді-підказки на наступному слайді не показуйте, доки не виговоряться.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Підсумуйте: ідея «Землі як живої системи» не просто поетична. Вчені (Вернадський, пізніше Джеймс Лавлок з гіпотезою «Геї») показали, що живі організми реально керують складом повітря, води і ґрунту. Саме це і є біосфера.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Інтрига на першу частину пари. Нехай кожен запише свою здогадку (у км). Відповідь буде на слайді «Рекорди життя».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 озвучте план. Скажіть, що буде інтерактив: міфи і факти, тест і робота в групах.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Переходимо до першого блоку.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Поясніть ідею емерджентності: ціле має властивості, яких немає в частин. Окрема молекула не дихає, клітина — дихає. Окрема рослина не створює клімат, а ліс — створює. Біосфера як ціле регулює склад атмосфери планети. Аналогія з книгою дуже заходить студентам.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Наголосіть: біосфера — не тільки організми, а організми + середовище, яке вони змінили (ґрунт, атмосфера з киснем, осадові породи). Вернадський — наш, український вчений, перший президент Української академії наук (1918). Про нього буде окрема лекція.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Другий блок.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Що обмежує життя: вгорі — ультрафіолет і холод, внизу — висока температура (у надрах Землі кожні 100 м температура зростає приблизно на 3 °C). Потужність біосфери в середньому 30–40 км. «Плівка життя» найщільніша там, де стикаються оболонки: поверхня суші, ґрунт, верхній шар океану, мілководдя.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Повертаємося до розминки. Порівняйте здогадки студентів. Наголос: це рекорди, а не постійне життя. Більшість організмів живе у вузькому шарі біля поверхні. Термін «тиск життя» знадобиться на лекції про Вернадського.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Приклад, який завжди дивує: крейда, якою пишемо на дошці, — біогенна речовина. Це мільйони скелетів мікроскопічних морських організмів, які жили 70–100 млн років тому. Крейдяні гори є і в Україні (Святі гори на Донеччині). Ґрунт — найкращий приклад біокосної речовини: без черв'яків, бактерій і рослин ґрунту не було б, був би просто подрібнений камінь.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Третій блок.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Ключова думка: за масою ми — майже ніщо, за впливом — головна сила. Цікавий факт з того ж дослідження: маса свійських тварин (корови, свині) давно перевищує масу всіх диких ссавців. Це міст до теми агроценозів.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Розберіть кожну функцію на побутовому прикладі. Енергетична: хліб — це сонячна енергія, «законсервована» пшеницею. Газова: 2,5 млрд років тому ціанобактерії наповнили атмосферу киснем. Концентраційна: йодована сіль робиться з йоду, який колись сконцентрували водорості. Деструктивна: без грибів і бактерій ліс за кілька років засипало б листям. Середовищетвірна: Дарвін писав, що весь орний шар ґрунту проходить через кишечник дощових черв'яків.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підказуйте. Нехай пари побудують ланцюжок наслідків. Вислухайте 2–3 пари.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Підведіть до ідеї замкненого колообігу: у природі немає відходів, усе стає ресурсом для когось іншого. Це місток до наступного блоку.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Четвертий блок.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конспектом: головне джерело енергії — Сонце; основа будь-якої екосистеми — продуценти. Покажіть руками «павутину»: чим більше ниток, тим стійкіша сітка. Звідси важливість біорізноманіття.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Попросіть студентів назвати свій ланцюг живлення з української природи (наприклад: водорості → дафнія → карась → щука → бактерії). Людина в ланцюгу — консумент і I, і II порядку (всеїдна).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Правило Ліндемана. Перший закон термодинаміки: енергія не зникає, а переходить в іншу форму — найчастіше у тепло. Тепло живі організми не можуть використати для роботи (другий закон), тому енергія тече в один бік. Приклад з життя: щоб отримати 1 кг яловичини, корова з'їдає приблизно 10 кг і більше корму.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Дайте 30 секунд. Голосування пальцями (1–4). Не показуйте відповідь, поки всі не проголосують.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Розберіть типову помилку.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П'ятий блок.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практичною роботою: колообіг — повторюваний циклічний процес, що відбувається з обов'язковою участю живих організмів. Згадайте 5 типів міграції речовин: механічне, повітряне, водне, біогенне, техногенне. Останнє — це вже «внесок» людини.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Поясніть ppm: «частинок на мільйон». Вирубування лісів подвійно шкодить: менше фотосинтезу і більше CO₂ при спалюванні. Зв'язок з темою глобальних проблем (зміна клімату).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Практичний приклад: досвідчені аграрії сіють горох, люпин або конюшину перед пшеницею — це «зелене добриво», бо бобові збагачують ґрунт азотом. Знадобиться в темі агроценозів.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 практичної роботи: еутрофікація — «надудобрення». Влітку всі бачили зелені ставки — це воно. Фосфор також у пральних порошках, тому з'являються «безфосфатні» засоби.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Студенти голосують: міф чи факт. Попросіть 1–2 людини аргументувати. Тільки після цього — наступний слайд.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 Похваліть тих, хто аргументував, навіть якщо помилився.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Студенти голосують: міф чи факт. Попросіть 1–2 людини аргументувати. Тільки після цього — наступний слайд.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 Похваліть тих, хто аргументував, навіть якщо помилився.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Студенти голосують: міф чи факт. Попросіть 1–2 людини аргументувати. Тільки після цього — наступний слайд.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 Похваліть тих, хто аргументував, навіть якщо помилився.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Студенти голосують: міф чи факт. Попросіть 1–2 людини аргументувати. Тільки після цього — наступний слайд.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 Похваліть тих, хто аргументував, навіть якщо помилився.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Можна нагадати приклади інших типів: нафта — біогенна, граніт — косна.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Місток до теми глобальних проблем (озонові діри, Монреальський протокол).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Очікувані рішення: буферна смуга з дерев і трав між полем і ставком; точне дозування добрив; сидерати (бобові); очищення стоків; безфосфатні мийні засоби; заборона мити машини біля води. Групи презентують по 1 хв.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 підсумуйте, можна попросити студентів самих назвати 1–2 ключові думки перед показом слайду.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Усна рефлексія 3–5 хв або на стікерах/в Google Формі. Відповіді на третій пункт підкажуть, що повторити на наступній парі.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Домашнє завдання. Пункт 4 — випереджальне завдання до наступної лекції.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Біосфера Землі — найвищий рівень організації життя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E9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Біосфера Землі — найвищий рівень організації життя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291840" cy="3291840"/>
          </a:xfrm>
          <a:prstGeom prst="ellipse">
            <a:avLst/>
          </a:prstGeom>
          <a:solidFill>
            <a:srgbClr val="40916C">
              <a:alpha val="60000"/>
            </a:srgbClr>
          </a:solidFill>
          <a:ln w="12700">
            <a:solidFill>
              <a:srgbClr val="40916C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7432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ЗАГАЛЬНІ ПОНЯТТЯ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Біосфера Землі — найвищий рівень організації життя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«жива оболонка» планети, де її межі і як вона працює як єдиний організм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Природничі науки · 2 курс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Уявіть, що Земля — живий організм. Що в неї було б «легенями», «кровоносною системою» і «шкірою»?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хвилини подумайте самостійно, потім кілька відповідей уголос. Правильних відповідей тут багато.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Земля як організм: можливі відповіді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Порівняння умовне, але дуже допомагає зрозуміти, що все на планеті пов'язане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5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«Легені»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ліси і особливо океанічний фітопланктон: вони виробляють кисень і поглинають вуглекислий газ.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«Кровоносна система»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колообіг води: річки, течії, хмари переносять речовини і тепло по всій планеті.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3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«Шкіра»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ґрунт і атмосфера: захищають від перегріву, ультрафіолету і «живлять» життя.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7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«Нирки / печінка»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болота і бактерії-редуценти: очищають воду та розкладають відходи.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ви думаєте: на якій найбільшій висоті і на якій найбільшій глибині знаходили живі організми?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Запишіть свої числа в зошит — наприкінці першої частини перевіримо, хто був найближче.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пари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716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Рівні організації життя</a:t>
            </a:r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від молекули до планети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945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Біосфера: поняття і межі</a:t>
            </a:r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де закінчується життя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175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Речовина біосфери і функції живої речовини</a:t>
            </a:r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що робить живе для планети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48640" cy="54864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8404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Ланцюги живлення і потік енергії</a:t>
            </a:r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правило 10 %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6634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Колообіг речовин</a:t>
            </a:r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вуглець, азот, кисень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48640" y="5623560"/>
            <a:ext cx="548640" cy="54864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623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4864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Міфи і факти, тест, кейс</a:t>
            </a:r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закріплюємо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Рівні організації життя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Біосфера — найвища «сходинка» живої матерії</a:t>
            </a:r>
            <a:endParaRPr lang="en-US" sz="1800" dirty="0"/>
          </a:p>
        </p:txBody>
      </p:sp>
      <p:sp>
        <p:nvSpPr>
          <p:cNvPr id="5" name="icon-circle"/>
          <p:cNvSpPr/>
          <p:nvPr/>
        </p:nvSpPr>
        <p:spPr>
          <a:xfrm>
            <a:off x="8778240" y="1828800"/>
            <a:ext cx="2743200" cy="2743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08" y="2487168"/>
            <a:ext cx="1426464" cy="1426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молекули до планети: 6 рівнів життя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наступний рівень складається з попередніх і має нові властивості, яких не було «внизу»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506169" cy="2834640"/>
          </a:xfrm>
          <a:prstGeom prst="roundRect">
            <a:avLst>
              <a:gd name="adj" fmla="val 7285"/>
            </a:avLst>
          </a:prstGeom>
          <a:solidFill>
            <a:srgbClr val="E9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1506169" cy="868680"/>
          </a:xfrm>
          <a:prstGeom prst="roundRect">
            <a:avLst>
              <a:gd name="adj" fmla="val 12632"/>
            </a:avLst>
          </a:prstGeom>
          <a:solidFill>
            <a:srgbClr val="1B4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05" y="21671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17520"/>
            <a:ext cx="13232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Молекулярний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794760"/>
            <a:ext cx="12867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ДНК, білки, ферменти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118817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Shape 7"/>
          <p:cNvSpPr/>
          <p:nvPr/>
        </p:nvSpPr>
        <p:spPr>
          <a:xfrm>
            <a:off x="2466289" y="2011680"/>
            <a:ext cx="1506169" cy="2834640"/>
          </a:xfrm>
          <a:prstGeom prst="roundRect">
            <a:avLst>
              <a:gd name="adj" fmla="val 7285"/>
            </a:avLst>
          </a:prstGeom>
          <a:solidFill>
            <a:srgbClr val="E9F5EE"/>
          </a:solidFill>
          <a:ln/>
        </p:spPr>
      </p:sp>
      <p:sp>
        <p:nvSpPr>
          <p:cNvPr id="11" name="Shape 8"/>
          <p:cNvSpPr/>
          <p:nvPr/>
        </p:nvSpPr>
        <p:spPr>
          <a:xfrm>
            <a:off x="2466289" y="2011680"/>
            <a:ext cx="1506169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054" y="216712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557729" y="3017520"/>
            <a:ext cx="13232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Клітинний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576017" y="3794760"/>
            <a:ext cx="12867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клітина — найменша жива одиниця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036466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6" name="Shape 12"/>
          <p:cNvSpPr/>
          <p:nvPr/>
        </p:nvSpPr>
        <p:spPr>
          <a:xfrm>
            <a:off x="4383938" y="2011680"/>
            <a:ext cx="1506169" cy="2834640"/>
          </a:xfrm>
          <a:prstGeom prst="roundRect">
            <a:avLst>
              <a:gd name="adj" fmla="val 7285"/>
            </a:avLst>
          </a:prstGeom>
          <a:solidFill>
            <a:srgbClr val="E9F5EE"/>
          </a:solidFill>
          <a:ln/>
        </p:spPr>
      </p:sp>
      <p:sp>
        <p:nvSpPr>
          <p:cNvPr id="17" name="Shape 13"/>
          <p:cNvSpPr/>
          <p:nvPr/>
        </p:nvSpPr>
        <p:spPr>
          <a:xfrm>
            <a:off x="4383938" y="2011680"/>
            <a:ext cx="1506169" cy="868680"/>
          </a:xfrm>
          <a:prstGeom prst="roundRect">
            <a:avLst>
              <a:gd name="adj" fmla="val 12632"/>
            </a:avLst>
          </a:prstGeom>
          <a:solidFill>
            <a:srgbClr val="40916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703" y="2167128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475378" y="3017520"/>
            <a:ext cx="13232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Організмовий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493666" y="3794760"/>
            <a:ext cx="12867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окрема рослина, тварина, людина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954116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2" name="Shape 17"/>
          <p:cNvSpPr/>
          <p:nvPr/>
        </p:nvSpPr>
        <p:spPr>
          <a:xfrm>
            <a:off x="6301588" y="2011680"/>
            <a:ext cx="1506169" cy="2834640"/>
          </a:xfrm>
          <a:prstGeom prst="roundRect">
            <a:avLst>
              <a:gd name="adj" fmla="val 7285"/>
            </a:avLst>
          </a:prstGeom>
          <a:solidFill>
            <a:srgbClr val="E9F5EE"/>
          </a:solidFill>
          <a:ln/>
        </p:spPr>
      </p:sp>
      <p:sp>
        <p:nvSpPr>
          <p:cNvPr id="23" name="Shape 18"/>
          <p:cNvSpPr/>
          <p:nvPr/>
        </p:nvSpPr>
        <p:spPr>
          <a:xfrm>
            <a:off x="6301588" y="2011680"/>
            <a:ext cx="1506169" cy="868680"/>
          </a:xfrm>
          <a:prstGeom prst="roundRect">
            <a:avLst>
              <a:gd name="adj" fmla="val 12632"/>
            </a:avLst>
          </a:prstGeom>
          <a:solidFill>
            <a:srgbClr val="457B9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352" y="2167128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393028" y="3017520"/>
            <a:ext cx="13232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Популяційно-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видовий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411316" y="3794760"/>
            <a:ext cx="12867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зайці лісу, вид «заєць-русак»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7871765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8" name="Shape 22"/>
          <p:cNvSpPr/>
          <p:nvPr/>
        </p:nvSpPr>
        <p:spPr>
          <a:xfrm>
            <a:off x="8219237" y="2011680"/>
            <a:ext cx="1506169" cy="2834640"/>
          </a:xfrm>
          <a:prstGeom prst="roundRect">
            <a:avLst>
              <a:gd name="adj" fmla="val 7285"/>
            </a:avLst>
          </a:prstGeom>
          <a:solidFill>
            <a:srgbClr val="E9F5EE"/>
          </a:solidFill>
          <a:ln/>
        </p:spPr>
      </p:sp>
      <p:sp>
        <p:nvSpPr>
          <p:cNvPr id="29" name="Shape 23"/>
          <p:cNvSpPr/>
          <p:nvPr/>
        </p:nvSpPr>
        <p:spPr>
          <a:xfrm>
            <a:off x="8219237" y="2011680"/>
            <a:ext cx="1506169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8001" y="2167128"/>
            <a:ext cx="548640" cy="5486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310677" y="3017520"/>
            <a:ext cx="13232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Екосистемний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8328965" y="3794760"/>
            <a:ext cx="12867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ліс, озеро, луг разом з умовами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9789414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34" name="Shape 27"/>
          <p:cNvSpPr/>
          <p:nvPr/>
        </p:nvSpPr>
        <p:spPr>
          <a:xfrm>
            <a:off x="10136886" y="2011680"/>
            <a:ext cx="1506169" cy="2834640"/>
          </a:xfrm>
          <a:prstGeom prst="roundRect">
            <a:avLst>
              <a:gd name="adj" fmla="val 7285"/>
            </a:avLst>
          </a:prstGeom>
          <a:solidFill>
            <a:srgbClr val="E9F5EE"/>
          </a:solidFill>
          <a:ln/>
        </p:spPr>
      </p:sp>
      <p:sp>
        <p:nvSpPr>
          <p:cNvPr id="35" name="Shape 28"/>
          <p:cNvSpPr/>
          <p:nvPr/>
        </p:nvSpPr>
        <p:spPr>
          <a:xfrm>
            <a:off x="10136886" y="2011680"/>
            <a:ext cx="1506169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5651" y="2167128"/>
            <a:ext cx="548640" cy="54864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228326" y="3017520"/>
            <a:ext cx="13232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Біосферний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10246614" y="3794760"/>
            <a:ext cx="12867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усе життя Землі як єдине ціле</a:t>
            </a:r>
            <a:endParaRPr lang="en-US" sz="1300" dirty="0"/>
          </a:p>
        </p:txBody>
      </p:sp>
      <p:sp>
        <p:nvSpPr>
          <p:cNvPr id="39" name="Shape 31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1E4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822960" y="51206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Простий образ: літера → слово → речення → абзац → розділ → книга. Біосфера — це вся «книга життя» Землі.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біосфера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Біосфера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Оболонка Землі, населена живими організмами і перетворена ними. Включає нижню частину атмосфери, всю гідросферу і верхню частину літосфери.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Термін ввів Е. Зюсс (1875). Цілісне вчення про біосферу створив В. І. Вернадський (книга «Біосфера», 1926).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Простими словами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«Біо» — життя, «сфера» — куля, оболонка.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Уявіть яблуко: біосфера — це як тонка шкірка, тільки жива. У порівнянні з розміром Землі вона дуже тонка — приблизно 0,5 % радіуса планети. Але саме в ній відбувається все, що ми називаємо життям.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Межі і будова біосфери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закінчується життя?</a:t>
            </a:r>
            <a:endParaRPr lang="en-US" sz="1800" dirty="0"/>
          </a:p>
        </p:txBody>
      </p:sp>
      <p:sp>
        <p:nvSpPr>
          <p:cNvPr id="5" name="icon-circle"/>
          <p:cNvSpPr/>
          <p:nvPr/>
        </p:nvSpPr>
        <p:spPr>
          <a:xfrm>
            <a:off x="8778240" y="1828800"/>
            <a:ext cx="2743200" cy="2743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08" y="2487168"/>
            <a:ext cx="1426464" cy="14264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Біосфера охоплює три оболонки Землі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Атмосфера (нижня частина)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піднімається до озонового шару — приблизно 20–25 км. Вище ультрафіолет Сонця знищує живе. Постійно живуть лише в найнижчих шарах; вище — спори, пилок, бактерії.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Гідросфера (вся)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поверхні океану до найглибшої точки — Маріанської западини (≈ 11 км). Найбільше життя — у верхніх 100–200 м, куди проникає світло.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Літосфера (верхня частина)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Ґрунт — найбагатший на життя шар. Мікроорганізми знаходять у шахтах і свердловинах на глибині кількох кілометрів (до 3–5 км). Глибше заважає висока температура.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Рекорди життя: перевіряємо ваші здогадки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41 км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висота, з якої в пробах повітря отримували живі бактерії (дослідження 2009 р.)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90824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73704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11,3 км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619424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такій висоті гриф Рюппеля зіткнувся з літаком (1973) — рекорд польоту птаха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3008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15888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8,3 км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461608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найглибше знята на відео риба — равлик-риба, 2022 р.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75191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58071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11 км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303791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дно Маріанської западини: там живуть ракоподібні-амфіподи і мікроби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з вас був найближче до правди? Висновок: життя дуже «наполегливе» — Вернадський називав це «тиском життя»: живе прагне заповнити весь можливий простір.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чого складається біосфера (за Вернадським)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Вернадський виділив кілька типів речовини біосфери. Головні — чотири</a:t>
            </a:r>
            <a:endParaRPr lang="en-US" sz="1700" dirty="0"/>
          </a:p>
        </p:txBody>
      </p:sp>
      <p:sp>
        <p:nvSpPr>
          <p:cNvPr id="4" name="card"/>
          <p:cNvSpPr/>
          <p:nvPr/>
        </p:nvSpPr>
        <p:spPr>
          <a:xfrm>
            <a:off x="548640" y="1965960"/>
            <a:ext cx="5410048" cy="1965960"/>
          </a:xfrm>
          <a:prstGeom prst="roundRect">
            <a:avLst>
              <a:gd name="adj" fmla="val 5581"/>
            </a:avLst>
          </a:prstGeom>
          <a:solidFill>
            <a:srgbClr val="E9F5EE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22960" y="224028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4048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24028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Жива речовина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6324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живі організми разом: рослини, тварини, гриби, бактерії, людина.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6233008" y="1965960"/>
            <a:ext cx="5410048" cy="1965960"/>
          </a:xfrm>
          <a:prstGeom prst="roundRect">
            <a:avLst>
              <a:gd name="adj" fmla="val 5581"/>
            </a:avLst>
          </a:prstGeom>
          <a:solidFill>
            <a:srgbClr val="E9F5EE"/>
          </a:solidFill>
          <a:ln/>
        </p:spPr>
      </p:sp>
      <p:sp>
        <p:nvSpPr>
          <p:cNvPr id="10" name="icon-circle"/>
          <p:cNvSpPr/>
          <p:nvPr/>
        </p:nvSpPr>
        <p:spPr>
          <a:xfrm>
            <a:off x="6507328" y="2240280"/>
            <a:ext cx="685800" cy="6858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20" y="24048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76008" y="224028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Біогенна речовина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306324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Створена живими, але вже нежива: вугілля, нафта, торф, крейда, вапняк.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548640" y="4206240"/>
            <a:ext cx="5410048" cy="1965960"/>
          </a:xfrm>
          <a:prstGeom prst="roundRect">
            <a:avLst>
              <a:gd name="adj" fmla="val 5581"/>
            </a:avLst>
          </a:prstGeom>
          <a:solidFill>
            <a:srgbClr val="E9F5EE"/>
          </a:solidFill>
          <a:ln/>
        </p:spPr>
      </p:sp>
      <p:sp>
        <p:nvSpPr>
          <p:cNvPr id="15" name="icon-circle"/>
          <p:cNvSpPr/>
          <p:nvPr/>
        </p:nvSpPr>
        <p:spPr>
          <a:xfrm>
            <a:off x="822960" y="4480560"/>
            <a:ext cx="685800" cy="685800"/>
          </a:xfrm>
          <a:prstGeom prst="ellipse">
            <a:avLst/>
          </a:prstGeom>
          <a:solidFill>
            <a:srgbClr val="5C6B63"/>
          </a:solidFill>
          <a:ln w="12700">
            <a:solidFill>
              <a:srgbClr val="5C6B63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64515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448056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Косна речовина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30352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Утворена без участі живого: граніт, базальт, вулканічна лава, метеорити.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6233008" y="4206240"/>
            <a:ext cx="5410048" cy="1965960"/>
          </a:xfrm>
          <a:prstGeom prst="roundRect">
            <a:avLst>
              <a:gd name="adj" fmla="val 5581"/>
            </a:avLst>
          </a:prstGeom>
          <a:solidFill>
            <a:srgbClr val="E9F5EE"/>
          </a:solidFill>
          <a:ln/>
        </p:spPr>
      </p:sp>
      <p:sp>
        <p:nvSpPr>
          <p:cNvPr id="20" name="icon-circle"/>
          <p:cNvSpPr/>
          <p:nvPr/>
        </p:nvSpPr>
        <p:spPr>
          <a:xfrm>
            <a:off x="6507328" y="448056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920" y="464515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76008" y="448056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Біокосна речовина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507328" y="530352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Спільний «продукт» живого і неживого: ґрунт, мул, вода річок і океанів.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Жива речовина та її функції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робить живе для всієї планети</a:t>
            </a:r>
            <a:endParaRPr lang="en-US" sz="1800" dirty="0"/>
          </a:p>
        </p:txBody>
      </p:sp>
      <p:sp>
        <p:nvSpPr>
          <p:cNvPr id="5" name="icon-circle"/>
          <p:cNvSpPr/>
          <p:nvPr/>
        </p:nvSpPr>
        <p:spPr>
          <a:xfrm>
            <a:off x="8778240" y="1828800"/>
            <a:ext cx="2743200" cy="2743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08" y="2487168"/>
            <a:ext cx="1426464" cy="14264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«важить» найбільше в біосфері?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82 %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рослини — головна маса живої речовини Землі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90824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73704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13 %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619424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бактерії — невидимі, але їх дуже багато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3008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15888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0,4 %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461608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тварини разом (комахи, риби, ссавці, птахи…)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75191" y="14630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58071" y="16459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0,01 %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303791" y="288036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— усього одна десятитисячна частина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Маса всього живого на Землі ≈ 550 млрд тонн вуглецю. Людей — крихітна частка, але саме людина змінює біосферу найсильніше.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Джерело: Bar-On, Phillips, Milo. The biomass distribution on Earth. PNAS, 2018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Функції живої речовини: що живе робить для планети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Енергетична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Рослини вловлюють енергію Сонця і запасають її в органічних речовинах. Ми їмо цю енергію.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3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1218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Газова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Фотосинтез дає кисень, дихання — вуглекислий газ. Живе створило сучасну атмосферу.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17647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70797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Концентраційна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Організми накопичують елементи: черепашки — кальцій, морська капуста — йод, хвощ — кремній.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Деструктивна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Гриби і бактерії розкладають мертву органіку на прості речовини — «прибиральники» планети.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4" name="icon-circle"/>
          <p:cNvSpPr/>
          <p:nvPr/>
        </p:nvSpPr>
        <p:spPr>
          <a:xfrm>
            <a:off x="4612538" y="4160520"/>
            <a:ext cx="685800" cy="6858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130" y="432511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1218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Окисно-відновна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Бактерії перетворюють залізо, сірку, азот. Так утворилися деякі руди.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9" name="icon-circle"/>
          <p:cNvSpPr/>
          <p:nvPr/>
        </p:nvSpPr>
        <p:spPr>
          <a:xfrm>
            <a:off x="8402117" y="4160520"/>
            <a:ext cx="685800" cy="6858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709" y="432511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70797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Середовищетвірна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402117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Живі організми створюють середовище: ґрунт, торф, коралові рифи, клімат лісу.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ПРОБЛЕМНЕ ПИТАННЯ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станеться з планетою, якщо одного дня зникнуть усі бактерії і гриби-редуценти?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Обговоріть у парах 2 хвилини. Подумайте ланцюжком: «спочатку… потім… а в результаті…»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без редуцентів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Спочатку: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мертві рослини, тварини, листя перестануть гнити — вони накопичуватимуться шарами.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Потім: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мінеральні речовини (азот, фосфор) не повертатимуться в ґрунт — рослини почнуть «голодувати».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Далі: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рослини гинуть → травоїдні гинуть → хижаки гинуть. Ланцюги живлення руйнуються.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колообіг речовин зупиниться. Без «невидимих прибиральників» біосфера не може існувати.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Ланцюги живлення і потік енергії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кого їсть — і куди зникає енергія</a:t>
            </a:r>
            <a:endParaRPr lang="en-US" sz="1800" dirty="0"/>
          </a:p>
        </p:txBody>
      </p:sp>
      <p:sp>
        <p:nvSpPr>
          <p:cNvPr id="5" name="icon-circle"/>
          <p:cNvSpPr/>
          <p:nvPr/>
        </p:nvSpPr>
        <p:spPr>
          <a:xfrm>
            <a:off x="8778240" y="1828800"/>
            <a:ext cx="2743200" cy="2743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08" y="2487168"/>
            <a:ext cx="1426464" cy="14264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Ланцюг живлення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Ланцюг живлення (трофічний ланцюг)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Перенесення речовин і енергії від їх джерела через низку організмів, коли одні види поїдають інших.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Кожна ланка ланцюга — це трофічний рівень (від грец. «трофе» — живлення).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Простими словами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Ланцюги переплітаються і утворюють трофічну сітку — як павутину.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Заєць їсть не тільки траву, а й кору. Зайця їсть лисиця, вовк, сова. Якщо «порвати» одну нитку — уся сітка змінюється.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є хто в ланцюгу живлення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817" y="1618488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Продуценти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Зелені рослини, водорості. Самі створюють органіку із CO₂, води і світла.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Приклад: трава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077642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9" name="Shape 6"/>
          <p:cNvSpPr/>
          <p:nvPr/>
        </p:nvSpPr>
        <p:spPr>
          <a:xfrm>
            <a:off x="3425114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0" name="Shape 7"/>
          <p:cNvSpPr/>
          <p:nvPr/>
        </p:nvSpPr>
        <p:spPr>
          <a:xfrm>
            <a:off x="3425114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40916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291" y="161848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16554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Консументи I порядку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34842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Травоїдні. Їдять рослини.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Приклад: заєць, коник, корова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954116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5" name="Shape 11"/>
          <p:cNvSpPr/>
          <p:nvPr/>
        </p:nvSpPr>
        <p:spPr>
          <a:xfrm>
            <a:off x="6301588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1588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765" y="161848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93028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Консументи II порядку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411316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Хижаки. Їдять травоїдних.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Приклад: лисиця, жаба, сова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8830589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1" name="Shape 16"/>
          <p:cNvSpPr/>
          <p:nvPr/>
        </p:nvSpPr>
        <p:spPr>
          <a:xfrm>
            <a:off x="9178061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22" name="Shape 17"/>
          <p:cNvSpPr/>
          <p:nvPr/>
        </p:nvSpPr>
        <p:spPr>
          <a:xfrm>
            <a:off x="9178061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238" y="1618488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69501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Редуценти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9287789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Бактерії, гриби. Розкладають рештки до мінеральних речовин.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Приклад: гнильні бактерії, печериці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548640" y="484632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DF1E4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22960" y="484632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Редуценти «замикають коло»: мінеральні солі знову потрапляють у ґрунт і їх поглинають рослини. Речовини ходять по колу — а енергія ні.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10 %: куди зникає енергія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Кожна ланка передає наступній лише ≈ 10 % енергії. Решта йде на дихання, рух, тепло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889699" cy="283464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70" y="21671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Трава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794760"/>
            <a:ext cx="17068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кДж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502347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Shape 7"/>
          <p:cNvSpPr/>
          <p:nvPr/>
        </p:nvSpPr>
        <p:spPr>
          <a:xfrm>
            <a:off x="2849819" y="2011680"/>
            <a:ext cx="1889699" cy="283464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11" name="Shape 8"/>
          <p:cNvSpPr/>
          <p:nvPr/>
        </p:nvSpPr>
        <p:spPr>
          <a:xfrm>
            <a:off x="2849819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40916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349" y="216712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41259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Коник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941259" y="3794760"/>
            <a:ext cx="17068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кДж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4803526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6" name="Shape 12"/>
          <p:cNvSpPr/>
          <p:nvPr/>
        </p:nvSpPr>
        <p:spPr>
          <a:xfrm>
            <a:off x="5150998" y="2011680"/>
            <a:ext cx="1889699" cy="283464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17" name="Shape 13"/>
          <p:cNvSpPr/>
          <p:nvPr/>
        </p:nvSpPr>
        <p:spPr>
          <a:xfrm>
            <a:off x="5150998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457B9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2167128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42438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Жаба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242438" y="3794760"/>
            <a:ext cx="17068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кДж</a:t>
            </a:r>
            <a:endParaRPr lang="en-US" sz="2400" dirty="0"/>
          </a:p>
        </p:txBody>
      </p:sp>
      <p:sp>
        <p:nvSpPr>
          <p:cNvPr id="21" name="Shape 16"/>
          <p:cNvSpPr/>
          <p:nvPr/>
        </p:nvSpPr>
        <p:spPr>
          <a:xfrm>
            <a:off x="7104705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2" name="Shape 17"/>
          <p:cNvSpPr/>
          <p:nvPr/>
        </p:nvSpPr>
        <p:spPr>
          <a:xfrm>
            <a:off x="7452177" y="2011680"/>
            <a:ext cx="1889699" cy="283464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23" name="Shape 18"/>
          <p:cNvSpPr/>
          <p:nvPr/>
        </p:nvSpPr>
        <p:spPr>
          <a:xfrm>
            <a:off x="7452177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707" y="2167128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43617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Вуж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543617" y="3794760"/>
            <a:ext cx="17068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кДж</a:t>
            </a:r>
            <a:endParaRPr lang="en-US" sz="2400" dirty="0"/>
          </a:p>
        </p:txBody>
      </p:sp>
      <p:sp>
        <p:nvSpPr>
          <p:cNvPr id="27" name="Shape 21"/>
          <p:cNvSpPr/>
          <p:nvPr/>
        </p:nvSpPr>
        <p:spPr>
          <a:xfrm>
            <a:off x="9405884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8" name="Shape 22"/>
          <p:cNvSpPr/>
          <p:nvPr/>
        </p:nvSpPr>
        <p:spPr>
          <a:xfrm>
            <a:off x="9753356" y="2011680"/>
            <a:ext cx="1889699" cy="283464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29" name="Shape 23"/>
          <p:cNvSpPr/>
          <p:nvPr/>
        </p:nvSpPr>
        <p:spPr>
          <a:xfrm>
            <a:off x="9753356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3886" y="2167128"/>
            <a:ext cx="548640" cy="5486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44796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Орел-змієїд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844796" y="3794760"/>
            <a:ext cx="17068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кДж</a:t>
            </a:r>
            <a:endParaRPr lang="en-US" sz="2400" dirty="0"/>
          </a:p>
        </p:txBody>
      </p:sp>
      <p:sp>
        <p:nvSpPr>
          <p:cNvPr id="33" name="Shape 26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1E4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822960" y="51206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Тому ланцюги короткі (зазвичай 3–5 ланок), а хижаків завжди менше, ніж травоїдних. Тому й прогодувати людство рослинною їжею легше, ніж м'ясом.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 СЕБЕ · 1/3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Трава накопичила 10 000 кДж енергії. Скільки енергії отримає лисиця в ланцюгу «трава → заєць → лисиця»?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кДж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7328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73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кДж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кДж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7328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7328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5 000 кДж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 ВІДПОВІДЬ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Скільки енергії отримає лисиця (трава → заєць → лисиця)?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10312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Б) 100 кДж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094415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56616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так: </a:t>
            </a:r>
            <a:pPr indent="0" marL="0">
              <a:buNone/>
            </a:pPr>
            <a:r>
              <a:rPr lang="en-US" sz="20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Трава (10 000) → заєць отримає 10 % = 1 000 кДж → лисиця отримає 10 % від цього = 100 кДж. Типова помилка — відповісти 1 000: це енергія зайця, а не лисиці.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Колообіг речовин у біосфері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Енергія — в один бік, речовини — по колу</a:t>
            </a:r>
            <a:endParaRPr lang="en-US" sz="1800" dirty="0"/>
          </a:p>
        </p:txBody>
      </p:sp>
      <p:sp>
        <p:nvSpPr>
          <p:cNvPr id="5" name="icon-circle"/>
          <p:cNvSpPr/>
          <p:nvPr/>
        </p:nvSpPr>
        <p:spPr>
          <a:xfrm>
            <a:off x="8778240" y="1828800"/>
            <a:ext cx="2743200" cy="2743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08" y="2487168"/>
            <a:ext cx="1426464" cy="14264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колообіги, які працюють разом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Великий (геологічний)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Рушій — енергія Сонця і внутрішнє тепло Землі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Колообіг води: випаровування → хмари → дощ → річки → океан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Руйнування гірських порід, перенесення річками в океан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Триває мільйони років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53048" y="1600200"/>
            <a:ext cx="731520" cy="7315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Малий (біологічний)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Рушій — живі організми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Рослина бере з ґрунту речовини → тварина їсть рослину → редуценти повертають речовини в ґрунт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Відбувається в межах однієї екосистеми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Триває від днів до кількох років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Разом вони утворюють біогеохімічний колообіг: елементи по черзі бувають то в живому, то в неживому.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Колообіг Вуглецю (Карбону)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889699" cy="310896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457B9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70" y="1618488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в атмосфері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246120"/>
            <a:ext cx="167024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вуглекислий газ у повітрі і воді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02347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9" name="Shape 6"/>
          <p:cNvSpPr/>
          <p:nvPr/>
        </p:nvSpPr>
        <p:spPr>
          <a:xfrm>
            <a:off x="2849819" y="1463040"/>
            <a:ext cx="1889699" cy="310896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10" name="Shape 7"/>
          <p:cNvSpPr/>
          <p:nvPr/>
        </p:nvSpPr>
        <p:spPr>
          <a:xfrm>
            <a:off x="2849819" y="146304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349" y="161848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41259" y="24688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Фотосинтез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959547" y="3246120"/>
            <a:ext cx="167024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рослини вбудовують вуглець у цукри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803526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5" name="Shape 11"/>
          <p:cNvSpPr/>
          <p:nvPr/>
        </p:nvSpPr>
        <p:spPr>
          <a:xfrm>
            <a:off x="5150998" y="1463040"/>
            <a:ext cx="1889699" cy="310896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16" name="Shape 12"/>
          <p:cNvSpPr/>
          <p:nvPr/>
        </p:nvSpPr>
        <p:spPr>
          <a:xfrm>
            <a:off x="5150998" y="146304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40916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161848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42438" y="24688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Живлення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260726" y="3246120"/>
            <a:ext cx="167024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вуглець переходить у тварин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7104705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1" name="Shape 16"/>
          <p:cNvSpPr/>
          <p:nvPr/>
        </p:nvSpPr>
        <p:spPr>
          <a:xfrm>
            <a:off x="7452177" y="1463040"/>
            <a:ext cx="1889699" cy="310896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22" name="Shape 17"/>
          <p:cNvSpPr/>
          <p:nvPr/>
        </p:nvSpPr>
        <p:spPr>
          <a:xfrm>
            <a:off x="7452177" y="146304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707" y="1618488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543617" y="24688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Дихання і гниття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7561905" y="3246120"/>
            <a:ext cx="167024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повертається в повітря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9405884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7" name="Shape 21"/>
          <p:cNvSpPr/>
          <p:nvPr/>
        </p:nvSpPr>
        <p:spPr>
          <a:xfrm>
            <a:off x="9753356" y="1463040"/>
            <a:ext cx="1889699" cy="310896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28" name="Shape 22"/>
          <p:cNvSpPr/>
          <p:nvPr/>
        </p:nvSpPr>
        <p:spPr>
          <a:xfrm>
            <a:off x="9753356" y="146304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1B4332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3886" y="1618488"/>
            <a:ext cx="548640" cy="5486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844796" y="24688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Поховання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9863084" y="3246120"/>
            <a:ext cx="167024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частина вуглецю мільйони років тому стала вугіллям, нафтою, газом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548640" y="484632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DF1E4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822960" y="484632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за 150–200 років спалює те, що накопичувалось мільйони років. Концентрація CO₂: ≈ 280 ppm до промислової революції → понад 420 ppm сьогодні.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Колообіг Азоту (Нітрогену)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Азоту в повітрі 78 %, але рослини не вміють брати його з повітря. Їм допомагають бактерії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70" y="21671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Азотфіксація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79476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бульбочкові бактерії на коренях бобових (горох, конюшина) зв'язують N₂ з повітря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502347" y="37490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Shape 7"/>
          <p:cNvSpPr/>
          <p:nvPr/>
        </p:nvSpPr>
        <p:spPr>
          <a:xfrm>
            <a:off x="2849819" y="201168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11" name="Shape 8"/>
          <p:cNvSpPr/>
          <p:nvPr/>
        </p:nvSpPr>
        <p:spPr>
          <a:xfrm>
            <a:off x="2849819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40916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349" y="216712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41259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Нітрифікація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959547" y="379476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бактерії перетворюють амоніак на нітрати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03526" y="37490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6" name="Shape 12"/>
          <p:cNvSpPr/>
          <p:nvPr/>
        </p:nvSpPr>
        <p:spPr>
          <a:xfrm>
            <a:off x="5150998" y="201168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17" name="Shape 13"/>
          <p:cNvSpPr/>
          <p:nvPr/>
        </p:nvSpPr>
        <p:spPr>
          <a:xfrm>
            <a:off x="5150998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457B9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2167128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42438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Засвоєння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260726" y="379476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рослини вбирають нітрати і будують білки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7104705" y="37490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2" name="Shape 17"/>
          <p:cNvSpPr/>
          <p:nvPr/>
        </p:nvSpPr>
        <p:spPr>
          <a:xfrm>
            <a:off x="7452177" y="201168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23" name="Shape 18"/>
          <p:cNvSpPr/>
          <p:nvPr/>
        </p:nvSpPr>
        <p:spPr>
          <a:xfrm>
            <a:off x="7452177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707" y="2167128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43617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Амоніфікація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561905" y="379476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після смерті організмів редуценти знову утворюють амоніак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9405884" y="37490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8" name="Shape 22"/>
          <p:cNvSpPr/>
          <p:nvPr/>
        </p:nvSpPr>
        <p:spPr>
          <a:xfrm>
            <a:off x="9753356" y="201168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29" name="Shape 23"/>
          <p:cNvSpPr/>
          <p:nvPr/>
        </p:nvSpPr>
        <p:spPr>
          <a:xfrm>
            <a:off x="9753356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3886" y="2167128"/>
            <a:ext cx="548640" cy="5486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44796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Денітрифікація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863084" y="379476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бактерії повертають азот N₂ в атмосферу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людина «ламає» колообіг: еутрофікація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Надлишок добрив (азот, фосфор) змивається з полів у водойми</a:t>
            </a:r>
            <a:endParaRPr lang="en-US" sz="1700" dirty="0"/>
          </a:p>
        </p:txBody>
      </p:sp>
      <p:sp>
        <p:nvSpPr>
          <p:cNvPr id="4" name="card"/>
          <p:cNvSpPr/>
          <p:nvPr/>
        </p:nvSpPr>
        <p:spPr>
          <a:xfrm>
            <a:off x="548640" y="1965960"/>
            <a:ext cx="2567864" cy="420624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22960" y="2240280"/>
            <a:ext cx="868680" cy="8686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2448763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33756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Добрива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06240"/>
            <a:ext cx="2019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Дощ змиває надлишок добрив і стічні води з полів у ставки та річки.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3390824" y="1965960"/>
            <a:ext cx="2567864" cy="420624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10" name="icon-circle"/>
          <p:cNvSpPr/>
          <p:nvPr/>
        </p:nvSpPr>
        <p:spPr>
          <a:xfrm>
            <a:off x="3665144" y="2240280"/>
            <a:ext cx="868680" cy="8686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627" y="244876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65144" y="333756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«Цвітіння» води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665144" y="4206240"/>
            <a:ext cx="2019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Водорості отримують «добриво» і бурхливо розмножуються. Вода стає зеленою.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6233008" y="1965960"/>
            <a:ext cx="2567864" cy="420624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15" name="icon-circle"/>
          <p:cNvSpPr/>
          <p:nvPr/>
        </p:nvSpPr>
        <p:spPr>
          <a:xfrm>
            <a:off x="6507328" y="224028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811" y="244876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07328" y="333756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Нестача кисню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507328" y="4206240"/>
            <a:ext cx="2019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Водорості відмирають, бактерії їх розкладають і витрачають увесь кисень.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9075191" y="1965960"/>
            <a:ext cx="2567864" cy="420624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20" name="icon-circle"/>
          <p:cNvSpPr/>
          <p:nvPr/>
        </p:nvSpPr>
        <p:spPr>
          <a:xfrm>
            <a:off x="9349511" y="2240280"/>
            <a:ext cx="868680" cy="8686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7995" y="244876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49511" y="333756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Замор риби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9349511" y="4206240"/>
            <a:ext cx="2019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Риба й інші тварини гинуть. Екосистема водойми руйнується.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1/4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«Головні «легені планети» — ліси Амазонії»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«Головні «легені планети» — ліси Амазонії»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Близько половини кисню на Землі виробляє океанічний фітопланктон — мікроскопічні водорості. Амазонія справді виробляє багато кисню, але майже стільки ж і споживає (дихання тварин, гниття). Її головна роль — зберігати величезні запаси вуглецю і біорізноманіття.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2/4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«Людина — найбільш масовий вид організмів на Землі»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«Людина — найбільш масовий вид організмів на Землі»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Маса людей — близько 0,01 % маси всього живого. Навіть маса мурах на планеті порівнянна з масою людства, а бактерій — у сотні разів більша. Проте людина змінює біосферу сильніше за будь-який інший вид.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3/4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«Бактерії — це лише шкідники і збудники хвороб»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«Бактерії — це лише шкідники і збудники хвороб»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Абсолютна більшість бактерій корисні або нейтральні. Вони розкладають рештки, фіксують азот, роблять кисломолочні продукти, живуть у нашому кишечнику і допомагають травленню. Хвороботворних — меншість.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4/4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«Енергія в природі ходить по колу так само, як речовини»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«Енергія в природі ходить по колу так само, як речовини»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Речовини (вуглець, азот, вода) рухаються по колу, а енергія — в один бік: від Сонця через ланцюг живлення і розсіюється у вигляді тепла. Тому біосфері потрібен постійний «приплив» сонячної енергії.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 СЕБЕ · 2/3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Ґрунт, мул, вода річок — за Вернадським, це речовина…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7328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73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біогенна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косна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7328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7328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біокосна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 ВІДПОВІДЬ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Ґрунт, мул, вода річок — це речовина…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10312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Г) біокосна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094415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56616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так: </a:t>
            </a:r>
            <a:pPr indent="0" marL="0">
              <a:buNone/>
            </a:pPr>
            <a:r>
              <a:rPr lang="en-US" sz="20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Біокосна речовина — спільний продукт живих організмів і неживої природи. Ґрунт утворюється з гірської породи за участю бактерій, грибів, рослин і черв'яків.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 СЕБЕ · 3/3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Яка верхня межа поширення життя в атмосфері і чому саме там?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км — там закінчується кисень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7328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73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20–25 км — озоновий шар, вище вбиває ультрафіолет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км — там починається космос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7328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7328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Межі немає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 ВІДПОВІДЬ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Верхня межа біосфери в атмосфері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10312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Б) 20–25 км — озоновий шар, вище вбиває ультрафіолет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094415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56616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так: </a:t>
            </a:r>
            <a:pPr indent="0" marL="0">
              <a:buNone/>
            </a:pPr>
            <a:r>
              <a:rPr lang="en-US" sz="20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Озоновий шар поглинає більшу частину жорсткого ультрафіолету Сонця. Вище нього живі клітини швидко гинуть. Тому озоновий шар — «парасолька» біосфери і його руйнування — глобальна проблема.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Кейс: що б ви зробили?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760720" cy="4754880"/>
          </a:xfrm>
          <a:prstGeom prst="roundRect">
            <a:avLst>
              <a:gd name="adj" fmla="val 2885"/>
            </a:avLst>
          </a:prstGeom>
          <a:solidFill>
            <a:srgbClr val="E3EEF5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68680" y="1645920"/>
            <a:ext cx="777240" cy="77724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83245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45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Ситуація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вашому селі є ставок. Останні три роки щоліта вода в ньому стає яскраво-зеленою, з'являється неприємний запах, а в серпні на березі знаходять мертву рибу.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Поруч зі ставком — поле, яке щовесни щедро удобрюють.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0" y="1371600"/>
            <a:ext cx="5059375" cy="4754880"/>
          </a:xfrm>
          <a:prstGeom prst="roundRect">
            <a:avLst>
              <a:gd name="adj" fmla="val 2885"/>
            </a:avLst>
          </a:prstGeom>
          <a:solidFill>
            <a:srgbClr val="1B43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03720" y="164592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Ваше завдання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286000"/>
            <a:ext cx="441929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Поясніть, що відбувається, використовуючи слова: колообіг, добрива, водорості, кисень, редуценти.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Побудуйте ланцюжок «причина → наслідок».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Запропонуйте 3 конкретні рішення: для фермера, для громади, для кожного жителя.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54406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7–10 хв, групи по 3–4 особи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за сьогодні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45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14630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Біосфера — жива оболонка Землі: нижня атмосфера (до ≈ 20–25 км), уся гідросфера (до ≈ 11 км), верх літосфери (до ≈ 3–5 км).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28900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23774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найвищий рівень організації життя: молекула → клітина → організм → популяція → екосистема → біосфера.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43300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32918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Жива речовина виконує функції: енергетичну, газову, концентраційну, деструктивну, окисно-відновну, середовищетвірну.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57700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34440" y="42062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Енергія тече в один бік (правило 10 %), речовини рухаються по колу завдяки продуцентам, консументам і редуцентам.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372100"/>
            <a:ext cx="411480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34440" y="51206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— 0,01 % біомаси, але найсильніша сила, що змінює біосферу. Про це — наступна лекція (Вернадський і ноосфера).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РЕФЛЕКСІЯ · ПРОДОВЖІТЬ РЕЧЕННЯ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2024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 мене найбільше здивувало…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1089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тепер можу пояснити другові, що…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29768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досі не до кінця розумію…</a:t>
            </a:r>
            <a:endParaRPr lang="en-US" sz="2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Домашнє завдання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Складіть 2 ланцюги живлення для екосистем вашої місцевості (ставок, ліс, поле) по 4–5 ланок. Позначте продуцентів, консументів, редуцентів.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Намалюйте схему колообігу Вуглецю або Азоту з поясненнями.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Знайдіть 3 приклади біогенної речовини, яку ви використовуєте щодня.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Підготуйтеся до наступної теми: хто такий В. І. Вернадський і що означає слово «ноосфера»?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3108960"/>
          </a:xfrm>
          <a:prstGeom prst="roundRect">
            <a:avLst>
              <a:gd name="adj" fmla="val 4412"/>
            </a:avLst>
          </a:prstGeom>
          <a:solidFill>
            <a:srgbClr val="1B433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Відповіді можна оформити письмово в зошиті або як коротку презентацію чи інфографіку (3–5 слайдів).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риродничі науки">
  <a:themeElements>
    <a:clrScheme name="Природничі науки">
      <a:dk1>
        <a:srgbClr val="1F2A24"/>
      </a:dk1>
      <a:lt1>
        <a:srgbClr val="FFFFFF"/>
      </a:lt1>
      <a:dk2>
        <a:srgbClr val="1B4332"/>
      </a:dk2>
      <a:lt2>
        <a:srgbClr val="E9F5EE"/>
      </a:lt2>
      <a:accent1>
        <a:srgbClr val="2D6A4F"/>
      </a:accent1>
      <a:accent2>
        <a:srgbClr val="95D5B2"/>
      </a:accent2>
      <a:accent3>
        <a:srgbClr val="F4A261"/>
      </a:accent3>
      <a:accent4>
        <a:srgbClr val="E76F51"/>
      </a:accent4>
      <a:accent5>
        <a:srgbClr val="457B9D"/>
      </a:accent5>
      <a:accent6>
        <a:srgbClr val="40916C"/>
      </a:accent6>
      <a:hlink>
        <a:srgbClr val="457B9D"/>
      </a:hlink>
      <a:folHlink>
        <a:srgbClr val="2D6A4F"/>
      </a:folHlink>
    </a:clrScheme>
    <a:fontScheme name="Природничі наук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Біосфера Землі — найвищий рівень організації життя</dc:title>
  <dc:subject>Природничі науки, 2 курс</dc:subject>
  <dc:creator>Баталова Т. П.</dc:creator>
  <cp:lastModifiedBy>Баталова Т. П.</cp:lastModifiedBy>
  <cp:revision>1</cp:revision>
  <dcterms:created xsi:type="dcterms:W3CDTF">2026-10-03T12:56:17Z</dcterms:created>
  <dcterms:modified xsi:type="dcterms:W3CDTF">2026-10-03T12:56:17Z</dcterms:modified>
</cp:coreProperties>
</file>