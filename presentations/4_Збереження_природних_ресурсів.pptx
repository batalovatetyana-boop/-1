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8c19e1ab-7acd-264f-cb4f-db5dbcfbc65f}">
          <p14:sldIdLst>
            <p14:sldId id="256"/>
            <p14:sldId id="257"/>
            <p14:sldId id="258"/>
            <p14:sldId id="259"/>
          </p14:sldIdLst>
        </p14:section>
        <p14:section name="Природокористування" id="{5ae9e502-dd71-dead-f08d-49c9047cd73e}">
          <p14:sldIdLst>
            <p14:sldId id="260"/>
            <p14:sldId id="261"/>
            <p14:sldId id="262"/>
            <p14:sldId id="263"/>
          </p14:sldIdLst>
        </p14:section>
        <p14:section name="Напрям 1. Ресурсозбереження" id="{c4dac929-0924-808f-2dbc-d2da04826859}">
          <p14:sldIdLst>
            <p14:sldId id="264"/>
            <p14:sldId id="265"/>
          </p14:sldIdLst>
        </p14:section>
        <p14:section name="Напрям 2. Відходи" id="{d79ef5e3-064d-5311-36d5-167bd44e5008}">
          <p14:sldIdLst>
            <p14:sldId id="266"/>
            <p14:sldId id="267"/>
            <p14:sldId id="268"/>
            <p14:sldId id="269"/>
          </p14:sldIdLst>
        </p14:section>
        <p14:section name="Напрям 3. Охорона і відтворення" id="{3ce896fb-6c42-2054-7b6c-834f66282ef5}">
          <p14:sldIdLst>
            <p14:sldId id="270"/>
            <p14:sldId id="271"/>
            <p14:sldId id="272"/>
            <p14:sldId id="273"/>
          </p14:sldIdLst>
        </p14:section>
        <p14:section name="Міфи і факти" id="{84d7c7bd-871f-599d-cd3b-0a0d2043b919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Закріплення" id="{84ad7e31-08c4-f38a-d07a-cf84c94bdb62}">
          <p14:sldIdLst>
            <p14:sldId id="280"/>
            <p14:sldId id="281"/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Привітання. Тема — як людина користується природою і як робити це розумно.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Розминка. Вислухайте різні варіанти: продати, вирубати, не чіпати, зробити туристичний об'єкт тощо. Відповіді — на наступному слайді.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Підведіть до ключових понять: раціональне природокористування і сталий розвиток.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Інтрига. Відповідь — на слайді «Скільки розкладається сміття».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Наголос: природокористування включає і використання, і охорону.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Можна запитати: які приклади нераціонального природокористування ви бачили у своєму місті чи селі?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Метафора з банком: природа — це вклад, ми маємо жити на відсотки, а не витрачати сам вклад.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Огляд трьох напрямів з конспекту. Далі — кожен окремо.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Можна запитати: як ви економите ресурси вдома? (вимикати світло, не лишати воду відкритою, утеплення вікон).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Дані з конспекту. Наголос на контрасті 40 % і 5 % — великий резерв для України.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Для наочності: 1 млрд тонн — це приблизно 25 тонн відходів на кожного жителя України щороку.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Повертаємося до розминки. Порівняйте здогадки студентів.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Приклад: з 1 тонни макулатури можна зробити стільки паперу, скільки з кількох дерев.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Практичний слайд. Можна запитати, хто вже сортує вдома і де в місті є пункти прийому вторсировини чи батарейок.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Особливо важливо для України: чорноземи — наше багатство, а малі річки масово зникають.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конспектом: рекультивація все актуальніша в Україні. Особливо після війни: доведеться відновлювати величезні площі зруйнованих і замінованих земель.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Сумний факт: з 2022 р. Асканія-Нова перебуває в окупації. Багато природоохоронних об'єктів виникло вже в роки незалежності України.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Закони з конспекту. Право на безпечне довкілля закріплене і в Конституції України (стаття 50).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Очікувані ідеї: ліквідувати звалище, рекультивувати ділянку (посадити дерева), впровадити сортування і контейнери, пункт прийому вторсировини, розчистити річку, штрафи, просвіта, толока. Групи презентують по 1–2 хв.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Рефлексія.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Домашнє завдання.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Збереження природних ресурсів та раціональне природокористування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rgbClr val="E9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Збереження природних ресурсів та раціональне природокористування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669280" cy="56692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931920"/>
            <a:ext cx="3291840" cy="3291840"/>
          </a:xfrm>
          <a:prstGeom prst="ellipse">
            <a:avLst/>
          </a:prstGeom>
          <a:solidFill>
            <a:srgbClr val="40916C">
              <a:alpha val="60000"/>
            </a:srgbClr>
          </a:solidFill>
          <a:ln w="12700">
            <a:solidFill>
              <a:srgbClr val="40916C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74320"/>
            <a:ext cx="3291840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ЛЕКЦІЯ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Збереження природних ресурсів та раціональне природокористування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користуватися природою так, щоб її вистачило і нам, і нашим онукам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Природничі науки · 2 курс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Уявіть: ви отримали у спадок ліс. Що ви з ним зробите — і чому?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Подумайте 1 хвилину. Немає правильної чи неправильної відповіді — важливо пояснити свій вибір.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способи розпорядитися лісом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Вирубати все й продати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швидкі гроші один раз. Потім ні лісу, ні прибутку, ґрунт розмивається.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Нічого не чіпати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ліс збережено, але людина не отримує від нього користі.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Брати стільки, скільки встигає вирости, і садити нові дерева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ліс дає дохід десятки й сотні років і залишається вашим дітям.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Висновок: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третій варіант і є раціональне природокористування та сталий розвиток. Про це наша лекція.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ви думаєте, скільки років розкладається в природі пластикова пляшка? А скляна?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Запишіть свої здогадки. Відповідь — у середині лекції.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таке природокористування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Природокористування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Сукупність усіх форм впливу людини на природне середовище і заходів, спрямованих на його збереження.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Простими словами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Простими словами — це те, як ми «користуємося» природою: беремо воду, вирощуємо хліб, видобуваємо вугілля, будуємо міста… і що робимо, щоб природу при цьому зберегти.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 велосипедом: можна їздити роками, якщо доглядати, а можна зламати за тиждень.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Раціональне і нераціональне природокористування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64328" cy="3749040"/>
          </a:xfrm>
          <a:prstGeom prst="roundRect">
            <a:avLst>
              <a:gd name="adj" fmla="val 2927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7757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Раціональне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6032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Ресурси використовуються економно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Відходи переробляються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Природа встигає відновлюватися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Природне середовище зберігається для майбутніх поколінь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78728" y="1371600"/>
            <a:ext cx="5364328" cy="3749040"/>
          </a:xfrm>
          <a:prstGeom prst="roundRect">
            <a:avLst>
              <a:gd name="adj" fmla="val 2927"/>
            </a:avLst>
          </a:prstGeom>
          <a:solidFill>
            <a:srgbClr val="FCE9E3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53048" y="1600200"/>
            <a:ext cx="731520" cy="7315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612" y="177576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67448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Нераціональне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6598768" y="256032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«Хижацьке» вичерпування природних ресурсів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Масове неконтрольоване забруднення довкілля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Суцільне знищення природних ландшафтів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Здатність природи до самовідновлення послаблюється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1B433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22960" y="53492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Україні тривалий час переважало нераціональне природокористування — тому багато компонентів природи зараз у пригніченому стані.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Концепція сталого розвитку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Сталий розвиток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Таке використання природних ресурсів теперішніми поколіннями, яке не ставить під загрозу існування майбутніх поколінь.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Навантаження на довкілля не повинно перевищувати його здатності до самовідновлення. Екологічні цінності — важливіші за інші.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Простий приклад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Концепцію прийняли наприкінці XX ст.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Приклад: рибалка, який ловить лише велику рибу, а мальків відпускає, рибалитиме все життя. Той, хто ловить усе підряд сітками, за кілька років залишиться з порожнім озером.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Правило: бери «відсотки», а не «основний капітал» природи.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напрями раціонального природокористування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2381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3423818" cy="868680"/>
          </a:xfrm>
          <a:prstGeom prst="roundRect">
            <a:avLst>
              <a:gd name="adj" fmla="val 12632"/>
            </a:avLst>
          </a:prstGeom>
          <a:solidFill>
            <a:srgbClr val="2D6A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6229" y="1618488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46888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Ресурсозбереження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246120"/>
            <a:ext cx="32043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економна експлуатація природних ресурсів: менше сировини, палива й енергії на одиницю продукції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36466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9" name="Shape 6"/>
          <p:cNvSpPr/>
          <p:nvPr/>
        </p:nvSpPr>
        <p:spPr>
          <a:xfrm>
            <a:off x="4383938" y="1463040"/>
            <a:ext cx="342381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10" name="Shape 7"/>
          <p:cNvSpPr/>
          <p:nvPr/>
        </p:nvSpPr>
        <p:spPr>
          <a:xfrm>
            <a:off x="4383938" y="1463040"/>
            <a:ext cx="3423818" cy="868680"/>
          </a:xfrm>
          <a:prstGeom prst="roundRect">
            <a:avLst>
              <a:gd name="adj" fmla="val 12632"/>
            </a:avLst>
          </a:prstGeom>
          <a:solidFill>
            <a:srgbClr val="457B9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528" y="1618488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75378" y="246888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Менше відходів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493666" y="3246120"/>
            <a:ext cx="32043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зменшення та очищення викидів у довкілля, знешкодження й утилізація відходів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871765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5" name="Shape 11"/>
          <p:cNvSpPr/>
          <p:nvPr/>
        </p:nvSpPr>
        <p:spPr>
          <a:xfrm>
            <a:off x="8219237" y="1463040"/>
            <a:ext cx="342381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16" name="Shape 12"/>
          <p:cNvSpPr/>
          <p:nvPr/>
        </p:nvSpPr>
        <p:spPr>
          <a:xfrm>
            <a:off x="8219237" y="1463040"/>
            <a:ext cx="3423818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826" y="1618488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10677" y="246888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Охорона і відтворення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328965" y="3246120"/>
            <a:ext cx="32043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збереження біорізноманіття, ґрунтів, лісів, річок; відновлення порушених земель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548640" y="484632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FDF1E4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22960" y="484632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 три напрями взаємопов'язані: що менше ресурсів беремо, то менше відходів утворюємо і то легше природі відновлюватися.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Напрям 1. Ресурсозбереження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зменшити затрати сировини, палива, енергії для виробництва продукції.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впроваджувати ресурсо- та енергозберігаючі технології у промисловості, сільському господарстві, на транспорті.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Комплексне використання ресурсів: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сировини добувати не один, а всі корисні компоненти.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Повторне використання: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повертати в господарство матеріали з відходів.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371600"/>
            <a:ext cx="3779215" cy="4754880"/>
          </a:xfrm>
          <a:prstGeom prst="roundRect">
            <a:avLst>
              <a:gd name="adj" fmla="val 3629"/>
            </a:avLst>
          </a:prstGeom>
          <a:solidFill>
            <a:srgbClr val="1B433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183880" y="1645920"/>
            <a:ext cx="777240" cy="77724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0418" y="18324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0" y="1645920"/>
            <a:ext cx="2316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 з життя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651760"/>
            <a:ext cx="313913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Світлодіодна лампа дає стільки ж світла, як звичайна лампа розжарювання, але споживає приблизно у 5–8 разів менше електроенергії.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ресурсозбереження у вашій квартирі.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Скільки ми втрачаємо: цифри з конспекту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цінних елементів у залізних рудах: германій, скандій, ванадій, золото, срібло, нікель, титан, уран…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90824" y="14630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73704" y="16459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2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619424" y="288036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додаткових компоненти, крім заліза, вилучають з руди в Україні. Решта йде у відвали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33008" y="14630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15888" y="16459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40 %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461608" y="288036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потреб світової промисловості задовольняють матеріали з відходів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075191" y="14630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258071" y="16459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5 %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9303791" y="288036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стільки в Україні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84632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Висновок: відвали і сміттєзвалища — це не лише проблема, а й «склад» цінної сировини, яку ми не використовуємо.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Напрям 2. Менше викидів і відходів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868680" cy="8686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8086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 млрд тонн на рік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Стільки газоподібних, рідких і твердих відходів щорічно утворюється в Україні. Багато з них шкідливі для людини і природи.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868680" cy="86868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22" y="18086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Відвали і звалища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Відходи видобування і переробки корисних копалин та сміттєзвалища займають великі площі землі.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868680" cy="8686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8086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Хімізація сільського господарства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Надлишок добрив і пестицидів — значний чинник отруєння ґрунтів і водойм.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Відповідь: скільки розкладається сміття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2–6 тижнів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паперовий пакет або газета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90824" y="14630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73704" y="16459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200 років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619424" y="288036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алюмінієва бляшанка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33008" y="14630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15888" y="16459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450 років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461608" y="288036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пластикова пляшка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075191" y="14630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258071" y="16459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 млн років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9303791" y="288036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скляна пляшка — практично не розкладається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84632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був найближче? Скло і метал майже не розкладаються, зате їх можна переробляти безкінечно. Тому їх треба не викидати, а здавати.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Джерело: оцінки NOAA та природоохоронних організацій; терміни приблизні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Утилізація: відходи стають ресурсом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Утилізація — використання відходів як вторинної сировини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889699" cy="283464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1B43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170" y="21671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01752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Металобрухт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794760"/>
            <a:ext cx="17068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новий метал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502347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0" name="Shape 7"/>
          <p:cNvSpPr/>
          <p:nvPr/>
        </p:nvSpPr>
        <p:spPr>
          <a:xfrm>
            <a:off x="2849819" y="2011680"/>
            <a:ext cx="1889699" cy="283464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11" name="Shape 8"/>
          <p:cNvSpPr/>
          <p:nvPr/>
        </p:nvSpPr>
        <p:spPr>
          <a:xfrm>
            <a:off x="2849819" y="201168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2D6A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349" y="2167128"/>
            <a:ext cx="548640" cy="548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41259" y="301752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Макулатура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941259" y="3794760"/>
            <a:ext cx="17068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папір і картон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4803526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6" name="Shape 12"/>
          <p:cNvSpPr/>
          <p:nvPr/>
        </p:nvSpPr>
        <p:spPr>
          <a:xfrm>
            <a:off x="5150998" y="2011680"/>
            <a:ext cx="1889699" cy="283464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17" name="Shape 13"/>
          <p:cNvSpPr/>
          <p:nvPr/>
        </p:nvSpPr>
        <p:spPr>
          <a:xfrm>
            <a:off x="5150998" y="201168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457B9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2167128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42438" y="301752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Склотара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242438" y="3794760"/>
            <a:ext cx="17068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нове скло</a:t>
            </a:r>
            <a:endParaRPr lang="en-US" sz="2400" dirty="0"/>
          </a:p>
        </p:txBody>
      </p:sp>
      <p:sp>
        <p:nvSpPr>
          <p:cNvPr id="21" name="Shape 16"/>
          <p:cNvSpPr/>
          <p:nvPr/>
        </p:nvSpPr>
        <p:spPr>
          <a:xfrm>
            <a:off x="7104705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2" name="Shape 17"/>
          <p:cNvSpPr/>
          <p:nvPr/>
        </p:nvSpPr>
        <p:spPr>
          <a:xfrm>
            <a:off x="7452177" y="2011680"/>
            <a:ext cx="1889699" cy="283464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23" name="Shape 18"/>
          <p:cNvSpPr/>
          <p:nvPr/>
        </p:nvSpPr>
        <p:spPr>
          <a:xfrm>
            <a:off x="7452177" y="201168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F4A26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707" y="2167128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43617" y="301752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«Пуста» порода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543617" y="3794760"/>
            <a:ext cx="17068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будівельні матеріали</a:t>
            </a:r>
            <a:endParaRPr lang="en-US" sz="2400" dirty="0"/>
          </a:p>
        </p:txBody>
      </p:sp>
      <p:sp>
        <p:nvSpPr>
          <p:cNvPr id="27" name="Shape 21"/>
          <p:cNvSpPr/>
          <p:nvPr/>
        </p:nvSpPr>
        <p:spPr>
          <a:xfrm>
            <a:off x="9405884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8" name="Shape 22"/>
          <p:cNvSpPr/>
          <p:nvPr/>
        </p:nvSpPr>
        <p:spPr>
          <a:xfrm>
            <a:off x="9753356" y="2011680"/>
            <a:ext cx="1889699" cy="283464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29" name="Shape 23"/>
          <p:cNvSpPr/>
          <p:nvPr/>
        </p:nvSpPr>
        <p:spPr>
          <a:xfrm>
            <a:off x="9753356" y="201168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3886" y="2167128"/>
            <a:ext cx="548640" cy="54864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844796" y="301752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Тирса, с/г відходи, текстиль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9844796" y="3794760"/>
            <a:ext cx="17068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паливо</a:t>
            </a:r>
            <a:endParaRPr lang="en-US" sz="2400" dirty="0"/>
          </a:p>
        </p:txBody>
      </p:sp>
      <p:sp>
        <p:nvSpPr>
          <p:cNvPr id="33" name="Shape 26"/>
          <p:cNvSpPr/>
          <p:nvPr/>
        </p:nvSpPr>
        <p:spPr>
          <a:xfrm>
            <a:off x="548640" y="51206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DF1E4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822960" y="51206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Важлива початкова ланка утилізації — сортування сміття. Його роблять на сміттєпереробних заводах, але найкраще — самі люди вдома.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Сортуємо вдома: з чого почати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Пластик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Пляшки, кришечки, упаковка. Сполоснути і стиснути.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685800" cy="6858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13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1218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Скло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Банки і пляшки. Без кришок, по можливості чисте.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685800" cy="6858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709" y="176479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70797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Папір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Картон, газети, зошити. Сухий і без жиру.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548640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5C6B63"/>
          </a:solidFill>
          <a:ln w="12700">
            <a:solidFill>
              <a:srgbClr val="5C6B63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Бляшанки, кришки від банок.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4338218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4" name="icon-circle"/>
          <p:cNvSpPr/>
          <p:nvPr/>
        </p:nvSpPr>
        <p:spPr>
          <a:xfrm>
            <a:off x="4612538" y="4160520"/>
            <a:ext cx="685800" cy="68580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130" y="4325112"/>
            <a:ext cx="356616" cy="35661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81218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Органіка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612538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Очистки, залишки їжі → компост.</a:t>
            </a:r>
            <a:endParaRPr lang="en-US" sz="1500" dirty="0"/>
          </a:p>
        </p:txBody>
      </p:sp>
      <p:sp>
        <p:nvSpPr>
          <p:cNvPr id="28" name="card"/>
          <p:cNvSpPr/>
          <p:nvPr/>
        </p:nvSpPr>
        <p:spPr>
          <a:xfrm>
            <a:off x="8127797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9" name="icon-circle"/>
          <p:cNvSpPr/>
          <p:nvPr/>
        </p:nvSpPr>
        <p:spPr>
          <a:xfrm>
            <a:off x="8402117" y="416052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6709" y="4325112"/>
            <a:ext cx="356616" cy="35661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70797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Небезпечні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402117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Батарейки, лампи, ліки — лише в спеціальні пункти прийому!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Напрям 3. Охорона і відтворення природи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Біорізноманіття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Збереження і примноження видів рослин і тварин.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685800" cy="6858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13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1218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Джерела і малі річки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Охорона від забруднення та замулення.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709" y="176479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70797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Ґрунти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Збереження ґрунтів і відновлення їхньої родючості.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548640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Ліси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Лісовідновлення — висаджування нових лісів.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4338218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4" name="icon-circle"/>
          <p:cNvSpPr/>
          <p:nvPr/>
        </p:nvSpPr>
        <p:spPr>
          <a:xfrm>
            <a:off x="4612538" y="4160520"/>
            <a:ext cx="685800" cy="68580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130" y="4325112"/>
            <a:ext cx="356616" cy="35661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81218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Ландшафти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612538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Охорона природних ландшафтів.</a:t>
            </a:r>
            <a:endParaRPr lang="en-US" sz="1500" dirty="0"/>
          </a:p>
        </p:txBody>
      </p:sp>
      <p:sp>
        <p:nvSpPr>
          <p:cNvPr id="28" name="card"/>
          <p:cNvSpPr/>
          <p:nvPr/>
        </p:nvSpPr>
        <p:spPr>
          <a:xfrm>
            <a:off x="8127797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9" name="icon-circle"/>
          <p:cNvSpPr/>
          <p:nvPr/>
        </p:nvSpPr>
        <p:spPr>
          <a:xfrm>
            <a:off x="8402117" y="416052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6709" y="4325112"/>
            <a:ext cx="356616" cy="35661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70797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Рекультивація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402117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Відновлення порушених земель (далі детальніше).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Рекультивація: друге життя порушених земель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Рекультивація — комплекс робіт, спрямованих на відновлення порушених земель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5C6B6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817" y="21671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Порушена земля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кар'єр, відвал, смітник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077642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0" name="Shape 7"/>
          <p:cNvSpPr/>
          <p:nvPr/>
        </p:nvSpPr>
        <p:spPr>
          <a:xfrm>
            <a:off x="3425114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11" name="Shape 8"/>
          <p:cNvSpPr/>
          <p:nvPr/>
        </p:nvSpPr>
        <p:spPr>
          <a:xfrm>
            <a:off x="3425114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F4A2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291" y="2167128"/>
            <a:ext cx="548640" cy="548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16554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Технічний етап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534842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вирівнюють поверхню, засипають ями, накривають родючим шаром ґрунту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954116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6" name="Shape 12"/>
          <p:cNvSpPr/>
          <p:nvPr/>
        </p:nvSpPr>
        <p:spPr>
          <a:xfrm>
            <a:off x="6301588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17" name="Shape 13"/>
          <p:cNvSpPr/>
          <p:nvPr/>
        </p:nvSpPr>
        <p:spPr>
          <a:xfrm>
            <a:off x="6301588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40916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765" y="2167128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93028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Біологічний етап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411316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висаджують траву, кущі, дерева; відновлюють ґрунт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8830589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2" name="Shape 17"/>
          <p:cNvSpPr/>
          <p:nvPr/>
        </p:nvSpPr>
        <p:spPr>
          <a:xfrm>
            <a:off x="9178061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23" name="Shape 18"/>
          <p:cNvSpPr/>
          <p:nvPr/>
        </p:nvSpPr>
        <p:spPr>
          <a:xfrm>
            <a:off x="9178061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2D6A4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6238" y="2167128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69501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9287789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природний ландшафт, поле, ліс або місце для відпочинку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548640" y="51206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DF1E4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822960" y="51206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місці колишніх кар'єрів часто з'являються озера, парки, пляжі. Так людина «повертає борг» природі.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 Україні почали охороняти природу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Асканія-Нова, 1883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 здавна оберігали цілющі джерела, озера, водоспади, скелі, гаї, вікові дерева — часто вважали їх священними.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1883 р. власник маєтку в степу Фрідріх Фальц-Фейн виділив ділянки для охорони рослин і диких тварин і зберіг цілинний степ від розорювання.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було далі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була перша природоохоронна територія на теренах України. Згодом вона стала державним біосферним заповідником «Асканія-Нова».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Зараз це один з найвідоміших заповідників світу: там зберігся справжній незайманий степ, живуть зебри, бізони, коні Пржевальського.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Основні природоохоронні закони України</a:t>
            </a:r>
            <a:endParaRPr lang="en-US" sz="3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109728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Закон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Рік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 що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«Про охорону навколишнього природного середовища»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1991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Головний екологічний закон: права і обов'язки людей і держави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«Про природно-заповідний фонд України»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1992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Заповідники, національні парки, заказники, пам'ятки природи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«Про охорону атмосферного повітря»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1992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Захист повітря від забруднення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«Про рослинний світ»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1999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Охорона і використання рослин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«Про тваринний світ»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2001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Охорона і використання тварин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громадянин України має право на безпечне для його життя і здоров'я навколишнє середовище.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1/3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«Природні ресурси невичерпні — природа все одно сама відновиться»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«Природні ресурси невичерпні — природа все одно сама відновиться»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Нафта, вугілля, руди — невідновні: на їх утворення потрібні мільйони років. А відновні ресурси (ліс, риба, ґрунт) відновлюються лише тоді, коли ми беремо менше, ніж вони встигають відрости. Чорнозем утворюється зі швидкістю приблизно 1 см за 100 років.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2/3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«Сортувати сміття вдома немає сенсу — все одно все вивезуть на одне звалище»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«Сортувати сміття вдома немає сенсу — все одно все вивезуть на одне звалище»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Сортування — початкова ланка утилізації. У багатьох містах вторсировину вивозять окремо, а пункти прийому платять за макулатуру, метал, пластик. Відсортоване сміття — це сировина, а змішане — лише відходи.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3/3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«Перша природоохоронна територія в Україні з'явилася ще в XIX столітті»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40916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«Перша природоохоронна територія в Україні з'явилася ще в XIX столітті»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E9F5EE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1883 р. Фрідріх Фальц-Фейн виділив ділянки цілинного степу під охорону. Згодом там утворився заповідник «Асканія-Нова».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 СЕБЕ · 1/1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 наведеного — приклад рекультивації?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Будівництво нового заводу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33008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07328" y="301752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07328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76008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Перетворення колишнього кар'єру на парк з озером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7548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Видобуток вугілля відкритим способом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3008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07328" y="47548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07328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76008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Вивезення сміття на звалище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ПРАВИЛЬНА ВІДПОВІДЬ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 наведеного — приклад рекультивації?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2D6A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2103120"/>
            <a:ext cx="9631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Б) Перетворення колишнього кар'єру на парк з озером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566160"/>
            <a:ext cx="11094415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566160"/>
            <a:ext cx="103628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так: </a:t>
            </a:r>
            <a:pPr indent="0" marL="0">
              <a:buNone/>
            </a:pPr>
            <a:r>
              <a:rPr lang="en-US" sz="20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Рекультивація — відновлення порушених земель. Кар'єр — порушена земля, а парк з озером — відновлений ландшафт для відпочинку людей.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Кейс: стихійне звалище біля села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760720" cy="4754880"/>
          </a:xfrm>
          <a:prstGeom prst="roundRect">
            <a:avLst>
              <a:gd name="adj" fmla="val 2885"/>
            </a:avLst>
          </a:prstGeom>
          <a:solidFill>
            <a:srgbClr val="E3EEF5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68680" y="1645920"/>
            <a:ext cx="777240" cy="77724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83245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6459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Ситуація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0604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селом, біля маленької річки, вже кілька років є стихійне звалище. Туди везуть побутове сміття, будівельні відходи, старі шини.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Річка міліє і заростає, влітку сміття горить, у селі скаржаться на запах.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Громада отримала невеликі гроші на вирішення проблеми.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583680" y="1371600"/>
            <a:ext cx="5059375" cy="4754880"/>
          </a:xfrm>
          <a:prstGeom prst="roundRect">
            <a:avLst>
              <a:gd name="adj" fmla="val 2885"/>
            </a:avLst>
          </a:prstGeom>
          <a:solidFill>
            <a:srgbClr val="1B43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903720" y="1645920"/>
            <a:ext cx="4419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Ваше завдання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2286000"/>
            <a:ext cx="441929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Які з трьох напрямів раціонального природокористування тут потрібні?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Складіть план дій на рік: що зробити першим, другим, третім?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залучити жителів, щоб звалище не з'явилося знову?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5440680"/>
            <a:ext cx="4419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7–10 хв, групи по 3–4 особи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Головне за сьогодні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535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146304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Природокористування — усі форми впливу людини на природу і заходи щодо її збереження.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46020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34440" y="225552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Україні довго переважало нераціональне природокористування — природа «пригнічена».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38500"/>
            <a:ext cx="411480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34440" y="304800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Сталий розвиток — використовуємо ресурси так, щоб їх вистачило майбутнім поколінням.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30980"/>
            <a:ext cx="411480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234440" y="384048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напрями: ресурсозбереження; зменшення відходів і утилізація; охорона і відтворення природи (зокрема рекультивація).</a:t>
            </a:r>
            <a:endParaRPr lang="en-US" sz="18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823460"/>
            <a:ext cx="411480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34440" y="463296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Охорону природи в Україні регулюють закони; перша природоохоронна територія — Асканія-Нова (1883).</a:t>
            </a:r>
            <a:endParaRPr lang="en-US" sz="18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615940"/>
            <a:ext cx="411480" cy="41148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234440" y="542544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Збереження довкілля залежить від кожного з нас — від щоденних звичок і громадянської позиції.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РЕФЛЕКСІЯ · ПРОДОВЖІТЬ РЕЧЕННЯ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92024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Уже завтра я можу зберегти ресурси, якщо…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10896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Найбільше мене вразило…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429768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429768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хотів(-ла) б, щоб у моєму місті…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Домашнє завдання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Вивчіть конспект. Знайте визначення: природокористування, сталий розвиток, утилізація, рекультивація.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Проведіть «аудит» свого дому: запишіть 5 способів, як ваша сім'я може економити воду, електроенергію і менше викидати.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Знайдіть, які заповідники або національні парки є у вашій області. Опишіть один з них (3–5 речень).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371600"/>
            <a:ext cx="3779215" cy="3108960"/>
          </a:xfrm>
          <a:prstGeom prst="roundRect">
            <a:avLst>
              <a:gd name="adj" fmla="val 4412"/>
            </a:avLst>
          </a:prstGeom>
          <a:solidFill>
            <a:srgbClr val="1B433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183880" y="1645920"/>
            <a:ext cx="777240" cy="77724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0418" y="18324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0" y="1645920"/>
            <a:ext cx="2316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651760"/>
            <a:ext cx="31391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Відповіді можна оформити письмово в зошиті або як коротку презентацію чи інфографіку (3–5 слайдів).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риродничі науки">
  <a:themeElements>
    <a:clrScheme name="Природничі науки">
      <a:dk1>
        <a:srgbClr val="1F2A24"/>
      </a:dk1>
      <a:lt1>
        <a:srgbClr val="FFFFFF"/>
      </a:lt1>
      <a:dk2>
        <a:srgbClr val="1B4332"/>
      </a:dk2>
      <a:lt2>
        <a:srgbClr val="E9F5EE"/>
      </a:lt2>
      <a:accent1>
        <a:srgbClr val="2D6A4F"/>
      </a:accent1>
      <a:accent2>
        <a:srgbClr val="95D5B2"/>
      </a:accent2>
      <a:accent3>
        <a:srgbClr val="F4A261"/>
      </a:accent3>
      <a:accent4>
        <a:srgbClr val="E76F51"/>
      </a:accent4>
      <a:accent5>
        <a:srgbClr val="457B9D"/>
      </a:accent5>
      <a:accent6>
        <a:srgbClr val="40916C"/>
      </a:accent6>
      <a:hlink>
        <a:srgbClr val="457B9D"/>
      </a:hlink>
      <a:folHlink>
        <a:srgbClr val="2D6A4F"/>
      </a:folHlink>
    </a:clrScheme>
    <a:fontScheme name="Природничі науки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Збереження природних ресурсів та раціональне природокористування</dc:title>
  <dc:subject>Природничі науки, 2 курс</dc:subject>
  <dc:creator>Баталова Т. П.</dc:creator>
  <cp:lastModifiedBy>Баталова Т. П.</cp:lastModifiedBy>
  <cp:revision>1</cp:revision>
  <dcterms:created xsi:type="dcterms:W3CDTF">2026-10-03T13:27:24Z</dcterms:created>
  <dcterms:modified xsi:type="dcterms:W3CDTF">2026-10-03T13:27:24Z</dcterms:modified>
</cp:coreProperties>
</file>